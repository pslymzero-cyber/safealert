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8B98AC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8B98AC"/>
                </a:solidFill>
                <a:latin typeface="Malgun Gothic"/>
              </a:rPr>
              <a:t>상위 6개 파일의 코드 줄 수 (전체 27개 파일 11,636줄)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OverlayManager</c:v>
                  </c:pt>
                  <c:pt idx="1">
                    <c:v>BleAdvertiser</c:v>
                  </c:pt>
                  <c:pt idx="2">
                    <c:v>DevSettings</c:v>
                  </c:pt>
                  <c:pt idx="3">
                    <c:v>UwbRanger</c:v>
                  </c:pt>
                  <c:pt idx="4">
                    <c:v>MainActivity</c:v>
                  </c:pt>
                  <c:pt idx="5">
                    <c:v>BleService
(경보 판정 전체)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602</c:v>
                </c:pt>
                <c:pt idx="1">
                  <c:v>632</c:v>
                </c:pt>
                <c:pt idx="2">
                  <c:v>752</c:v>
                </c:pt>
                <c:pt idx="3">
                  <c:v>850</c:v>
                </c:pt>
                <c:pt idx="4">
                  <c:v>942</c:v>
                </c:pt>
                <c:pt idx="5">
                  <c:v>3899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8B98AC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8B98AC"/>
                </a:solidFill>
                <a:latin typeface="Malgun Gothic"/>
              </a:rPr>
              <a:t>설치 대수와 상호 감지 링크 수   n(n-1)/2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상호 감지 링크 수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2대</c:v>
                  </c:pt>
                  <c:pt idx="1">
                    <c:v>5대</c:v>
                  </c:pt>
                  <c:pt idx="2">
                    <c:v>10대</c:v>
                  </c:pt>
                  <c:pt idx="3">
                    <c:v>20대</c:v>
                  </c:pt>
                  <c:pt idx="4">
                    <c:v>30대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</c:v>
                </c:pt>
                <c:pt idx="2">
                  <c:v>45</c:v>
                </c:pt>
                <c:pt idx="3">
                  <c:v>190</c:v>
                </c:pt>
                <c:pt idx="4">
                  <c:v>435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 목적: 현재 현장에서 운영 중인 SafeAlert 의 기능과 목적, 확산 시 얻는 이점을 공유하고 파일럿 확대 여부에 대한 결정을 요청한다. 표지 이미지는 앱 스플래시 화면 원본이다.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개의 숫자로 현황을 고정한다. 70회 릴리스는 실험이 아니라 이미 현장에서 도는 물건이라는 뜻이고, 1/5 는 지금 하는 일이 기능 추가가 아니라 신뢰성 확보라는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가지는 추정이 아니라 현장 조건이다. 특히 생수 파렛트의 전파 흡수는 신호 기반 거리 추정의 난이도를 직접 끌어올리는 요인이고, 뒤에 나올 3단 신호 정제와 사업장별 보정이 여기서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차별점은 고정 설비가 없다는 것이다. 클라우드는 설정 공유와 앱 자동 업데이트에만 쓰이고, 경보 판정 자체는 단말 안에서 끝난다. 통신이 끊긴 창고에서도 경보는 그대로 동작한다.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화면은 v1.1.70 메인 화면 구성 그대로다. 강조점은 '작업자가 조작할 것이 거의 없다'는 것 — 역할만 고르면 나머지는 백그라운드에서 돈다. 현장 교육 부담이 작다는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 중 세 개(양방향 협력 알림, 후진·하역 특수 경보, 모션·회전 인식)는 시판 제품에서 잘 보이지 않는 항목이다. 현장 요구에서 나온 기능이라는 점을 강조한다.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값은 임의로 정한 것이 아니라 현장에서 확인된 값이다. 현재 개선 작업의 목표도 값을 바꾸는 것이 아니라 값대로 정확히 동작하게 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 신호 정제가 이 시스템의 심장이다. 블루투스 신호 세기는 그대로 쓰면 초당 수 dB 씩 튀기 때문에 정제 없이는 경보가 깜빡인다. 04단계(경보 판정)가 현재 개선 작업의 주 대상이다.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경영진에게 전할 함의는 하나다 — 이 레이아웃은 현장 호환성 때문에 바꿀 수 없는 제약이며, 앞으로의 모든 개선은 이 제약 안에서 이뤄진다. 동시에 이 설계 덕분에 신버전 배포가 구버전 단말을 무력화하지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계층이 위에서 아래로만 의존한다 — 순환 참조가 없다는 것은 한 계층을 고쳐도 다른 계층이 연쇄적으로 깨지지 않는다는 뜻이다. 문제는 계층 구조가 아니라 03_service 한 파일에 책임이 몰려 있다는 점이며, 다음 장에서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하나만 기억하면 된다 — 3,899줄. 두 번째로 큰 파일의 네 배다. 과거 같은 계열의 수정이 세 번 반복된 원인이 여기에 있다. 분해 후에도 앱 동작은 동일해야 하며, 그것이 수용 기준이다.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중요한 설계 원칙: 모든 단계가 출하 가능한 상태로 끝난다. 앱이 반쯤 분해된 채 검증 불가 상태로 오래 머무는 것을 명시적으로 금지했다. 현장 검증 사이클이 병목이기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 관점의 의미: 확산의 전제 조건이 갖춰지기 시작했다. 단말이 늘면 문제 보고도 늘어나는데, 회귀를 자동으로 잡는 장치 없이는 대수를 늘릴수록 관리 비용이 비선형으로 커진다.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이론적 감지쌍 수이며 실제 동시 추적 성능과는 다르다. 그 격차를 정직하게 밝히는 것이 아래 주석이고, 로드맵 5단계가 그것을 다룬다. 비용 항목은 사내 단말 정책에 따라 달라지므로 별도 산정이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의도적으로 적지 않았다. 각 단계의 종료 조건이 기간이 아니라 판단 근거 확보이기 때문이다. 파일럿 기간은 현장 가용 시간에 따라 함께 정하면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항목(보안)은 파일럿 단계에서는 영향이 작지만 전사 확산 전에는 반드시 처리해야 한다. 의사결정 시점에 함께 검토를 요청하는 항목이다.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요청은 모두 기술이 아니라 운영 결정이다. 개발 측에서 준비 가능한 부분은 로드맵으로 진행 중이며, 파일럿 확대 여부만 결정되면 즉시 착수할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2.png"/><Relationship Id="rId5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image" Target="../media/image-14-3.png"/><Relationship Id="rId5" Type="http://schemas.openxmlformats.org/officeDocument/2006/relationships/image" Target="../media/image-1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feAlert/a01a9bd8-2674-5693-bc36-c78453b067c8/scratchpad/deck/assets/hero_sp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62023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0848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현장 근접 경보 시스템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2432304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6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0273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· EPJ · 보행자가 서로를 감지한다.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931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스마트폰끼리 직접 신호를 주고받아, 위험 거리에 들어오면 즉시 알린다.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4700016"/>
            <a:ext cx="2560320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4846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 ·  3개월간 70회 이상 릴리스  ·  현장 운영 중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15721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 · 왜 하는가 · 확산하면 무엇이 달라지는가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688336" cy="1463040"/>
          </a:xfrm>
          <a:prstGeom prst="roundRect">
            <a:avLst>
              <a:gd name="adj" fmla="val 625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645920"/>
            <a:ext cx="22311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70+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23113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4963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3개월간 현장 운영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1499616"/>
            <a:ext cx="2688336" cy="1463040"/>
          </a:xfrm>
          <a:prstGeom prst="roundRect">
            <a:avLst>
              <a:gd name="adj" fmla="val 625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66744" y="1645920"/>
            <a:ext cx="22311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66744" y="223113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인프라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666744" y="24963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앵커·게이트웨이·배선 불필요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91072" y="1499616"/>
            <a:ext cx="2688336" cy="1463040"/>
          </a:xfrm>
          <a:prstGeom prst="roundRect">
            <a:avLst>
              <a:gd name="adj" fmla="val 625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28816" y="1645920"/>
            <a:ext cx="22311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223113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등급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28816" y="24963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· 경고 · 위험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53144" y="1499616"/>
            <a:ext cx="2688336" cy="1463040"/>
          </a:xfrm>
          <a:prstGeom prst="roundRect">
            <a:avLst>
              <a:gd name="adj" fmla="val 625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90888" y="1645920"/>
            <a:ext cx="22311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5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90888" y="223113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개선 진행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390888" y="24963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로드맵 1단계 완료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145536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34564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42416" y="339242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852928" y="3200400"/>
            <a:ext cx="849751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기기끼리 블루투스 신호를 직접 주고받아, 신호 세기로 추정한 거리가 위험 구간에 들어오면 소리·진동·전체화면으로 알린다.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3950208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41248" y="4261104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42416" y="419709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52928" y="4005072"/>
            <a:ext cx="849751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철제 렉 사이 통로와 단독 작업 구간에서 지게차·EPJ·보행자가 서로를 육안으로 확인하기 어렵다. 사각지대를 사람의 주의력이 아니라 시스템이 메운다.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4754880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5065776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" y="5001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하는 일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852928" y="4809744"/>
            <a:ext cx="849751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기능 추가가 아니라 '같은 상황에서 같은 판정'을 보장하는 구조 개선이다. 5단계 로드맵 중 1단계(테스트·CI 회귀 게이트) 완료.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559552"/>
            <a:ext cx="11057839" cy="731520"/>
          </a:xfrm>
          <a:prstGeom prst="roundRect">
            <a:avLst>
              <a:gd name="adj" fmla="val 1250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5870448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2416" y="5806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확산하면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852928" y="5614416"/>
            <a:ext cx="849751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단말이 늘수록 감지 범위가 인프라 비용 증가 없이 넓어진다. 설치 대수 n대 → 상호 감지쌍 n(n-1)/2.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사각지대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사람의 주의력만으로는 부족한가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6784848" cy="969264"/>
          </a:xfrm>
          <a:prstGeom prst="roundRect">
            <a:avLst>
              <a:gd name="adj" fmla="val 9434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64792"/>
            <a:ext cx="100584" cy="10058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2416" y="17007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시야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1993392"/>
            <a:ext cx="6089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높이 철제 렉 사이 통로. 교차·곡선 구간에서 지게차와 보행자가 서로를 볼 수 없다.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60320"/>
            <a:ext cx="6784848" cy="969264"/>
          </a:xfrm>
          <a:prstGeom prst="roundRect">
            <a:avLst>
              <a:gd name="adj" fmla="val 9434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807208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42416" y="27432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전파·소음 환경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42416" y="3035808"/>
            <a:ext cx="6089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적재된 생수 파렛트가 2.4GHz 흡수벽으로 작용한다. 장비 소음 속에서 경적 인지도 늦다.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602736"/>
            <a:ext cx="6784848" cy="969264"/>
          </a:xfrm>
          <a:prstGeom prst="roundRect">
            <a:avLst>
              <a:gd name="adj" fmla="val 9434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849624"/>
            <a:ext cx="100584" cy="10058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42416" y="37856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작업 구간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4078224"/>
            <a:ext cx="6089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렉 사이에서 혼자 작업하는 구간이 존재한다. 이탈 감지가 안전상 필수다.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6784848" cy="969264"/>
          </a:xfrm>
          <a:prstGeom prst="roundRect">
            <a:avLst>
              <a:gd name="adj" fmla="val 9434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489204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42416" y="482803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혼재 동선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5120640"/>
            <a:ext cx="6089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지게차·리치·오더피커·EPJ·보행자가 같은 통로를 공유한다. 역할마다 위험 거리가 다르다.</a:t>
            </a:r>
            <a:endParaRPr lang="en-US" sz="1150" dirty="0"/>
          </a:p>
        </p:txBody>
      </p:sp>
      <p:pic>
        <p:nvPicPr>
          <p:cNvPr id="20" name="Image 0" descr="/tmp/claude-0/-home-user-SafeAlert/a01a9bd8-2674-5693-bc36-c78453b067c8/scratchpad/deck/assets/ais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1517904"/>
            <a:ext cx="4053535" cy="38770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882128" y="4553712"/>
            <a:ext cx="1737360" cy="402336"/>
          </a:xfrm>
          <a:prstGeom prst="roundRect">
            <a:avLst>
              <a:gd name="adj" fmla="val 113636"/>
            </a:avLst>
          </a:prstGeom>
          <a:solidFill>
            <a:srgbClr val="FB718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82128" y="455371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시야 차단 구간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571232" y="54681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적용 현장 — 렉 사이 통로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방식 — 기기끼리 서로를 본다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설비를 까는 대신, 움직이는 주체가 서로를 감지한다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468112" cy="3054096"/>
          </a:xfrm>
          <a:prstGeom prst="roundRect">
            <a:avLst>
              <a:gd name="adj" fmla="val 2994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75564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일반적인 구역 감지 방식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77824" y="2404872"/>
            <a:ext cx="91440" cy="91440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304288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구역마다 앵커·게이트웨이 설치와 배선 공사가 필요하다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77824" y="2916936"/>
            <a:ext cx="91440" cy="91440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2816352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서버·네트워크가 끊기면 감지도 함께 멈춘다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77824" y="3429000"/>
            <a:ext cx="91440" cy="91440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3328416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'구역 진입' 단위 판정 — 누가 누구에게 가까운지는 모른다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77824" y="3941064"/>
            <a:ext cx="91440" cy="91440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3840480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라인을 바꾸거나 센터를 늘리면 다시 공사한다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53912" y="1554480"/>
            <a:ext cx="5468112" cy="3054096"/>
          </a:xfrm>
          <a:prstGeom prst="roundRect">
            <a:avLst>
              <a:gd name="adj" fmla="val 2994"/>
            </a:avLst>
          </a:prstGeom>
          <a:solidFill>
            <a:srgbClr val="1A2233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46520" y="175564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방식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64808" y="2404872"/>
            <a:ext cx="91440" cy="9144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84264" y="2304288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설치는 앱 하나. 고정 설비·배선·서버 증설이 없다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64808" y="2916936"/>
            <a:ext cx="91440" cy="9144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84264" y="2816352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간 직접 통신 — 네트워크가 없어도 경보는 동작한다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64808" y="3429000"/>
            <a:ext cx="91440" cy="9144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84264" y="3328416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대 개체 상대 거리 판정 — 역할 조합별로 기준이 다르다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64808" y="3941064"/>
            <a:ext cx="91440" cy="9144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84264" y="3840480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= 설치. 현장이 바뀌어도 재공사가 없다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828032"/>
            <a:ext cx="3639312" cy="676656"/>
          </a:xfrm>
          <a:prstGeom prst="roundRect">
            <a:avLst>
              <a:gd name="adj" fmla="val 13514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pic>
        <p:nvPicPr>
          <p:cNvPr id="25" name="Image 0" descr="/tmp/claude-0/-home-user-SafeAlert/a01a9bd8-2674-5693-bc36-c78453b067c8/scratchpad/deck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365760" cy="3657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316736" y="4828032"/>
            <a:ext cx="26334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투자 0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4306824" y="4828032"/>
            <a:ext cx="3639312" cy="676656"/>
          </a:xfrm>
          <a:prstGeom prst="roundRect">
            <a:avLst>
              <a:gd name="adj" fmla="val 13514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pic>
        <p:nvPicPr>
          <p:cNvPr id="28" name="Image 1" descr="/tmp/claude-0/-home-user-SafeAlert/a01a9bd8-2674-5693-bc36-c78453b067c8/scratchpad/deck/assets/ic_share_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56" y="4983480"/>
            <a:ext cx="365760" cy="36576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056632" y="4828032"/>
            <a:ext cx="26334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없이도 경보 동작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8046720" y="4828032"/>
            <a:ext cx="3639312" cy="676656"/>
          </a:xfrm>
          <a:prstGeom prst="roundRect">
            <a:avLst>
              <a:gd name="adj" fmla="val 13514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pic>
        <p:nvPicPr>
          <p:cNvPr id="31" name="Image 2" descr="/tmp/claude-0/-home-user-SafeAlert/a01a9bd8-2674-5693-bc36-c78453b067c8/scratchpad/deck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4983480"/>
            <a:ext cx="365760" cy="36576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8796528" y="4828032"/>
            <a:ext cx="26334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구버전 기기와 100% 호환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화면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작업자가 실제로 보는 것 — 역할을 고르면 나머지는 백그라운드에서 동작한다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0120" y="1453896"/>
            <a:ext cx="2523744" cy="4608576"/>
          </a:xfrm>
          <a:prstGeom prst="roundRect">
            <a:avLst>
              <a:gd name="adj" fmla="val 5797"/>
            </a:avLst>
          </a:prstGeom>
          <a:solidFill>
            <a:srgbClr val="000000"/>
          </a:solidFill>
          <a:ln/>
          <a:effectLst>
            <a:outerShdw sx="100000" sy="100000" kx="0" ky="0" algn="bl" rotWithShape="0" blurRad="279400" dist="762" dir="5400000">
              <a:srgbClr val="000000">
                <a:alpha val="50000"/>
              </a:srgbClr>
            </a:outerShdw>
          </a:effectLst>
        </p:spPr>
      </p:sp>
      <p:pic>
        <p:nvPicPr>
          <p:cNvPr id="5" name="Image 0" descr="/tmp/claude-0/-home-user-SafeAlert/a01a9bd8-2674-5693-bc36-c78453b067c8/scratchpad/deck/assets/phon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517904"/>
            <a:ext cx="2395728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6276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115568" y="1691640"/>
            <a:ext cx="73152" cy="73152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8" name="Shape 5"/>
          <p:cNvSpPr/>
          <p:nvPr/>
        </p:nvSpPr>
        <p:spPr>
          <a:xfrm>
            <a:off x="1133856" y="1920240"/>
            <a:ext cx="2176272" cy="2944368"/>
          </a:xfrm>
          <a:prstGeom prst="roundRect">
            <a:avLst>
              <a:gd name="adj" fmla="val 3361"/>
            </a:avLst>
          </a:prstGeom>
          <a:solidFill>
            <a:srgbClr val="141B2B"/>
          </a:solidFill>
          <a:ln w="9525">
            <a:solidFill>
              <a:srgbClr val="232D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43584" y="2066544"/>
            <a:ext cx="73152" cy="7315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71600" y="19933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실행 중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133856" y="199339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02:14:06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243584" y="2368296"/>
            <a:ext cx="100584" cy="100584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3042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장비 (Local)</a:t>
            </a:r>
            <a:endParaRPr lang="en-US" sz="800" dirty="0"/>
          </a:p>
        </p:txBody>
      </p:sp>
      <p:pic>
        <p:nvPicPr>
          <p:cNvPr id="14" name="Image 1" descr="/tmp/claude-0/-home-user-SafeAlert/a01a9bd8-2674-5693-bc36-c78453b067c8/scratchpad/deck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57860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82496" y="25968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1682496" y="277977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FORK-07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2724912" y="2633472"/>
            <a:ext cx="512064" cy="237744"/>
          </a:xfrm>
          <a:prstGeom prst="roundRect">
            <a:avLst>
              <a:gd name="adj" fmla="val 192308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724912" y="263347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750" dirty="0"/>
          </a:p>
        </p:txBody>
      </p:sp>
      <p:sp>
        <p:nvSpPr>
          <p:cNvPr id="19" name="Text 15"/>
          <p:cNvSpPr txBox="1"/>
          <p:nvPr/>
        </p:nvSpPr>
        <p:spPr>
          <a:xfrm>
            <a:off x="1243584" y="3035808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상태: 전진·주행  ·  속도: 6 km/h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1243584" y="3410712"/>
            <a:ext cx="100584" cy="10058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1444752" y="334670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타겟 (Target)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1207008" y="3621024"/>
            <a:ext cx="2029968" cy="365760"/>
          </a:xfrm>
          <a:prstGeom prst="roundRect">
            <a:avLst>
              <a:gd name="adj" fmla="val 12500"/>
            </a:avLst>
          </a:prstGeom>
          <a:solidFill>
            <a:srgbClr val="1A2233"/>
          </a:solidFill>
          <a:ln/>
        </p:spPr>
      </p:sp>
      <p:sp>
        <p:nvSpPr>
          <p:cNvPr id="23" name="Shape 19"/>
          <p:cNvSpPr/>
          <p:nvPr/>
        </p:nvSpPr>
        <p:spPr>
          <a:xfrm>
            <a:off x="1280160" y="3758184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1426464" y="364845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A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1426464" y="380390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-56 dBm  ·  3.4 m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2724912" y="3703320"/>
            <a:ext cx="475488" cy="219456"/>
          </a:xfrm>
          <a:prstGeom prst="roundRect">
            <a:avLst>
              <a:gd name="adj" fmla="val 208333"/>
            </a:avLst>
          </a:prstGeom>
          <a:solidFill>
            <a:srgbClr val="FB718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2724912" y="370332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50" dirty="0"/>
          </a:p>
        </p:txBody>
      </p:sp>
      <p:sp>
        <p:nvSpPr>
          <p:cNvPr id="28" name="Shape 24"/>
          <p:cNvSpPr/>
          <p:nvPr/>
        </p:nvSpPr>
        <p:spPr>
          <a:xfrm>
            <a:off x="1207008" y="4041648"/>
            <a:ext cx="2029968" cy="365760"/>
          </a:xfrm>
          <a:prstGeom prst="roundRect">
            <a:avLst>
              <a:gd name="adj" fmla="val 12500"/>
            </a:avLst>
          </a:prstGeom>
          <a:solidFill>
            <a:srgbClr val="1A2233"/>
          </a:solidFill>
          <a:ln/>
        </p:spPr>
      </p:sp>
      <p:sp>
        <p:nvSpPr>
          <p:cNvPr id="29" name="Shape 25"/>
          <p:cNvSpPr/>
          <p:nvPr/>
        </p:nvSpPr>
        <p:spPr>
          <a:xfrm>
            <a:off x="1280160" y="4178808"/>
            <a:ext cx="82296" cy="8229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426464" y="40690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EPJ B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1426464" y="422452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-71 dBm  ·  9.8 m</a:t>
            </a:r>
            <a:endParaRPr lang="en-US" sz="700" dirty="0"/>
          </a:p>
        </p:txBody>
      </p:sp>
      <p:sp>
        <p:nvSpPr>
          <p:cNvPr id="32" name="Shape 28"/>
          <p:cNvSpPr/>
          <p:nvPr/>
        </p:nvSpPr>
        <p:spPr>
          <a:xfrm>
            <a:off x="2724912" y="4123944"/>
            <a:ext cx="475488" cy="219456"/>
          </a:xfrm>
          <a:prstGeom prst="roundRect">
            <a:avLst>
              <a:gd name="adj" fmla="val 208333"/>
            </a:avLst>
          </a:prstGeom>
          <a:solidFill>
            <a:srgbClr val="FCD34D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2724912" y="412394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1207008" y="4462272"/>
            <a:ext cx="2029968" cy="365760"/>
          </a:xfrm>
          <a:prstGeom prst="roundRect">
            <a:avLst>
              <a:gd name="adj" fmla="val 12500"/>
            </a:avLst>
          </a:prstGeom>
          <a:solidFill>
            <a:srgbClr val="1A2233"/>
          </a:solidFill>
          <a:ln/>
        </p:spPr>
      </p:sp>
      <p:sp>
        <p:nvSpPr>
          <p:cNvPr id="35" name="Shape 31"/>
          <p:cNvSpPr/>
          <p:nvPr/>
        </p:nvSpPr>
        <p:spPr>
          <a:xfrm>
            <a:off x="1280160" y="4599432"/>
            <a:ext cx="82296" cy="8229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1426464" y="44897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C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1426464" y="464515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-84 dBm  ·  18 m</a:t>
            </a:r>
            <a:endParaRPr lang="en-US" sz="700" dirty="0"/>
          </a:p>
        </p:txBody>
      </p:sp>
      <p:sp>
        <p:nvSpPr>
          <p:cNvPr id="38" name="Shape 34"/>
          <p:cNvSpPr/>
          <p:nvPr/>
        </p:nvSpPr>
        <p:spPr>
          <a:xfrm>
            <a:off x="2724912" y="4544568"/>
            <a:ext cx="475488" cy="219456"/>
          </a:xfrm>
          <a:prstGeom prst="roundRect">
            <a:avLst>
              <a:gd name="adj" fmla="val 208333"/>
            </a:avLst>
          </a:prstGeom>
          <a:solidFill>
            <a:srgbClr val="4ADE80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2724912" y="454456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750" dirty="0"/>
          </a:p>
        </p:txBody>
      </p:sp>
      <p:sp>
        <p:nvSpPr>
          <p:cNvPr id="40" name="Shape 36"/>
          <p:cNvSpPr/>
          <p:nvPr/>
        </p:nvSpPr>
        <p:spPr>
          <a:xfrm>
            <a:off x="1133856" y="5120640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3856" y="5120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전환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2295144" y="5120640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FB7185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2295144" y="5120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960120" y="6144768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화면 (v1.1.70)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4242816" y="1554480"/>
            <a:ext cx="7381951" cy="969264"/>
          </a:xfrm>
          <a:prstGeom prst="roundRect">
            <a:avLst>
              <a:gd name="adj" fmla="val 9434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4517136" y="180136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4718304" y="17373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선택이 전부</a:t>
            </a:r>
            <a:endParaRPr lang="en-US" sz="1300" dirty="0"/>
          </a:p>
        </p:txBody>
      </p:sp>
      <p:sp>
        <p:nvSpPr>
          <p:cNvPr id="48" name="Text 44"/>
          <p:cNvSpPr txBox="1"/>
          <p:nvPr/>
        </p:nvSpPr>
        <p:spPr>
          <a:xfrm>
            <a:off x="4718304" y="2029968"/>
            <a:ext cx="65955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· EPJ · 지게차 중 하나를 고르면 그 조합에 맞는 경고·위험 거리가 자동 적용된다. 작업자가 설정할 것이 없다.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4242816" y="2596896"/>
            <a:ext cx="7381951" cy="969264"/>
          </a:xfrm>
          <a:prstGeom prst="roundRect">
            <a:avLst>
              <a:gd name="adj" fmla="val 9434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50" name="Shape 46"/>
          <p:cNvSpPr/>
          <p:nvPr/>
        </p:nvSpPr>
        <p:spPr>
          <a:xfrm>
            <a:off x="4517136" y="2843784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4718304" y="277977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목록 실시간 표시</a:t>
            </a:r>
            <a:endParaRPr lang="en-US" sz="1300" dirty="0"/>
          </a:p>
        </p:txBody>
      </p:sp>
      <p:sp>
        <p:nvSpPr>
          <p:cNvPr id="52" name="Text 48"/>
          <p:cNvSpPr txBox="1"/>
          <p:nvPr/>
        </p:nvSpPr>
        <p:spPr>
          <a:xfrm>
            <a:off x="4718304" y="3072384"/>
            <a:ext cx="65955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기기마다 신호 세기·추정 거리·등급을 보여준다. 등급 색은 앱 전체에서 같은 의미로 쓰인다.</a:t>
            </a:r>
            <a:endParaRPr lang="en-US" sz="1150" dirty="0"/>
          </a:p>
        </p:txBody>
      </p:sp>
      <p:sp>
        <p:nvSpPr>
          <p:cNvPr id="53" name="Shape 49"/>
          <p:cNvSpPr/>
          <p:nvPr/>
        </p:nvSpPr>
        <p:spPr>
          <a:xfrm>
            <a:off x="4242816" y="3639312"/>
            <a:ext cx="7381951" cy="969264"/>
          </a:xfrm>
          <a:prstGeom prst="roundRect">
            <a:avLst>
              <a:gd name="adj" fmla="val 9434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4517136" y="3886200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4718304" y="382219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꺼도 동작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4718304" y="4114800"/>
            <a:ext cx="65955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포그라운드 서비스로 상시 스캔한다. 화면이 꺼진 상태에서도 경보가 뜨고, 상시 알림으로 동작 여부를 확인할 수 있다.</a:t>
            </a:r>
            <a:endParaRPr lang="en-US" sz="1150" dirty="0"/>
          </a:p>
        </p:txBody>
      </p:sp>
      <p:sp>
        <p:nvSpPr>
          <p:cNvPr id="57" name="Shape 53"/>
          <p:cNvSpPr/>
          <p:nvPr/>
        </p:nvSpPr>
        <p:spPr>
          <a:xfrm>
            <a:off x="4242816" y="4681728"/>
            <a:ext cx="7381951" cy="969264"/>
          </a:xfrm>
          <a:prstGeom prst="roundRect">
            <a:avLst>
              <a:gd name="adj" fmla="val 9434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2000"/>
              </a:srgbClr>
            </a:outerShdw>
          </a:effectLst>
        </p:spPr>
      </p:sp>
      <p:sp>
        <p:nvSpPr>
          <p:cNvPr id="58" name="Shape 54"/>
          <p:cNvSpPr/>
          <p:nvPr/>
        </p:nvSpPr>
        <p:spPr>
          <a:xfrm>
            <a:off x="4517136" y="4928616"/>
            <a:ext cx="100584" cy="10058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4718304" y="48646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경보는 3중 출력</a:t>
            </a:r>
            <a:endParaRPr lang="en-US" sz="1300" dirty="0"/>
          </a:p>
        </p:txBody>
      </p:sp>
      <p:sp>
        <p:nvSpPr>
          <p:cNvPr id="60" name="Text 56"/>
          <p:cNvSpPr txBox="1"/>
          <p:nvPr/>
        </p:nvSpPr>
        <p:spPr>
          <a:xfrm>
            <a:off x="4718304" y="5157216"/>
            <a:ext cx="65955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가장자리 사이드바가 동시에 뜬다. 장비 소음 환경에서 소리 하나에 의존하지 않는다.</a:t>
            </a:r>
            <a:endParaRPr lang="en-US" sz="1150" dirty="0"/>
          </a:p>
        </p:txBody>
      </p:sp>
      <p:sp>
        <p:nvSpPr>
          <p:cNvPr id="61" name="Text 57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2" name="Text 58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 v1.1.70 에서 실제로 동작하는 기능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3639312" cy="1719072"/>
          </a:xfrm>
          <a:prstGeom prst="roundRect">
            <a:avLst>
              <a:gd name="adj" fmla="val 531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73936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6" name="Image 0" descr="/tmp/claude-0/-home-user-SafeAlert/a01a9bd8-2674-5693-bc36-c78453b067c8/scratchpad/deck/assets/ic_forkl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1887322"/>
            <a:ext cx="340157" cy="34015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2532888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24688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기반 차등 반경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지게차·EPJ·보행자 조합별로 경고·위험 거리를 다르게 적용한다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5112" y="1536192"/>
            <a:ext cx="3639312" cy="1719072"/>
          </a:xfrm>
          <a:prstGeom prst="roundRect">
            <a:avLst>
              <a:gd name="adj" fmla="val 531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1144" y="1773936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2" name="Image 1" descr="/tmp/claude-0/-home-user-SafeAlert/a01a9bd8-2674-5693-bc36-c78453b067c8/scratchpad/deck/assets/ic_b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4530" y="1887322"/>
            <a:ext cx="340157" cy="340157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81144" y="2532888"/>
            <a:ext cx="100584" cy="10058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782312" y="24688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경보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782312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/ 경고 / 위험. 등급에 따라 소리·진동·화면 표시가 달라진다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83296" y="1536192"/>
            <a:ext cx="3639312" cy="1719072"/>
          </a:xfrm>
          <a:prstGeom prst="roundRect">
            <a:avLst>
              <a:gd name="adj" fmla="val 531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39328" y="1773936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8" name="Image 2" descr="/tmp/claude-0/-home-user-SafeAlert/a01a9bd8-2674-5693-bc36-c78453b067c8/scratchpad/deck/assets/ic_share_o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1887322"/>
            <a:ext cx="340157" cy="34015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339328" y="2532888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540496" y="24688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협력 알림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540496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한쪽이 먼저 감지하면 상대 기기도 함께 울린다. 한쪽 신호가 약해도 놓치지 않는다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66928" y="3401568"/>
            <a:ext cx="3639312" cy="1719072"/>
          </a:xfrm>
          <a:prstGeom prst="roundRect">
            <a:avLst>
              <a:gd name="adj" fmla="val 531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22960" y="363931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24" name="Image 3" descr="/tmp/claude-0/-home-user-SafeAlert/a01a9bd8-2674-5693-bc36-c78453b067c8/scratchpad/deck/assets/ic_receive_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6" y="3752698"/>
            <a:ext cx="340157" cy="340157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22960" y="4398264"/>
            <a:ext cx="100584" cy="10058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024128" y="433425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후진·하역 특수 경보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24128" y="462686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후진 또는 하역·고소작업 중이면 근접 시 즉시 최고 등급으로 격상한다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325112" y="3401568"/>
            <a:ext cx="3639312" cy="1719072"/>
          </a:xfrm>
          <a:prstGeom prst="roundRect">
            <a:avLst>
              <a:gd name="adj" fmla="val 531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81144" y="363931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30" name="Image 4" descr="/tmp/claude-0/-home-user-SafeAlert/a01a9bd8-2674-5693-bc36-c78453b067c8/scratchpad/deck/assets/ic_signal_b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530" y="3752698"/>
            <a:ext cx="340157" cy="340157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4581144" y="4398264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4782312" y="433425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모션·회전 인식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4782312" y="462686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센서로 정지·주행·급정거와 좌·우 회전을 판별해 경보 판정에 반영한다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083296" y="3401568"/>
            <a:ext cx="3639312" cy="1719072"/>
          </a:xfrm>
          <a:prstGeom prst="roundRect">
            <a:avLst>
              <a:gd name="adj" fmla="val 531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339328" y="363931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36" name="Image 5" descr="/tmp/claude-0/-home-user-SafeAlert/a01a9bd8-2674-5693-bc36-c78453b067c8/scratchpad/deck/assets/ic_antenn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714" y="3752698"/>
            <a:ext cx="340157" cy="340157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8339328" y="4398264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8540496" y="433425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측위 수단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8540496" y="462686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거리, 존 비콘, 사업장별 보정값 공유가 주 판정을 보완한다</a:t>
            </a:r>
            <a:endParaRPr lang="en-US" sz="1150" dirty="0"/>
          </a:p>
        </p:txBody>
      </p:sp>
      <p:sp>
        <p:nvSpPr>
          <p:cNvPr id="40" name="Text 32"/>
          <p:cNvSpPr txBox="1"/>
          <p:nvPr/>
        </p:nvSpPr>
        <p:spPr>
          <a:xfrm>
            <a:off x="566928" y="53218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기능은 단말 한 대 안에서 완결된다. 클라우드가 죽어도, UWB 가 없어도 블루투스 근접 경보는 그대로 동작한다.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조합별 판정 반경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거리라도 상대가 지게차인지 보행자인지에 따라 다르게 판정한다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468112" cy="3255264"/>
          </a:xfrm>
          <a:prstGeom prst="roundRect">
            <a:avLst>
              <a:gd name="adj" fmla="val 280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700784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지게차가 포함된 조합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1975104"/>
            <a:ext cx="4882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↔ 보행자 · EPJ · 지게차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77824" y="239572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8" name="Image 0" descr="/tmp/claude-0/-home-user-SafeAlert/a01a9bd8-2674-5693-bc36-c78453b067c8/scratchpad/deck/assets/ic_forkl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505456"/>
            <a:ext cx="329184" cy="3291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36192" y="239572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10" name="Image 1" descr="/tmp/claude-0/-home-user-SafeAlert/a01a9bd8-2674-5693-bc36-c78453b067c8/scratchpad/deck/assets/ic_wal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505456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94560" y="239572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12" name="Image 2" descr="/tmp/claude-0/-home-user-SafeAlert/a01a9bd8-2674-5693-bc36-c78453b067c8/scratchpad/deck/assets/ic_epj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288" y="2505456"/>
            <a:ext cx="329184" cy="32918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209544" y="2331720"/>
            <a:ext cx="1773936" cy="1773936"/>
          </a:xfrm>
          <a:prstGeom prst="ellipse">
            <a:avLst/>
          </a:prstGeom>
          <a:solidFill>
            <a:srgbClr val="141C2A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623462" y="2745638"/>
            <a:ext cx="946099" cy="946099"/>
          </a:xfrm>
          <a:prstGeom prst="ellipse">
            <a:avLst/>
          </a:prstGeom>
          <a:solidFill>
            <a:srgbClr val="1F2637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941064" y="3063240"/>
            <a:ext cx="310896" cy="310896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16" name="Shape 11"/>
          <p:cNvSpPr/>
          <p:nvPr/>
        </p:nvSpPr>
        <p:spPr>
          <a:xfrm>
            <a:off x="859536" y="4261104"/>
            <a:ext cx="1554480" cy="384048"/>
          </a:xfrm>
          <a:prstGeom prst="roundRect">
            <a:avLst>
              <a:gd name="adj" fmla="val 119048"/>
            </a:avLst>
          </a:prstGeom>
          <a:solidFill>
            <a:srgbClr val="FCD34D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59536" y="42611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15m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487168" y="4261104"/>
            <a:ext cx="1554480" cy="384048"/>
          </a:xfrm>
          <a:prstGeom prst="roundRect">
            <a:avLst>
              <a:gd name="adj" fmla="val 119048"/>
            </a:avLst>
          </a:prstGeom>
          <a:solidFill>
            <a:srgbClr val="FB718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2487168" y="42611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8m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153912" y="1517904"/>
            <a:ext cx="5468112" cy="3255264"/>
          </a:xfrm>
          <a:prstGeom prst="roundRect">
            <a:avLst>
              <a:gd name="adj" fmla="val 280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46520" y="1700784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조합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6446520" y="1975104"/>
            <a:ext cx="4882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↔ 보행자 · EPJ ↔ 보행자 · EPJ ↔ EPJ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464808" y="239572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4" name="Image 3" descr="/tmp/claude-0/-home-user-SafeAlert/a01a9bd8-2674-5693-bc36-c78453b067c8/scratchpad/deck/assets/ic_walk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2505456"/>
            <a:ext cx="329184" cy="329184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123176" y="239572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6" name="Image 4" descr="/tmp/claude-0/-home-user-SafeAlert/a01a9bd8-2674-5693-bc36-c78453b067c8/scratchpad/deck/assets/ic_epj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904" y="2505456"/>
            <a:ext cx="329184" cy="329184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9079992" y="2615184"/>
            <a:ext cx="1207008" cy="1207008"/>
          </a:xfrm>
          <a:prstGeom prst="ellipse">
            <a:avLst/>
          </a:prstGeom>
          <a:solidFill>
            <a:srgbClr val="141C2A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9321394" y="2856586"/>
            <a:ext cx="724205" cy="724205"/>
          </a:xfrm>
          <a:prstGeom prst="ellipse">
            <a:avLst/>
          </a:prstGeom>
          <a:solidFill>
            <a:srgbClr val="1F2637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9528048" y="3063240"/>
            <a:ext cx="310896" cy="310896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30" name="Shape 23"/>
          <p:cNvSpPr/>
          <p:nvPr/>
        </p:nvSpPr>
        <p:spPr>
          <a:xfrm>
            <a:off x="6446520" y="4261104"/>
            <a:ext cx="1554480" cy="384048"/>
          </a:xfrm>
          <a:prstGeom prst="roundRect">
            <a:avLst>
              <a:gd name="adj" fmla="val 119048"/>
            </a:avLst>
          </a:prstGeom>
          <a:solidFill>
            <a:srgbClr val="FCD34D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446520" y="42611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5m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074152" y="4261104"/>
            <a:ext cx="1554480" cy="384048"/>
          </a:xfrm>
          <a:prstGeom prst="roundRect">
            <a:avLst>
              <a:gd name="adj" fmla="val 119048"/>
            </a:avLst>
          </a:prstGeom>
          <a:solidFill>
            <a:srgbClr val="FB7185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8074152" y="42611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3m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566928" y="4956048"/>
            <a:ext cx="11057839" cy="822960"/>
          </a:xfrm>
          <a:prstGeom prst="roundRect">
            <a:avLst>
              <a:gd name="adj" fmla="val 1111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35" name="Text 28"/>
          <p:cNvSpPr txBox="1"/>
          <p:nvPr/>
        </p:nvSpPr>
        <p:spPr>
          <a:xfrm>
            <a:off x="841248" y="4956048"/>
            <a:ext cx="105091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값은 현장에서 확정된 기준이며, 설정에서 사업장별로 조정할 수 있다. 무거운 장비일수록 제동거리가 길기 때문에 지게차 조합의 반경이 크다. (도식은 비례 축척이 아니다)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원리 — 감지에서 경보까지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한 번이 경보가 되기까지 거치는 5단계 (아래 회색 글씨는 실제 구성 요소)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157984" cy="3072384"/>
          </a:xfrm>
          <a:prstGeom prst="roundRect">
            <a:avLst>
              <a:gd name="adj" fmla="val 423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066544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· 스캔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651760"/>
            <a:ext cx="17190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기기가 동시에 송신자이자 수신자다. 1초 주기 연속 스캔, 화면이 꺼져도 유지된다.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BleAdvertiser / BleScanner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29484" y="3108960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25496" y="1572768"/>
            <a:ext cx="2157984" cy="3072384"/>
          </a:xfrm>
          <a:prstGeom prst="roundRect">
            <a:avLst>
              <a:gd name="adj" fmla="val 423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044952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2066544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정제 3단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44952" y="2651760"/>
            <a:ext cx="17190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튐값 제거 → 이상치 차단 → 평활화. 약 120ms 마다 갱신한다.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044952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MedianFilter → RssiPreFilter → KalmanFilter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88052" y="3108960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4064" y="1572768"/>
            <a:ext cx="2157984" cy="3072384"/>
          </a:xfrm>
          <a:prstGeom prst="roundRect">
            <a:avLst>
              <a:gd name="adj" fmla="val 423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066544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· 접근 추정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2651760"/>
            <a:ext cx="17190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 보정, 상호 신호 대칭화, UWB 정밀 거리로 보완한다.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 오프셋 · 에코 RSSI · UwbRanger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46620" y="3108960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42632" y="1572768"/>
            <a:ext cx="2157984" cy="3072384"/>
          </a:xfrm>
          <a:prstGeom prst="roundRect">
            <a:avLst>
              <a:gd name="adj" fmla="val 4237"/>
            </a:avLst>
          </a:prstGeom>
          <a:solidFill>
            <a:srgbClr val="1A2233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62088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62088" y="2066544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562088" y="2651760"/>
            <a:ext cx="17190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속도와 상대의 상태를 함께 보고 등급을 올리거나 내린다.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562088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 경보 상태머신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505188" y="3108960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01200" y="1572768"/>
            <a:ext cx="2157984" cy="3072384"/>
          </a:xfrm>
          <a:prstGeom prst="roundRect">
            <a:avLst>
              <a:gd name="adj" fmla="val 423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820656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820656" y="2066544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출력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820656" y="2651760"/>
            <a:ext cx="17190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등급에 맞춰 소리 · 진동 · 화면 사이드바를 동시에 낸다.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820656" y="3913632"/>
            <a:ext cx="1719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AlertSoundPlayer · VibrationHelper · OverlayManager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" y="4791456"/>
            <a:ext cx="2688336" cy="658368"/>
          </a:xfrm>
          <a:prstGeom prst="roundRect">
            <a:avLst>
              <a:gd name="adj" fmla="val 1388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22960" y="479145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스캔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479145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 주기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355848" y="4791456"/>
            <a:ext cx="2688336" cy="658368"/>
          </a:xfrm>
          <a:prstGeom prst="roundRect">
            <a:avLst>
              <a:gd name="adj" fmla="val 1388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3611880" y="479145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갱신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611880" y="479145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120ms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144768" y="4791456"/>
            <a:ext cx="2688336" cy="658368"/>
          </a:xfrm>
          <a:prstGeom prst="roundRect">
            <a:avLst>
              <a:gd name="adj" fmla="val 1388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00800" y="479145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갱신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00800" y="479145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800ms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933688" y="4791456"/>
            <a:ext cx="2688336" cy="658368"/>
          </a:xfrm>
          <a:prstGeom prst="roundRect">
            <a:avLst>
              <a:gd name="adj" fmla="val 1388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9189720" y="479145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반응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189720" y="479145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1바이트 프로토콜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광고 패킷 단 1바이트에 역할 · 상태 · 회전 · 위험도를 모두 담는다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975104" y="1572768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75104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6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23113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2374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852928"/>
            <a:ext cx="2724912" cy="1700784"/>
          </a:xfrm>
          <a:prstGeom prst="roundRect">
            <a:avLst>
              <a:gd name="adj" fmla="val 5376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" y="299923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보행자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38328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EPJ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76732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지게차 · 리치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151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19856" y="1572768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19856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28032" y="1572768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28032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4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419856" y="223113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19856" y="252374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상태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19856" y="2852928"/>
            <a:ext cx="2724912" cy="1700784"/>
          </a:xfrm>
          <a:prstGeom prst="roundRect">
            <a:avLst>
              <a:gd name="adj" fmla="val 5376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3657600" y="299923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정지 · 일반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38328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전진 · 주행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376732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후진  ▲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657600" y="4151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하역 · 작업  ▲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72784" y="1572768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72784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3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680960" y="1572768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80960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2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72784" y="223113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272784" y="252374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방향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72784" y="2852928"/>
            <a:ext cx="2724912" cy="1700784"/>
          </a:xfrm>
          <a:prstGeom prst="roundRect">
            <a:avLst>
              <a:gd name="adj" fmla="val 5376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510528" y="299923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직진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510528" y="338328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좌회전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510528" y="376732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우회전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4151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125712" y="1572768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25712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1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0533888" y="1572768"/>
            <a:ext cx="1316736" cy="548640"/>
          </a:xfrm>
          <a:prstGeom prst="roundRect">
            <a:avLst>
              <a:gd name="adj" fmla="val 8333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533888" y="1572768"/>
            <a:ext cx="1316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125712" y="223113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125712" y="252374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위험도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125712" y="2852928"/>
            <a:ext cx="2724912" cy="1700784"/>
          </a:xfrm>
          <a:prstGeom prst="roundRect">
            <a:avLst>
              <a:gd name="adj" fmla="val 5376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363456" y="299923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안전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9363456" y="338328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경고 감지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363456" y="376732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위험 감지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9363456" y="4151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46451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특수경보 트리거 — 상대가 후진 · 하역 중이면 근접 즉시 최고 등급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507492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68096" y="50109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1바이트인가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2761488" y="5010912"/>
            <a:ext cx="88632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패킷 용량이 극히 작다. 필요한 정보를 비트 단위로 눌러 담아야 1초 주기 연속 방송이 가능하다.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66928" y="538581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68096" y="53218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못 바꾸는가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2761488" y="5321808"/>
            <a:ext cx="88632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 이미 배포된 구버전 단말과 통신해야 한다. 배치가 바뀌면 구버전과 신버전이 서로를 오인한다.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66928" y="569671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" y="563270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호환 설계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761488" y="5632704"/>
            <a:ext cx="88632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평상 상태 = 0x00. 페이로드를 싣지 않는 일반 비콘의 기본값과 자연 일치한다.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구조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27개 파일 11,636줄 · 6개 계층 · 순환 참조 없음 (2026.08 실측)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8138160" cy="713232"/>
          </a:xfrm>
          <a:prstGeom prst="roundRect">
            <a:avLst>
              <a:gd name="adj" fmla="val 1282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109728" cy="109728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15568" y="1572768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05_ui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06624" y="157276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역할 선택 · 설정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93408" y="157276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파일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44968" y="1572768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2,521줄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36008" y="2286000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" y="2414016"/>
            <a:ext cx="8138160" cy="713232"/>
          </a:xfrm>
          <a:prstGeom prst="roundRect">
            <a:avLst>
              <a:gd name="adj" fmla="val 12821"/>
            </a:avLst>
          </a:prstGeom>
          <a:solidFill>
            <a:srgbClr val="1A2233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2715768"/>
            <a:ext cx="109728" cy="1097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15568" y="241401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03_service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706624" y="2414016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· 상태 관리 · 생명주기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2414016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파일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2414016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4,133줄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36008" y="3127248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6928" y="3255264"/>
            <a:ext cx="8138160" cy="713232"/>
          </a:xfrm>
          <a:prstGeom prst="roundRect">
            <a:avLst>
              <a:gd name="adj" fmla="val 1282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3557016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15568" y="3255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02_ble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06624" y="3255264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송수신 · 신호 정제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93408" y="3255264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744968" y="3255264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1,712줄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36008" y="3968496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66928" y="4096512"/>
            <a:ext cx="8138160" cy="713232"/>
          </a:xfrm>
          <a:prstGeom prst="roundRect">
            <a:avLst>
              <a:gd name="adj" fmla="val 1282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" y="4398264"/>
            <a:ext cx="109728" cy="109728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15568" y="409651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06_utils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706624" y="4096512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· UWB · 비콘 · 오버레이 · 설정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93408" y="4096512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44968" y="4096512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3,040줄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36008" y="4809744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66928" y="4937760"/>
            <a:ext cx="8138160" cy="713232"/>
          </a:xfrm>
          <a:prstGeom prst="roundRect">
            <a:avLst>
              <a:gd name="adj" fmla="val 1282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04672" y="5239512"/>
            <a:ext cx="109728" cy="109728"/>
          </a:xfrm>
          <a:prstGeom prst="rect">
            <a:avLst/>
          </a:prstGeom>
          <a:solidFill>
            <a:srgbClr val="8B98A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115568" y="4937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01_model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2706624" y="493776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93408" y="4937760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744968" y="4937760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32줄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851392" y="1572768"/>
            <a:ext cx="2773375" cy="2194560"/>
          </a:xfrm>
          <a:prstGeom prst="roundRect">
            <a:avLst>
              <a:gd name="adj" fmla="val 416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107424" y="1737360"/>
            <a:ext cx="22613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04_firebase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9107424" y="2029968"/>
            <a:ext cx="22613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· 프로필 공유, 배포 권위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 · 181줄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9107424" y="2688336"/>
            <a:ext cx="22613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경로에서 분리되어 있다.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끊겨도 경보는 동작한다.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851392" y="3931920"/>
            <a:ext cx="2773375" cy="1554480"/>
          </a:xfrm>
          <a:prstGeom prst="roundRect">
            <a:avLst>
              <a:gd name="adj" fmla="val 5882"/>
            </a:avLst>
          </a:prstGeom>
          <a:solidFill>
            <a:srgbClr val="1A2233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9107424" y="4078224"/>
            <a:ext cx="22613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07424" y="4370832"/>
            <a:ext cx="22613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JVM 단위 테스트 17건 · 488줄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실기기 없이 CI 에서 자동 실행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9107424" y="5029200"/>
            <a:ext cx="22613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 신설 (로드맵 1단계)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개선이 필요한 지점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하나에 경보 · 거리 · 보정 · 생명주기가 모두 들어 있다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91056"/>
          <a:ext cx="68580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91056"/>
            <a:ext cx="4035247" cy="1700784"/>
          </a:xfrm>
          <a:prstGeom prst="roundRect">
            <a:avLst>
              <a:gd name="adj" fmla="val 5376"/>
            </a:avLst>
          </a:prstGeom>
          <a:solidFill>
            <a:srgbClr val="1A2233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45552" y="1755648"/>
            <a:ext cx="3523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845552" y="2066544"/>
            <a:ext cx="352318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등급 판정, UWB 거리 관리, 보정값 계산, 서비스 생명주기가 한 파일 안에 섞여 있다. 한 곳을 고치면 다른 증상이 따라 나온다.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589520" y="3419856"/>
            <a:ext cx="4035247" cy="1810512"/>
          </a:xfrm>
          <a:prstGeom prst="roundRect">
            <a:avLst>
              <a:gd name="adj" fmla="val 505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845552" y="3584448"/>
            <a:ext cx="3523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푸는가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863840" y="3977640"/>
            <a:ext cx="91440" cy="9144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83296" y="3877056"/>
            <a:ext cx="32854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컴포넌트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4306824"/>
            <a:ext cx="91440" cy="9144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83296" y="4206240"/>
            <a:ext cx="32854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거리 컴포넌트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863840" y="4636008"/>
            <a:ext cx="91440" cy="9144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83296" y="4535424"/>
            <a:ext cx="32854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컴포넌트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845552" y="4901184"/>
            <a:ext cx="3523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컴포넌트로 분리 (로드맵 3단계)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53218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분해의 수용 기준은 '동작이 하나도 달라지지 않는 것'이다. 기능을 바꾸는 작업이 아니라, 같은 동작을 검증 가능한 형태로 다시 세우는 작업이다.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확보 로드맵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'같은 상황에서 같은 판정' — 5단계, 매 단계마다 출하 가능한 상태로 끝난다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2157984" cy="2761488"/>
          </a:xfrm>
          <a:prstGeom prst="roundRect">
            <a:avLst>
              <a:gd name="adj" fmla="val 4237"/>
            </a:avLst>
          </a:prstGeom>
          <a:solidFill>
            <a:srgbClr val="1A2233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89888" y="1444752"/>
            <a:ext cx="512064" cy="512064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89888" y="1444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· CI 회귀 게이트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먼저 잡는다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29484" y="3072384"/>
            <a:ext cx="91440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25496" y="1700784"/>
            <a:ext cx="2157984" cy="2761488"/>
          </a:xfrm>
          <a:prstGeom prst="roundRect">
            <a:avLst>
              <a:gd name="adj" fmla="val 423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48456" y="1444752"/>
            <a:ext cx="512064" cy="512064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444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44952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경로 기준값 고정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격상 · 해제 전 경로를 기대값에 고정, 저속 접근 미탐지 수정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044952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44952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88052" y="3072384"/>
            <a:ext cx="91440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84064" y="1700784"/>
            <a:ext cx="2157984" cy="2761488"/>
          </a:xfrm>
          <a:prstGeom prst="roundRect">
            <a:avLst>
              <a:gd name="adj" fmla="val 423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07024" y="1444752"/>
            <a:ext cx="512064" cy="512064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1444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로직 분해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· 거리 · 보정 세 컴포넌트로 분리, 동작 보존 증명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303520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46620" y="3072384"/>
            <a:ext cx="91440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42632" y="1700784"/>
            <a:ext cx="2157984" cy="2761488"/>
          </a:xfrm>
          <a:prstGeom prst="roundRect">
            <a:avLst>
              <a:gd name="adj" fmla="val 423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65592" y="1444752"/>
            <a:ext cx="512064" cy="512064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65592" y="1444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562088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상태 단일화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562088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상태를 하나로 통합, 장시간 구동 안정성 확보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62088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62088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505188" y="3072384"/>
            <a:ext cx="91440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01200" y="1700784"/>
            <a:ext cx="2157984" cy="2761488"/>
          </a:xfrm>
          <a:prstGeom prst="roundRect">
            <a:avLst>
              <a:gd name="adj" fmla="val 423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424160" y="1444752"/>
            <a:ext cx="512064" cy="512064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424160" y="1444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820656" y="215798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처리 분리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820656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현장에서 화면 지연 없이 동작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820656" y="4023360"/>
            <a:ext cx="914400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820656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4681728"/>
            <a:ext cx="11057839" cy="822960"/>
          </a:xfrm>
          <a:prstGeom prst="roundRect">
            <a:avLst>
              <a:gd name="adj" fmla="val 1111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41248" y="5038344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42416" y="497433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 성과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944368" y="4681728"/>
            <a:ext cx="84060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신설  ·  빌드마다 자동 실행  ·  실패 시 릴리스 자동 차단  ·  실기기 없이 회귀 판별 가능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관리 체계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1단계에서 새로 만든 것 — 회귀를 현장이 아니라 빌드에서 잡는 장치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2157984" cy="1810512"/>
          </a:xfrm>
          <a:prstGeom prst="roundRect">
            <a:avLst>
              <a:gd name="adj" fmla="val 505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819656"/>
            <a:ext cx="118872" cy="11887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24128" y="175564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변경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212848"/>
            <a:ext cx="171907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수정을 올린다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29484" y="2487168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25496" y="1591056"/>
            <a:ext cx="2157984" cy="1810512"/>
          </a:xfrm>
          <a:prstGeom prst="roundRect">
            <a:avLst>
              <a:gd name="adj" fmla="val 505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44952" y="1819656"/>
            <a:ext cx="118872" cy="11887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75564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빌드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2212848"/>
            <a:ext cx="171907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가 즉시 빌드한다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88052" y="2487168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84064" y="1591056"/>
            <a:ext cx="2157984" cy="1810512"/>
          </a:xfrm>
          <a:prstGeom prst="roundRect">
            <a:avLst>
              <a:gd name="adj" fmla="val 505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0" y="1819656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1264" y="175564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검증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2212848"/>
            <a:ext cx="171907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17건이 신호 처리 결과를 기대값과 대조한다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246620" y="2487168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342632" y="1591056"/>
            <a:ext cx="2157984" cy="1810512"/>
          </a:xfrm>
          <a:prstGeom prst="roundRect">
            <a:avLst>
              <a:gd name="adj" fmla="val 505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62088" y="1819656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99832" y="175564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/ 차단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62088" y="2212848"/>
            <a:ext cx="171907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어긋나면 릴리스가 차단된다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5188" y="2487168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01200" y="1591056"/>
            <a:ext cx="2157984" cy="1810512"/>
          </a:xfrm>
          <a:prstGeom prst="roundRect">
            <a:avLst>
              <a:gd name="adj" fmla="val 505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20656" y="1819656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0" y="175564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20656" y="2212848"/>
            <a:ext cx="171907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시에만 앱이 자동 업데이트 대상이 된다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639312"/>
            <a:ext cx="5468112" cy="1773936"/>
          </a:xfrm>
          <a:prstGeom prst="roundRect">
            <a:avLst>
              <a:gd name="adj" fmla="val 515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59536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59536" y="409651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사용자가 현장에서 발견했다.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59536" y="4480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보고되면 그때부터 원인을 찾았고, 확인 사이클이 현장 가용 시간에 묶여 있었다.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3639312"/>
            <a:ext cx="5468112" cy="1773936"/>
          </a:xfrm>
          <a:prstGeom prst="roundRect">
            <a:avLst>
              <a:gd name="adj" fmla="val 5155"/>
            </a:avLst>
          </a:prstGeom>
          <a:solidFill>
            <a:srgbClr val="1A2233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446520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409651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빌드가 먼저 발견한다.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4480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실제로 실행됐는지까지 검증한다. 테스트가 조용히 사라져 통과처럼 보이는 상황을 차단했다.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시 이점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대수가 늘수록 감지 범위가 인프라 비용 없이 넓어진다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9344"/>
          <a:ext cx="5486400" cy="31455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236208" y="1609344"/>
            <a:ext cx="5388559" cy="822960"/>
          </a:xfrm>
          <a:prstGeom prst="roundRect">
            <a:avLst>
              <a:gd name="adj" fmla="val 1111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55664" y="1783080"/>
            <a:ext cx="475488" cy="475488"/>
          </a:xfrm>
          <a:prstGeom prst="roundRect">
            <a:avLst>
              <a:gd name="adj" fmla="val 46154"/>
            </a:avLst>
          </a:prstGeom>
          <a:solidFill>
            <a:srgbClr val="1A2233"/>
          </a:solidFill>
          <a:ln/>
        </p:spPr>
      </p:sp>
      <p:pic>
        <p:nvPicPr>
          <p:cNvPr id="7" name="Image 0" descr="/tmp/claude-0/-home-user-SafeAlert/a01a9bd8-2674-5693-bc36-c78453b067c8/scratchpad/deck/assets/ic_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0762" y="1878178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077456" y="1719072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한계비용 구조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077456" y="2002536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한 대 추가 = 앱 설치 한 건. 앵커·배선·서버 증설이 없다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236208" y="2505456"/>
            <a:ext cx="5388559" cy="822960"/>
          </a:xfrm>
          <a:prstGeom prst="roundRect">
            <a:avLst>
              <a:gd name="adj" fmla="val 1111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55664" y="2679192"/>
            <a:ext cx="475488" cy="475488"/>
          </a:xfrm>
          <a:prstGeom prst="roundRect">
            <a:avLst>
              <a:gd name="adj" fmla="val 46154"/>
            </a:avLst>
          </a:prstGeom>
          <a:solidFill>
            <a:srgbClr val="1A2233"/>
          </a:solidFill>
          <a:ln/>
        </p:spPr>
      </p:sp>
      <p:pic>
        <p:nvPicPr>
          <p:cNvPr id="12" name="Image 1" descr="/tmp/claude-0/-home-user-SafeAlert/a01a9bd8-2674-5693-bc36-c78453b067c8/scratchpad/deck/assets/ic_share_o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774290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77456" y="2615184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커버리지 자기 증식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077456" y="2898648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늘수록 감지쌍이 제곱으로 늘어난다. 사각지대가 자연히 줄어든다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236208" y="3401568"/>
            <a:ext cx="5388559" cy="822960"/>
          </a:xfrm>
          <a:prstGeom prst="roundRect">
            <a:avLst>
              <a:gd name="adj" fmla="val 1111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455664" y="3575304"/>
            <a:ext cx="475488" cy="475488"/>
          </a:xfrm>
          <a:prstGeom prst="roundRect">
            <a:avLst>
              <a:gd name="adj" fmla="val 46154"/>
            </a:avLst>
          </a:prstGeom>
          <a:solidFill>
            <a:srgbClr val="1A2233"/>
          </a:solidFill>
          <a:ln/>
        </p:spPr>
      </p:sp>
      <p:pic>
        <p:nvPicPr>
          <p:cNvPr id="17" name="Image 2" descr="/tmp/claude-0/-home-user-SafeAlert/a01a9bd8-2674-5693-bc36-c78453b067c8/scratchpad/deck/assets/ic_receive_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762" y="3670402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77456" y="3511296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077456" y="379476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센터나 라인이 바뀌어도 재공사가 없다. 사업장별 보정값만 공유하면 된다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236208" y="4297680"/>
            <a:ext cx="5388559" cy="822960"/>
          </a:xfrm>
          <a:prstGeom prst="roundRect">
            <a:avLst>
              <a:gd name="adj" fmla="val 1111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2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55664" y="4471416"/>
            <a:ext cx="475488" cy="475488"/>
          </a:xfrm>
          <a:prstGeom prst="roundRect">
            <a:avLst>
              <a:gd name="adj" fmla="val 46154"/>
            </a:avLst>
          </a:prstGeom>
          <a:solidFill>
            <a:srgbClr val="1A2233"/>
          </a:solidFill>
          <a:ln/>
        </p:spPr>
      </p:sp>
      <p:pic>
        <p:nvPicPr>
          <p:cNvPr id="22" name="Image 3" descr="/tmp/claude-0/-home-user-SafeAlert/a01a9bd8-2674-5693-bc36-c78453b067c8/scratchpad/deck/assets/ic_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56651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77456" y="4407408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 축적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7077456" y="4690872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이력이 쌓이면 위험 구간·시간대를 근거로 분석할 수 있다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566928" y="5230368"/>
            <a:ext cx="11057839" cy="676656"/>
          </a:xfrm>
          <a:prstGeom prst="roundRect">
            <a:avLst>
              <a:gd name="adj" fmla="val 13514"/>
            </a:avLst>
          </a:prstGeom>
          <a:solidFill>
            <a:srgbClr val="1A2233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841248" y="5230368"/>
            <a:ext cx="1050919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단말 한 대가 동시에 추적할 수 있는 대수에는 현재 한계가 있다. 20대 이상 밀집 환경의 화면 지연은 로드맵 5단계에서 해소한다.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시나리오 (제안)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단계는 다음 단계로 넘어갈 판단 근거를 남기고 끝난다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657600" cy="3803904"/>
          </a:xfrm>
          <a:prstGeom prst="roundRect">
            <a:avLst>
              <a:gd name="adj" fmla="val 2500"/>
            </a:avLst>
          </a:prstGeom>
          <a:solidFill>
            <a:srgbClr val="1A2233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92224"/>
            <a:ext cx="1042416" cy="310896"/>
          </a:xfrm>
          <a:prstGeom prst="roundRect">
            <a:avLst>
              <a:gd name="adj" fmla="val 147059"/>
            </a:avLst>
          </a:prstGeom>
          <a:solidFill>
            <a:srgbClr val="7DD3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9222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212848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5786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센터, 위험 동선 1개 구간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41248" y="315468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8992" y="305409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장비 · 인원에 앱 설치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41248" y="363016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78992" y="352958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· 반경 현장 확정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" y="410565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4005072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· 미탐지 사례 수집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" y="4626864"/>
            <a:ext cx="3182112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718304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 :  경보가 뜰 때 뜨고 꺼질 때 꺼지는가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29100" y="3493008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25112" y="1591056"/>
            <a:ext cx="3657600" cy="3803904"/>
          </a:xfrm>
          <a:prstGeom prst="roundRect">
            <a:avLst>
              <a:gd name="adj" fmla="val 250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62856" y="1792224"/>
            <a:ext cx="1042416" cy="310896"/>
          </a:xfrm>
          <a:prstGeom prst="roundRect">
            <a:avLst>
              <a:gd name="adj" fmla="val 147059"/>
            </a:avLst>
          </a:prstGeom>
          <a:solidFill>
            <a:srgbClr val="FCD3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79222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62856" y="2212848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단위 확대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62856" y="25786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사업장 전 라인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99432" y="3154680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37176" y="305409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사업장별 보정값 공유 적용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99432" y="3630168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37176" y="352958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장시간 연속 구동 안정성 확인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99432" y="4105656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37176" y="4005072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구간 성능 확인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62856" y="4626864"/>
            <a:ext cx="3182112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62856" y="4718304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 :  대수가 늘어도 판정이 흔들리지 않는가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7284" y="3493008"/>
            <a:ext cx="9144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083296" y="1591056"/>
            <a:ext cx="3657600" cy="3803904"/>
          </a:xfrm>
          <a:prstGeom prst="roundRect">
            <a:avLst>
              <a:gd name="adj" fmla="val 250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21040" y="1792224"/>
            <a:ext cx="1042416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179222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2212848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257860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센터 · 운영 규칙 편입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357616" y="3154680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595360" y="3054096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충전 운영 규칙 수립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357616" y="3630168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595360" y="352958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입사자 온보딩 절차 포함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357616" y="4105656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595360" y="4005072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이력 기반 정기 리뷰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321040" y="4626864"/>
            <a:ext cx="3182112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21040" y="4718304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 :  운영 규칙 없이도 유지되는가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리스크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결정 전에 알고 있어야 할 항목 — 숨기지 않고 함께 본다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60704" y="15910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858768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07808" y="15910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11057839" cy="749808"/>
          </a:xfrm>
          <a:prstGeom prst="roundRect">
            <a:avLst>
              <a:gd name="adj" fmla="val 121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276856"/>
            <a:ext cx="109728" cy="109728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0704" y="195681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기반 거리 추정 오차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858768" y="195681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구조물 · 적재물이 전파를 가리면 거리가 실제와 어긋난다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607808" y="195681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신호 정제 · 역할쌍 보정 · 상호 신호 대칭화. 재현성 확보가 로드맵 2~4단계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779776"/>
            <a:ext cx="11057839" cy="749808"/>
          </a:xfrm>
          <a:prstGeom prst="roundRect">
            <a:avLst>
              <a:gd name="adj" fmla="val 121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099816"/>
            <a:ext cx="109728" cy="1097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60704" y="277977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전원 의존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858768" y="27797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단말을 소지하지 않으면 감지되지 않는다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607808" y="277977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규칙으로 보완 필요. 기술로 해결되는 항목이 아니다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2736"/>
            <a:ext cx="11057839" cy="749808"/>
          </a:xfrm>
          <a:prstGeom prst="roundRect">
            <a:avLst>
              <a:gd name="adj" fmla="val 121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922776"/>
            <a:ext cx="109728" cy="109728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360273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성능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858768" y="360273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이상이 한 구역에 모이면 화면 반응이 느려진다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607808" y="360273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5단계에서 판정 처리를 분리해 해소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425696"/>
            <a:ext cx="11057839" cy="749808"/>
          </a:xfrm>
          <a:prstGeom prst="roundRect">
            <a:avLst>
              <a:gd name="adj" fmla="val 121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177800" dist="762" dir="54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745736"/>
            <a:ext cx="109728" cy="109728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60704" y="442569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측위 의존성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858768" y="442569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중인 UWB 라이브러리가 정식 출시 전 버전이다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607808" y="442569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판정은 블루투스. UWB 는 보조 수단으로 한정해 영향 차단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248656"/>
            <a:ext cx="11057839" cy="749808"/>
          </a:xfrm>
          <a:prstGeom prst="roundRect">
            <a:avLst>
              <a:gd name="adj" fmla="val 121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177800" dist="762" dir="54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2960" y="5568696"/>
            <a:ext cx="109728" cy="1097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0704" y="5248656"/>
            <a:ext cx="2706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미완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858768" y="524865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 빌드 난독화 미적용, 경보 이력 평문 저장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607808" y="5248656"/>
            <a:ext cx="3941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전 조치 필요 항목. 사내 보안 기준 확인 요청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710367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feAlert/a01a9bd8-2674-5693-bc36-c78453b067c8/scratchpad/deck/assets/clo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886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사항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9875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넘어가기 위해 결정이 필요한 세 가지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66928" y="1883664"/>
            <a:ext cx="3639312" cy="1920240"/>
          </a:xfrm>
          <a:prstGeom prst="roundRect">
            <a:avLst>
              <a:gd name="adj" fmla="val 476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54000" dist="762" dir="5400000">
              <a:srgbClr val="000000">
                <a:alpha val="4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41248" y="20665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" y="2542032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대상 지정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889504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1곳과 위험 동선 1개 구간, 참여 장비 · 인원 범위를 정해 주십시오.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25112" y="1883664"/>
            <a:ext cx="3639312" cy="1920240"/>
          </a:xfrm>
          <a:prstGeom prst="roundRect">
            <a:avLst>
              <a:gd name="adj" fmla="val 476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54000" dist="762" dir="5400000">
              <a:srgbClr val="000000">
                <a:alpha val="4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99432" y="20665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599432" y="2542032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시간 확보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599432" y="2889504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검증이 유일한 회귀 확인 수단입니다. 정기적인 검증 슬롯이 필요합니다.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83296" y="1883664"/>
            <a:ext cx="3639312" cy="1920240"/>
          </a:xfrm>
          <a:prstGeom prst="roundRect">
            <a:avLst>
              <a:gd name="adj" fmla="val 476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54000" dist="762" dir="5400000">
              <a:srgbClr val="000000">
                <a:alpha val="4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57616" y="20665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357616" y="2542032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운영 정책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357616" y="2889504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설치 대상 단말, 소지 · 충전 규칙, 자동 업데이트 허용 여부에 대한 방침이 필요합니다.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572000"/>
            <a:ext cx="2743200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475488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떠야 할 때 뜨고, 꺼져야 할 때 꺼진다.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5175504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전제는 대수가 아니라 신뢰성입니다.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57607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v1.1.70  ·  2026. 08.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SafeAlert 경영진 보고</dc:title>
  <dc:subject>PptxGenJS Presentation</dc:subject>
  <dc:creator>SafeAlert</dc:creator>
  <cp:lastModifiedBy>SafeAlert</cp:lastModifiedBy>
  <cp:revision>1</cp:revision>
  <dcterms:created xsi:type="dcterms:W3CDTF">2026-08-29T00:29:47Z</dcterms:created>
  <dcterms:modified xsi:type="dcterms:W3CDTF">2026-08-29T00:29:47Z</dcterms:modified>
</cp:coreProperties>
</file>