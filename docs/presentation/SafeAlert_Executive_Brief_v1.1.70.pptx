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150" b="0" i="0" u="none" strike="noStrike">
                <a:solidFill>
                  <a:srgbClr val="8B98AC"/>
                </a:solidFill>
                <a:latin typeface="Malgun Gothic"/>
              </a:rPr>
              <a:t>상위 6개 파일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현장에서 운영 중인 SafeAlert 의 기능과 목적, 확산 시 이점을 공유하고 파일럿 확대 여부에 대한 결정을 요청한다. 표지는 앱 스플래시 화면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고정한다. 70회 릴리스는 실험이 아니라 이미 현장에서 도는 물건이라는 뜻이고, 1/5 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현장 조건과 제품이 어떻게 대응하는지를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고정 설비가 없다는 것. 클라우드는 설정 공유와 앱 자동 업데이트에만 쓰이고 경보 판정은 단말 안에서 끝난다. 통신이 끊긴 창고에서도 경보는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v1.1.70 메인 화면 구성 그대로다. 강조점은 작업자가 조작할 것이 거의 없다는 것 — 역할만 고르면 나머지는 백그라운드에서 돈다. 현장 교육 부담이 작다.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중 넷(양방향 협력 알림, 후진·하역 특수경보, 모션·회전 인식, 세이프존)은 시판 제품에서 잘 보이지 않는 항목이다. 전부 현장 요구에서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도식은 실제 비례 축척이다. 지게차 조합의 경고 반경(15m)이 보행자끼리의 경고 반경(5m)보다 세 배 넓다는 것이 한눈에 보인다. 값 자체는 현장에서 확인된 것이고, 개선 목표는 값대로 동작하게 만드는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확산 관점에서 중요한 장이다. 센터마다 조건이 다른데 코드를 고쳐야 한다면 확산이 곧 개발 부하가 된다. 사업장 코드로 보정 프로파일을 공유하는 구조라 한 곳에서 맞춘 값을 같은 코드의 단말이 함께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세이프존은 v1.1.62 에 들어가 v1.1.65~66 에서 '전면 억제'로 강화됐고, 체류 자동 뮤트는 v1.1.61 이다. 두 기능 모두 알람 피로(alarm fatigue) 대책이며, 확산 국면에서 가장 중요한 수용성 요소다.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없이 화면만 보여주는 슬라이드다. 왼쪽은 위험 판정이 뜬 순간의 메인 화면, 오른쪽은 현장별 조건을 맞추는 BLE 설정 화면이다. 두 이미지는 web/render_screens.js 로 앱 화면 목업에서 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영상은 웹 시뮬레이터를 그대로 녹화한 것이다(26초, 무음). 파워포인트 슬라이드쇼에서 재생 버튼을 누르면 재생된다 — 인터넷 연결이 없어도 파일 안에 들어 있다. 실시간 조작이 필요하면 옆의 웹 시뮬레이터를 브라우저로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기술 파트로 들어간다. 경영진에게는 세부 구현이 아니라 '왜 신뢰할 수 있는가'의 근거로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 씩 튀기 때문에 정제 없이는 경보가 깜빡인다. 04단계가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함의: 이 레이아웃은 현장 호환성 때문에 바꿀 수 없는 제약이며,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03_service 한 파일에 책임이 몰려 있다는 점이며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과거 같은 계열의 수정이 세 번 반복된 원인이 여기에 있다. 분해 후에도 앱 동작은 동일해야 하며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관점의 의미: 확산의 전제 조건이 갖춰지기 시작했다.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확산 판단에 필요한 정보를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 로드맵 5단계가 그것을 다룬다. 비용은 사내 단말 정책에 따라 달라져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기간이 아니라 판단 근거 확보이기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 준비는 로드맵으로 진행 중이며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2-1.mp4"/><Relationship Id="rId2" Type="http://schemas.microsoft.com/office/2007/relationships/media" Target="../media/media-12-1.mp4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1-1.png"/><Relationship Id="rId3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hero_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249424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400" dirty="0"/>
          </a:p>
        </p:txBody>
      </p:sp>
      <p:sp>
        <p:nvSpPr>
          <p:cNvPr id="5" name="Shape 2"/>
          <p:cNvSpPr/>
          <p:nvPr/>
        </p:nvSpPr>
        <p:spPr>
          <a:xfrm>
            <a:off x="640080" y="352958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767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보행자가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서로를 감지한다.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  ·   3개월간 70회 이상 릴리스   ·   현장 운영 중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00784"/>
            <a:ext cx="25450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1518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950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7964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70300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Text 8"/>
          <p:cNvSpPr txBox="1"/>
          <p:nvPr/>
        </p:nvSpPr>
        <p:spPr>
          <a:xfrm>
            <a:off x="3770300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70300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배선 · 서버 없음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5848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8184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800" dirty="0"/>
          </a:p>
        </p:txBody>
      </p:sp>
      <p:sp>
        <p:nvSpPr>
          <p:cNvPr id="14" name="Text 12"/>
          <p:cNvSpPr txBox="1"/>
          <p:nvPr/>
        </p:nvSpPr>
        <p:spPr>
          <a:xfrm>
            <a:off x="6498184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8184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23731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067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5800" dirty="0"/>
          </a:p>
        </p:txBody>
      </p:sp>
      <p:sp>
        <p:nvSpPr>
          <p:cNvPr id="18" name="Text 16"/>
          <p:cNvSpPr txBox="1"/>
          <p:nvPr/>
        </p:nvSpPr>
        <p:spPr>
          <a:xfrm>
            <a:off x="9226067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26067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진행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45643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0976" y="373075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70432" y="345643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255264" y="345643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신호를 직접 주고받아, 위험 거리에 들어오면 소리 · 진동 · 화면으로 알린다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18795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0976" y="4462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70432" y="41879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255264" y="418795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렉 사이 통로와 단독 작업 구간에서 서로를 육안으로 확인할 수 없다. 사각지대를 시스템이 메운다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91947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0976" y="5193792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7043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255264" y="491947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기능이 아니라 '같은 상황에서 같은 판정'을 보장하는 구조 개선. 5단계 중 1단계 완료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65099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0976" y="5925312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70432" y="565099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255264" y="565099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없이 넓어진다. n대 → 상호 감지쌍 n(n-1)/2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현장과 제품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지게차는 3m 렉 사이에서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보지 못한다.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 · 전파 흡수 · 단독 작업 · 혼재 동선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· 곡선 구간에서 서로를 볼 수 없다.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1296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22192" y="2231136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22192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 · 소음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소음 속에서 경적 인지도 늦다.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82512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93408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 혼자 작업하는 구간이 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감지가 안전상 필수다.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64624" y="223113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64624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564624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리치 · EPJ · 보행자가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통로를 공유한다.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11535" cy="914400"/>
          </a:xfrm>
          <a:prstGeom prst="roundRect">
            <a:avLst>
              <a:gd name="adj" fmla="val 1100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5840" y="4572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사각지대를 사람의 주의력이 아니라 시스템이 메운다.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기기끼리 서로를 본다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9264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9264" y="2779776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7008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게이트웨이 설치와 배선 공사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9264" y="3273552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· 네트워크가 끊기면 감지도 정지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9264" y="3767328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— 누가 가까운지는 모름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9264" y="4261104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바꾸면 다시 공사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1344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2202E"/>
          </a:solidFill>
          <a:ln w="19050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10528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10528" y="27797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48272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 — 고정 설비 · 배선 없음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10528" y="327355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 없이 동작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0528" y="37673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거리 — 역할별 기준 적용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10528" y="426110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48272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재공사 없음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9536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27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069" y="5182453"/>
            <a:ext cx="296997" cy="29699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99616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98264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617720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1" name="Image 1" descr="/home/user/SafeAlert/docs/presentation/assets/ic_share_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253" y="5182453"/>
            <a:ext cx="296997" cy="296997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257800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 경보 동작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8156448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75904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5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437" y="5182453"/>
            <a:ext cx="296997" cy="296997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9015984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 기기와 100% 호환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보는 화면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고르면 나머지는 백그라운드에서 동작한다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0392" y="1856232"/>
            <a:ext cx="2523744" cy="4242816"/>
          </a:xfrm>
          <a:prstGeom prst="roundRect">
            <a:avLst>
              <a:gd name="adj" fmla="val 5797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04800" dist="889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/home/user/SafeAlert/docs/presentation/assets/phon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395728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075688"/>
            <a:ext cx="73152" cy="73152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011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24128" y="2286000"/>
            <a:ext cx="2176272" cy="2889504"/>
          </a:xfrm>
          <a:prstGeom prst="roundRect">
            <a:avLst>
              <a:gd name="adj" fmla="val 3361"/>
            </a:avLst>
          </a:prstGeom>
          <a:solidFill>
            <a:srgbClr val="141B2B"/>
          </a:solidFill>
          <a:ln w="9525">
            <a:solidFill>
              <a:srgbClr val="232D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33856" y="2423160"/>
            <a:ext cx="73152" cy="731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61872" y="2350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실행 중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35000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02:14:06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1133856" y="2688336"/>
            <a:ext cx="82296" cy="822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2642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(Local)</a:t>
            </a:r>
            <a:endParaRPr lang="en-US" sz="800" dirty="0"/>
          </a:p>
        </p:txBody>
      </p:sp>
      <p:pic>
        <p:nvPicPr>
          <p:cNvPr id="15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72768" y="29260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572768" y="31089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FORK-07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615184" y="2962656"/>
            <a:ext cx="512064" cy="237744"/>
          </a:xfrm>
          <a:prstGeom prst="roundRect">
            <a:avLst>
              <a:gd name="adj" fmla="val 192308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5184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33856" y="3364992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전진 · 주행  ·  6 km/h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1133856" y="3703320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280160" y="3657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타겟 (Target)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1097280" y="3950208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24" name="Shape 20"/>
          <p:cNvSpPr/>
          <p:nvPr/>
        </p:nvSpPr>
        <p:spPr>
          <a:xfrm>
            <a:off x="1170432" y="4078224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316736" y="396849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A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316736" y="41239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-56 dBm  ·  3.4 m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2615184" y="4023360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B718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2615184" y="4023360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1097280" y="4352544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0" name="Shape 26"/>
          <p:cNvSpPr/>
          <p:nvPr/>
        </p:nvSpPr>
        <p:spPr>
          <a:xfrm>
            <a:off x="1170432" y="4480560"/>
            <a:ext cx="82296" cy="8229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316736" y="4370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B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1316736" y="452628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-71 dBm  ·  9.8 m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2615184" y="4425696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CD34D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2615184" y="442569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1097280" y="4754880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6" name="Shape 32"/>
          <p:cNvSpPr/>
          <p:nvPr/>
        </p:nvSpPr>
        <p:spPr>
          <a:xfrm>
            <a:off x="1170432" y="4882896"/>
            <a:ext cx="82296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1316736" y="477316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C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1316736" y="492861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-84 dBm  ·  18 m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615184" y="4828032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4ADE8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615184" y="4828032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1024128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24128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전환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2185416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FB7185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2185416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850392" y="61630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(v1.1.70)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133088" y="1938528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4443984" y="2176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4681728" y="2084832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선택이 전부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4681728" y="2450592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중 하나만 고르면 그 조합의 경고 · 위험 거리가 자동 적용된다.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4133088" y="2980944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4443984" y="3218688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681728" y="3127248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목록 실시간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681728" y="3493008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기기의 신호 세기 · 추정 거리 · 등급을 보여준다. 등급 색은 앱 전체에서 같은 의미다.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4133088" y="4023360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4443984" y="4261104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681728" y="4169664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꺼도 동작</a:t>
            </a:r>
            <a:endParaRPr lang="en-US" sz="1700" dirty="0"/>
          </a:p>
        </p:txBody>
      </p:sp>
      <p:sp>
        <p:nvSpPr>
          <p:cNvPr id="57" name="Text 53"/>
          <p:cNvSpPr txBox="1"/>
          <p:nvPr/>
        </p:nvSpPr>
        <p:spPr>
          <a:xfrm>
            <a:off x="4681728" y="4535424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스캔한다. 감지가 멈추면 그 사실 자체를 알림으로 띄운다 — 조용한 실패가 없다.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133088" y="5065776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443984" y="5303520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4681728" y="5212080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3중 출력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681728" y="5577840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가장자리 사이드바가 동시에 뜬다. 소리 하나에 의존하지 않는다.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에서 실제로 동작하는 기능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7" name="Image 0" descr="/home/user/SafeAlert/docs/presentation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455" y="2277039"/>
            <a:ext cx="328818" cy="3288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27632" y="2340864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834640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3824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조합별로 경고와 위험 거리를 다르게 적용한다. 무거운 장비일수록 넓게 잡는다.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21701" y="1920240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96021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3" name="Image 1" descr="/home/user/SafeAlert/docs/presentation/assets/ic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076" y="2277039"/>
            <a:ext cx="328818" cy="32881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09253" y="2340864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96021" y="2834640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396021" y="3163824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출력이 달라진다.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3813048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9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55" y="4169847"/>
            <a:ext cx="328818" cy="32881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27632" y="4233672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914400" y="4727448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 · 하역 특수경보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914400" y="5056632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· 고소작업 중이면 즉시 최고 등급.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380890" y="3813048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5521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25" name="Image 3" descr="/home/user/SafeAlert/docs/presentation/assets/ic_share_ou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265" y="4169847"/>
            <a:ext cx="328818" cy="32881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368442" y="4233672"/>
            <a:ext cx="146304" cy="1463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4655210" y="4727448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4655210" y="5056632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약해서 놓칠 상황을 상대가 메운다.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640080" y="5705856"/>
            <a:ext cx="10911535" cy="1133856"/>
          </a:xfrm>
          <a:prstGeom prst="roundRect">
            <a:avLst>
              <a:gd name="adj" fmla="val 887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14400" y="5989320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1" name="Image 4" descr="/home/user/SafeAlert/docs/presentation/assets/ic_signal_b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55" y="6108375"/>
            <a:ext cx="328818" cy="32881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1627632" y="616305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1865376" y="59253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· 회전 인식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1865376" y="6272784"/>
            <a:ext cx="93570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 · 주행 · 급정거와 좌우 회전을 판별해 판정에 반영한다. 상대가 회전해 들어오는 상황을 거리만으로 판단하지 않는다.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0080" y="5779008"/>
            <a:ext cx="10911535" cy="566928"/>
          </a:xfrm>
          <a:prstGeom prst="roundRect">
            <a:avLst>
              <a:gd name="adj" fmla="val 1774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1005840" y="5779008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죽어도, UWB 가 없어도 블루투스 근접 경보는 그대로 동작한다.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도식은 실제 비례 축척이다. 지게차 조합의 경고 반경이 보행자끼리의 세 배다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48740" y="1988820"/>
            <a:ext cx="3154680" cy="31546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CD34D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84832" y="2724912"/>
            <a:ext cx="1682496" cy="1682496"/>
          </a:xfrm>
          <a:prstGeom prst="ellipse">
            <a:avLst/>
          </a:prstGeom>
          <a:solidFill>
            <a:srgbClr val="0B1220"/>
          </a:solidFill>
          <a:ln w="2222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00300" y="3040380"/>
            <a:ext cx="1051560" cy="1051560"/>
          </a:xfrm>
          <a:prstGeom prst="ellipse">
            <a:avLst/>
          </a:prstGeom>
          <a:solidFill>
            <a:srgbClr val="0B1220"/>
          </a:solidFill>
          <a:ln w="13970">
            <a:solidFill>
              <a:srgbClr val="FCD34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610612" y="3250692"/>
            <a:ext cx="630936" cy="630936"/>
          </a:xfrm>
          <a:prstGeom prst="ellipse">
            <a:avLst/>
          </a:prstGeom>
          <a:solidFill>
            <a:srgbClr val="0B1220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52928" y="3493008"/>
            <a:ext cx="146304" cy="146304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3566160"/>
            <a:ext cx="17967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154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722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5186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7754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9300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0342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910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51760" y="40416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0" name="Image 0" descr="/home/user/SafeAlert/docs/presentation/assets/ic_wal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6974" y="4156862"/>
            <a:ext cx="318211" cy="3182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29100" y="2432304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2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314" y="2547518"/>
            <a:ext cx="318211" cy="31821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60720" y="199339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26771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지게차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7607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38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3800" dirty="0"/>
          </a:p>
        </p:txBody>
      </p:sp>
      <p:sp>
        <p:nvSpPr>
          <p:cNvPr id="28" name="Text 24"/>
          <p:cNvSpPr txBox="1"/>
          <p:nvPr/>
        </p:nvSpPr>
        <p:spPr>
          <a:xfrm>
            <a:off x="75895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760720" y="3456432"/>
            <a:ext cx="579089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760720" y="362102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보행자끼리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5760720" y="389534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3800" dirty="0"/>
          </a:p>
        </p:txBody>
      </p:sp>
      <p:sp>
        <p:nvSpPr>
          <p:cNvPr id="33" name="Text 29"/>
          <p:cNvSpPr txBox="1"/>
          <p:nvPr/>
        </p:nvSpPr>
        <p:spPr>
          <a:xfrm>
            <a:off x="57607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38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" y="5230368"/>
            <a:ext cx="10911535" cy="786384"/>
          </a:xfrm>
          <a:prstGeom prst="roundRect">
            <a:avLst>
              <a:gd name="adj" fmla="val 1279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969264" y="5230368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확정된 값이며 사업장별로 조정할 수 있다. 지금 개선하는 것은 값이 아니라, 값대로 정확히 동작하게 만드는 일이다.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현장마다 다른 조건을 설정으로 맞춘다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설정 화면에 실제로 들어 있는 항목이다. 센터마다 렉 높이도 적재물도 다르다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96112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반경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경고와 위험 거리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경고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위험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경고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위험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값이며 사업장별로 조정한다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06826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662858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기본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662858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감도와 출력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강도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62858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신호세기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62858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신호세기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62858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볼륨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62858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라인은 볼륨을, 반사 구간은 필터를 올린다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3572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29604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프로파일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429604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맞추면 공유된다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코드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프로파일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29604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에코편차 자동보정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대칭화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29604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비콘 수신 강도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29604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조기경보 오프셋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dB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429604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코드의 단말이 보정값을 함께 쓴다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940317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9196349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수단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96349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켜고 끌 수 있다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6349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표시 방식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196349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· 광고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 / 200ms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9196349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 · 경보음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설정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196349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꺼도 블루투스 경보는 동작한다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5522976"/>
            <a:ext cx="10911535" cy="603504"/>
          </a:xfrm>
          <a:prstGeom prst="roundRect">
            <a:avLst>
              <a:gd name="adj" fmla="val 16667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1005840" y="5522976"/>
            <a:ext cx="101800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고치지 않고 현장에서 맞춘다. 세부 항목은 개발자 설정에 잠겨 있어 실수로 바뀌지 않는다.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대책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· 자동 뮤트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울릴 필요 없는 곳에서는 울리지 않는다 — 안전 시스템이 실패하는 흔한 경로는 고장이 아니라 '작업자가 꺼버리는 것'이다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75104"/>
            <a:ext cx="5029200" cy="3054096"/>
          </a:xfrm>
          <a:prstGeom prst="roundRect">
            <a:avLst>
              <a:gd name="adj" fmla="val 329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49424"/>
            <a:ext cx="4407408" cy="1463040"/>
          </a:xfrm>
          <a:prstGeom prst="roundRect">
            <a:avLst>
              <a:gd name="adj" fmla="val 6250"/>
            </a:avLst>
          </a:prstGeom>
          <a:solidFill>
            <a:srgbClr val="0F1E1A"/>
          </a:solidFill>
          <a:ln w="19050">
            <a:solidFill>
              <a:srgbClr val="4ADE8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152144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(무음구역)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52144" y="26700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9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358" y="2785262"/>
            <a:ext cx="318211" cy="31821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066544" y="2651760"/>
            <a:ext cx="2798064" cy="859536"/>
          </a:xfrm>
          <a:prstGeom prst="roundRect">
            <a:avLst>
              <a:gd name="adj" fmla="val 8511"/>
            </a:avLst>
          </a:prstGeom>
          <a:solidFill>
            <a:srgbClr val="1A22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49424" y="27432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단말 — 소리 · 진동 정지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249424" y="30175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감지 차단 + 상대에게 '안전' 선언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3072384"/>
            <a:ext cx="182880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950976" y="3822192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휴게실 · 충전 구역 · 집품 스테이션처럼 장비가 다니지 않는 구역에 비콘을 둔다.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52144" y="418795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A2233"/>
          </a:solidFill>
          <a:ln/>
        </p:spPr>
      </p:sp>
      <p:pic>
        <p:nvPicPr>
          <p:cNvPr id="17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199" y="4307007"/>
            <a:ext cx="328818" cy="3288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920240" y="418795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밖의 지게차는 나를 '안전'으로 인식한다 — 서로 울리지 않는다.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888736" y="1975104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99632" y="221284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37376" y="2121408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진입 시 3중 억제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37376" y="2487168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소리 · 진동 정지 · 주변 감지 차단 · 상대에게 안전 선언까지 한 번에. 진입 기준 세기도 설정할 수 있다.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888736" y="3017520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199632" y="325526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37376" y="3163824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체류 자동 뮤트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6437376" y="3529584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등급이 계속되면 그 기기의 소리만 멈춘다. 화면 표시와 기록은 유지되고, 등급이 오르면 즉시 다시 울린다.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5888736" y="4059936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199632" y="4297680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37376" y="4206240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구버전과도 호환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4572000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비트를 모르는 구버전 단말도 '안전' 등급은 해석한다. 신버전이 구버전을 무력화하지 않는다.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40080" y="5175504"/>
            <a:ext cx="10911535" cy="749808"/>
          </a:xfrm>
          <a:prstGeom prst="roundRect">
            <a:avLst>
              <a:gd name="adj" fmla="val 13415"/>
            </a:avLst>
          </a:prstGeom>
          <a:solidFill>
            <a:srgbClr val="12202E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1005840" y="5175504"/>
            <a:ext cx="10180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오경보가 잦으면 작업자가 시스템을 끈다. 끄지 않게 만드는 것이 안전의 전제다.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화면과 설정 화면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91246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9852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6" name="Image 0" descr="/home/user/SafeAlert/docs/presentation/assets/screen_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245" y="1874520"/>
            <a:ext cx="1868365" cy="3886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1246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4730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3336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10" name="Image 1" descr="/home/user/SafeAlert/docs/presentation/assets/screen_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085" y="1874520"/>
            <a:ext cx="1868365" cy="3886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4730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화면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시뮬레이터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TTC 선발령 · 협력 격상 · 후진 특수경보 · 세이프존 억제가 차례로 재현된다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017624" y="1728216"/>
            <a:ext cx="8156448" cy="4633402"/>
          </a:xfrm>
          <a:prstGeom prst="roundRect">
            <a:avLst>
              <a:gd name="adj" fmla="val 2763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55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072488" y="1783080"/>
            <a:ext cx="8046720" cy="45236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522415" y="64556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조작:  web/safealert-simulator.html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동작하는가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10128"/>
            <a:ext cx="8778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판정이 흔들리면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그 경보를 믿지 않는다.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9377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파이프라인 · 프로토콜 · 시스템 구조 · 품질 게이트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감지에서 경보까지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(회색 글씨는 실제 구성 요소)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송신자이자 수신자.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 연속 스캔.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52344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71216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896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평활화. 약 120ms 마다 갱신.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KalmanFilter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83480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02352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40096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340096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거리로 보완.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0096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 RSSI · UwbRanger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14616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33488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2202E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71232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571232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571232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 상태를 보고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등급을 올리거나 내린다.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71232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445752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564624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802368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사이드바를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낸다.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OverlayManager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14400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447288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721608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721608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120ms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54496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28816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528816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9061704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36024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36024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1바이트에 모든 것을 담는다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 · 상태 · 회전 · 위험도를 싣는다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2996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2996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9611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보행자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EPJ (UI 비노출)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지게차 · 리치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7472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6460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6460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3075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정지 · 일반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전진 · 주행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73075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후진  ▲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73075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하역 · 작업  ▲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9924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9924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6539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직진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6539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좌회전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우회전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56539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14400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53388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3388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14400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940003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안전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40003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경고 감지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40003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위험 감지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940003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1389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특수경보 트리거 — 상대가 후진 · 하역 중이면 근접 즉시 최고 등급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" y="5559552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77824" y="5504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3200400" y="5504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비트 단위로 눌러 담아야 1초 주기 연속 방송이 가능하다.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888736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77824" y="5833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58338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배포된 구버전 단말과 통신해야 한다. 배치가 바뀌면 서로를 오인한다.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58568"/>
            <a:ext cx="128016" cy="12801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5681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195681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95681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9568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480560" y="2688336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816352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3118104"/>
            <a:ext cx="128016" cy="12801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5296" y="28163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281635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81635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8163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480560" y="3547872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3675888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3977640"/>
            <a:ext cx="128016" cy="128016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675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871216" y="36758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758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6758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480560" y="4407408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0080" y="4535424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4837176"/>
            <a:ext cx="128016" cy="12801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25296" y="4535424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71216" y="453542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53542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53542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480560" y="5266944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394960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696712"/>
            <a:ext cx="128016" cy="128016"/>
          </a:xfrm>
          <a:prstGeom prst="rect">
            <a:avLst/>
          </a:prstGeom>
          <a:solidFill>
            <a:srgbClr val="8B98A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225296" y="5394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871216" y="5394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53949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394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8540496" y="1956816"/>
            <a:ext cx="3011119" cy="2231136"/>
          </a:xfrm>
          <a:prstGeom prst="roundRect">
            <a:avLst>
              <a:gd name="adj" fmla="val 450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833104" y="2121408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33104" y="246888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· 프로필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833104" y="2724912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833104" y="3145536"/>
            <a:ext cx="24259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경로와 분리되어 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40496" y="4352544"/>
            <a:ext cx="3011119" cy="1572768"/>
          </a:xfrm>
          <a:prstGeom prst="roundRect">
            <a:avLst>
              <a:gd name="adj" fmla="val 6395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833104" y="4517136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833104" y="4864608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· 488줄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833104" y="512064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 에서 자동 실행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5504688"/>
            <a:ext cx="24259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부채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 · 거리 · 보정 · 생명주기가 모두 들어 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3,899</a:t>
            </a:r>
            <a:pPr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줄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72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BleService.kt 한 파일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1985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번째로 큰 파일의 4배.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코드의 3분의 1이 여기 모여 있다.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182880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61120" y="1920240"/>
            <a:ext cx="2590495" cy="1554480"/>
          </a:xfrm>
          <a:prstGeom prst="roundRect">
            <a:avLst>
              <a:gd name="adj" fmla="val 6471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235440" y="208483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35440" y="2432304"/>
            <a:ext cx="2041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곳을 고치면 다른 증상이 따라 나온다. 같은 계열 수정이 세 번 반복됐다.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61120" y="3602736"/>
            <a:ext cx="2590495" cy="1609344"/>
          </a:xfrm>
          <a:prstGeom prst="roundRect">
            <a:avLst>
              <a:gd name="adj" fmla="val 62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235440" y="3767328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253728" y="420624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491472" y="4133088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컴포넌트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253728" y="451713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91472" y="4443984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거리 컴포넌트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253728" y="48280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491472" y="4754880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컴포넌트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5468112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05840" y="5468112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아니다.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· 매 단계마다 출하 가능한 상태로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956816"/>
            <a:ext cx="548640" cy="54864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게이트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7824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2344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71216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48456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격상 · 해제 전 경로를 기대값에 고정, 저속 접근 미탐지 수정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08960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02352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79592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9592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340096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0096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· 거리 · 보정 세 컴포넌트로 분리, 동작 보존 증명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40096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40096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14616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33488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10728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10728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571232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71232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71232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5752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64624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341864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41864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802368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02368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120640"/>
            <a:ext cx="10911535" cy="804672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50976" y="545896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170432" y="5120640"/>
            <a:ext cx="1737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120640"/>
            <a:ext cx="8259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 ·  빌드마다 자동 실행  ·  실패 시 릴리스 자동 차단  ·  실기기 없이 회귀 판별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잡는다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장치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2344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1216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즉시 빌드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02352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0096" y="2212848"/>
            <a:ext cx="137160" cy="13716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40096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340096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14616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33488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2212848"/>
            <a:ext cx="137160" cy="1371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71232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7571232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 차단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45752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64624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02368" y="2212848"/>
            <a:ext cx="137160" cy="1371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02368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9802368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자동 업데이트 대상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9264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69264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발견했다.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사이클이 현장 가용 시간에 묶여 있었다.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10528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발견한다.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확산과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대를 더 설치할 때마다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범위가 스스로 넓어진다.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이점 · 도입 시나리오 · 한계 · 요청 사항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곧 감지 범위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인프라를 늘리지 않고 커버리지만 늘어난다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435</a:t>
            </a:r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쌍</a:t>
            </a:r>
            <a:endParaRPr lang="en-US" sz="7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63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30대 설치 시 상호 감지 링크 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112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n대 → n(n-1)/2.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늘면 감지쌍은 제곱으로 늘어난다.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023360" y="192024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138160" y="1975104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94192" y="2194560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1" name="Image 0" descr="/home/user/SafeAlert/docs/presentation/assets/ic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566" y="2305934"/>
            <a:ext cx="307604" cy="3076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052560" y="2176272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052560" y="2487168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추가 = 앱 설치 한 건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3035808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3255264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6" name="Image 1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566" y="3366638"/>
            <a:ext cx="307604" cy="3076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3236976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052560" y="3547872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센터가 바뀌어도 재공사 없음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38160" y="4096512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94192" y="4315968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21" name="Image 2" descr="/home/user/SafeAlert/docs/presentation/assets/ic_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566" y="4427342"/>
            <a:ext cx="307604" cy="3076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429768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4608576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구간 · 시간대 분석 가능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230368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A2233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9264" y="5230368"/>
            <a:ext cx="10253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대의 동시 추적 대수에는 현재 한계가 있다. 20대 이상 밀집 환경의 화면 지연은 로드맵 5단계에서 해소한다.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시나리오 (제안)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7DD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 · 위험 동선 1개 구간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34564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0432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 · 인원에 앱 설치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84048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반경 현장 확정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245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70432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위치 지정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6085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0432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· 미탐지 사례 수집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뜰 때 뜨고 꺼질 때 꺼지는가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51960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98264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FCD3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72584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672584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90872" y="3456432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28616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90872" y="3840480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28616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90872" y="422452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28616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690872" y="460857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28616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무음구역 운영 규칙 정착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72584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72584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72584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늘어도 판정이 흔들리지 않는가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10144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56448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30768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30768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430768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430768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49056" y="3456432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86800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충전 규칙 수립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449056" y="384048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686800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포함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449056" y="422452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0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449056" y="4608576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686800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완료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430768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30768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30768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 없이도 유지되는가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61518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28600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오차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286000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 · 적재물이 전파를 가리면 거리가 어긋난다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2286000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정제 · 역할쌍 보정 · 상호 대칭화. 재현성 확보가 로드맵 2~4단계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456432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312724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전원 의존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127248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단말을 소지하지 않으면 감지되지 않는다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3127248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68496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2688" y="4297680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396849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968496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모이면 화면 반응이 느려진다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968496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09744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2688" y="5138928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480974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의존성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809744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4809744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 는 보조 수단으로 한정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650992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32688" y="5980176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565099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5650992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5650992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필요. 사내 보안 기준 확인 요청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886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요청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32688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 · 인원 범위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8264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0872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690872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90872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 슬롯이 필요합니다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56448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449056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449056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449056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대상 단말, 소지 · 충전 규칙, 자동 업데이트 허용 여부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462686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3400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6188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v1.1.70  ·  2026. 08.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2026-08-29T07:55:08Z</dcterms:created>
  <dcterms:modified xsi:type="dcterms:W3CDTF">2026-08-29T07:55:08Z</dcterms:modified>
</cp:coreProperties>
</file>