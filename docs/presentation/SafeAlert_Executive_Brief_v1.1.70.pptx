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8B98AC"/>
                </a:solidFill>
                <a:latin typeface="Malgun Gothic"/>
              </a:defRPr>
            </a:pPr>
            <a:r>
              <a:rPr sz="1150" b="0" i="0" u="none" strike="noStrike">
                <a:solidFill>
                  <a:srgbClr val="8B98AC"/>
                </a:solidFill>
                <a:latin typeface="Malgun Gothic"/>
              </a:rPr>
              <a:t>상위 6개 파일 (전체 27개 파일 11,636줄)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코드 줄 수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C3CDDC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OverlayManager</c:v>
                  </c:pt>
                  <c:pt idx="1">
                    <c:v>BleAdvertiser</c:v>
                  </c:pt>
                  <c:pt idx="2">
                    <c:v>DevSettings</c:v>
                  </c:pt>
                  <c:pt idx="3">
                    <c:v>UwbRanger</c:v>
                  </c:pt>
                  <c:pt idx="4">
                    <c:v>MainActivity</c:v>
                  </c:pt>
                  <c:pt idx="5">
                    <c:v>BleService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602</c:v>
                </c:pt>
                <c:pt idx="1">
                  <c:v>632</c:v>
                </c:pt>
                <c:pt idx="2">
                  <c:v>752</c:v>
                </c:pt>
                <c:pt idx="3">
                  <c:v>850</c:v>
                </c:pt>
                <c:pt idx="4">
                  <c:v>942</c:v>
                </c:pt>
                <c:pt idx="5">
                  <c:v>3899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C3CDDC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3CDD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상호 감지 링크 수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C3CDDC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2대</c:v>
                  </c:pt>
                  <c:pt idx="1">
                    <c:v>5대</c:v>
                  </c:pt>
                  <c:pt idx="2">
                    <c:v>10대</c:v>
                  </c:pt>
                  <c:pt idx="3">
                    <c:v>20대</c:v>
                  </c:pt>
                  <c:pt idx="4">
                    <c:v>30대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45</c:v>
                </c:pt>
                <c:pt idx="3">
                  <c:v>190</c:v>
                </c:pt>
                <c:pt idx="4">
                  <c:v>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C3CDDC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3CDD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 목적: 현장에서 운영 중인 SafeAlert 의 기능과 목적, 확산 시 이점을 공유하고 파일럿 확대 여부에 대한 결정을 요청한다. 표지는 앱 스플래시 화면 원본이다.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개의 숫자로 현황을 고정한다. 70회 릴리스는 실험이 아니라 이미 현장에서 도는 물건이라는 뜻이고, 1/5 는 지금 하는 일이 기능 추가가 아니라 신뢰성 확보라는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전환. 여기서부터 현장 조건과 제품이 어떻게 대응하는지를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가지는 추정이 아니라 현장 조건이다. 특히 생수 파렛트의 전파 흡수는 신호 기반 거리 추정의 난이도를 직접 끌어올리는 요인이고, 뒤에 나올 3단 신호 정제와 사업장별 보정이 여기서 나왔다.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차별점은 고정 설비가 없다는 것. 클라우드는 설정 공유와 앱 자동 업데이트에만 쓰이고 경보 판정은 단말 안에서 끝난다. 통신이 끊긴 창고에서도 경보는 동작한다.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v1.1.70 메인 화면 구성 그대로다. 강조점은 작업자가 조작할 것이 거의 없다는 것 — 역할만 고르면 나머지는 백그라운드에서 돈다. 현장 교육 부담이 작다.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중 넷(양방향 협력 알림, 후진·하역 특수 경보, 모션·회전 인식, 세이프존)은 시판 제품에서 잘 보이지 않는 항목이다. 전부 현장 요구에서 나왔다.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값은 임의로 정한 것이 아니라 현장에서 확인된 값이다. 개선 작업의 목표도 값을 바꾸는 것이 아니라 값대로 정확히 동작하게 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세이프존은 v1.1.62 에 들어가 v1.1.65~66 에서 '전면 억제'로 강화됐고, 체류 자동 뮤트는 v1.1.61 이다. 두 기능 모두 알람 피로(alarm fatigue) 대책이며, 확산 국면에서 가장 중요한 수용성 요소다.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전환. 기술 파트로 들어간다. 경영진에게는 세부 구현이 아니라 '왜 신뢰할 수 있는가'의 근거로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 신호 정제가 이 시스템의 심장이다. 블루투스 신호 세기는 그대로 쓰면 초당 수 dB 씩 튀기 때문에 정제 없이는 경보가 깜빡인다. 04단계가 현재 개선 작업의 주 대상이다.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경영진에게 전할 함의: 이 레이아웃은 현장 호환성 때문에 바꿀 수 없는 제약이며, 모든 개선은 이 제약 안에서 이뤄진다. 동시에 이 설계 덕분에 신버전 배포가 구버전 단말을 무력화하지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계층이 위에서 아래로만 의존한다 — 순환 참조가 없다는 것은 한 계층을 고쳐도 다른 계층이 연쇄적으로 깨지지 않는다는 뜻이다. 문제는 03_service 한 파일에 책임이 몰려 있다는 점이며 다음 장에서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하나만 기억하면 된다 — 3,899줄. 과거 같은 계열의 수정이 세 번 반복된 원인이 여기에 있다. 분해 후에도 앱 동작은 동일해야 하며 그것이 수용 기준이다.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원칙: 모든 단계가 출하 가능한 상태로 끝난다. 앱이 반쯤 분해된 채 검증 불가 상태로 오래 머무는 것을 명시적으로 금지했다. 현장 검증 사이클이 병목이기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경영진 관점의 의미: 확산의 전제 조건이 갖춰지기 시작했다. 단말이 늘면 문제 보고도 늘어나는데, 회귀를 자동으로 잡는 장치 없이는 대수를 늘릴수록 관리 비용이 비선형으로 커진다.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전환. 여기서부터 확산 판단에 필요한 정보를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차트는 이론적 감지쌍 수이며 실제 동시 추적 성능과는 다르다. 그 격차를 정직하게 밝히는 것이 아래 주석이고 로드맵 5단계가 그것을 다룬다. 비용은 사내 단말 정책에 따라 달라져 별도 산정이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의도적으로 적지 않았다. 각 단계의 종료 조건이 기간이 아니라 판단 근거 확보이기 때문이다. 파일럿 기간은 현장 가용 시간에 따라 함께 정하면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항목(보안)은 파일럿 단계에서는 영향이 작지만 전사 확산 전에는 반드시 처리해야 한다. 의사결정 시점에 함께 검토를 요청하는 항목이다.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요청은 모두 기술이 아니라 운영 결정이다. 개발 측 준비는 로드맵으로 진행 중이며 파일럿 확대 여부만 결정되면 즉시 착수할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image" Target="../media/image-1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feAlert/a01a9bd8-2674-5693-bc36-c78453b067c8/scratchpad/deck/assets/hero_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현장 근접 경보 시스템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4942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</a:t>
            </a:r>
            <a:endParaRPr lang="en-US" sz="6400" dirty="0"/>
          </a:p>
        </p:txBody>
      </p:sp>
      <p:sp>
        <p:nvSpPr>
          <p:cNvPr id="5" name="Shape 2"/>
          <p:cNvSpPr/>
          <p:nvPr/>
        </p:nvSpPr>
        <p:spPr>
          <a:xfrm>
            <a:off x="640080" y="3529584"/>
            <a:ext cx="1463040" cy="0"/>
          </a:xfrm>
          <a:prstGeom prst="line">
            <a:avLst/>
          </a:prstGeom>
          <a:noFill/>
          <a:ln w="38100">
            <a:solidFill>
              <a:srgbClr val="7DD3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7673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300" b="1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 · EPJ · 보행자가</a:t>
            </a:r>
            <a:endParaRPr lang="en-US" sz="23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300" b="1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감지한다.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v1.1.70   ·   3개월간 70회 이상 릴리스   ·   현장 운영 중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315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70+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7860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5292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3개월간 현장 운영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7964" y="1700784"/>
            <a:ext cx="0" cy="1371600"/>
          </a:xfrm>
          <a:prstGeom prst="line">
            <a:avLst/>
          </a:prstGeom>
          <a:noFill/>
          <a:ln w="12700">
            <a:solidFill>
              <a:srgbClr val="232D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3724" y="162763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6200" dirty="0"/>
          </a:p>
        </p:txBody>
      </p:sp>
      <p:sp>
        <p:nvSpPr>
          <p:cNvPr id="9" name="Text 7"/>
          <p:cNvSpPr txBox="1"/>
          <p:nvPr/>
        </p:nvSpPr>
        <p:spPr>
          <a:xfrm>
            <a:off x="3733724" y="257860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인프라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33724" y="285292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 · 배선 · 서버 없음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5848" y="1700784"/>
            <a:ext cx="0" cy="1371600"/>
          </a:xfrm>
          <a:prstGeom prst="line">
            <a:avLst/>
          </a:prstGeom>
          <a:noFill/>
          <a:ln w="12700">
            <a:solidFill>
              <a:srgbClr val="232D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162763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2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57860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등급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85292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· 경고 · 위험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23731" y="1700784"/>
            <a:ext cx="0" cy="1371600"/>
          </a:xfrm>
          <a:prstGeom prst="line">
            <a:avLst/>
          </a:prstGeom>
          <a:noFill/>
          <a:ln w="12700">
            <a:solidFill>
              <a:srgbClr val="232D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491" y="162763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5</a:t>
            </a:r>
            <a:endParaRPr lang="en-US" sz="6200" dirty="0"/>
          </a:p>
        </p:txBody>
      </p:sp>
      <p:sp>
        <p:nvSpPr>
          <p:cNvPr id="17" name="Text 15"/>
          <p:cNvSpPr txBox="1"/>
          <p:nvPr/>
        </p:nvSpPr>
        <p:spPr>
          <a:xfrm>
            <a:off x="9189491" y="257860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개선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89491" y="285292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로드맵 진행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419856"/>
            <a:ext cx="10911535" cy="658368"/>
          </a:xfrm>
          <a:prstGeom prst="roundRect">
            <a:avLst>
              <a:gd name="adj" fmla="val 15278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976" y="3694176"/>
            <a:ext cx="118872" cy="11887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70432" y="34198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255264" y="3419856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설치된 기기끼리 신호를 직접 주고받아, 위험 거리에 들어오면 소리 · 진동 · 화면으로 알린다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151376"/>
            <a:ext cx="10911535" cy="658368"/>
          </a:xfrm>
          <a:prstGeom prst="roundRect">
            <a:avLst>
              <a:gd name="adj" fmla="val 15278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0976" y="4425696"/>
            <a:ext cx="118872" cy="11887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70432" y="41513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55264" y="4151376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 렉 사이 통로와 단독 작업 구간에서 서로를 육안으로 확인할 수 없다. 사각지대를 시스템이 메운다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882896"/>
            <a:ext cx="10911535" cy="658368"/>
          </a:xfrm>
          <a:prstGeom prst="roundRect">
            <a:avLst>
              <a:gd name="adj" fmla="val 15278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50976" y="5157216"/>
            <a:ext cx="118872" cy="1188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70432" y="4882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하는 일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255264" y="4882896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기능이 아니라 '같은 상황에서 같은 판정'을 보장하는 구조 개선. 5단계 중 1단계 완료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614416"/>
            <a:ext cx="10911535" cy="658368"/>
          </a:xfrm>
          <a:prstGeom prst="roundRect">
            <a:avLst>
              <a:gd name="adj" fmla="val 15278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0976" y="5888736"/>
            <a:ext cx="118872" cy="1188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70432" y="56144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확산하면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255264" y="5614416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단말이 늘수록 감지 범위가 인프라 비용 없이 넓어진다. n대 → 상호 감지쌍 n(n-1)/2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feAlert/a01a9bd8-2674-5693-bc36-c78453b067c8/scratchpad/deck/assets/wide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현장과 제품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310128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지게차는 3m 렉 사이에서</a:t>
            </a:r>
            <a:endParaRPr lang="en-US" sz="3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보지 못한다.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· 전파 흡수 · 단독 작업 · 혼재 동선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사각지대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사람의 주의력만으로는 부족한가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2724912" cy="2286000"/>
          </a:xfrm>
          <a:prstGeom prst="roundRect">
            <a:avLst>
              <a:gd name="adj" fmla="val 44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231136"/>
            <a:ext cx="146304" cy="14630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2505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시야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96265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 높이 철제 렉 사이 통로.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· 곡선 구간에서 서로를 볼 수 없다.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11296" y="1938528"/>
            <a:ext cx="2724912" cy="2286000"/>
          </a:xfrm>
          <a:prstGeom prst="roundRect">
            <a:avLst>
              <a:gd name="adj" fmla="val 44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22192" y="2231136"/>
            <a:ext cx="14630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22192" y="2505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전파 · 소음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96265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적재된 생수 파렛트가 2.4GHz 흡수벽.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소음 속에서 경적 인지도 늦다.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82512" y="1938528"/>
            <a:ext cx="2724912" cy="2286000"/>
          </a:xfrm>
          <a:prstGeom prst="roundRect">
            <a:avLst>
              <a:gd name="adj" fmla="val 44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93408" y="2231136"/>
            <a:ext cx="146304" cy="14630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2505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작업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296265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렉 사이 혼자 작업하는 구간이 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감지가 안전상 필수다.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53728" y="1938528"/>
            <a:ext cx="2724912" cy="2286000"/>
          </a:xfrm>
          <a:prstGeom prst="roundRect">
            <a:avLst>
              <a:gd name="adj" fmla="val 44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64624" y="2231136"/>
            <a:ext cx="146304" cy="14630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64624" y="2505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혼재 동선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564624" y="296265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 · 리치 · EPJ · 보행자가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통로를 공유한다.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11535" cy="914400"/>
          </a:xfrm>
          <a:prstGeom prst="roundRect">
            <a:avLst>
              <a:gd name="adj" fmla="val 11000"/>
            </a:avLst>
          </a:prstGeom>
          <a:solidFill>
            <a:srgbClr val="12202E"/>
          </a:solidFill>
          <a:ln w="15875">
            <a:solidFill>
              <a:srgbClr val="7DD3FC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5720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사각지대를 사람의 주의력이 아니라 시스템이 메운다.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기기끼리 서로를 본다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설비를 까는 대신, 움직이는 주체가 서로를 감지한다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5358384" cy="2834640"/>
          </a:xfrm>
          <a:prstGeom prst="roundRect">
            <a:avLst>
              <a:gd name="adj" fmla="val 3548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9264" y="215798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구역 감지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9264" y="2779776"/>
            <a:ext cx="100584" cy="100584"/>
          </a:xfrm>
          <a:prstGeom prst="rect">
            <a:avLst/>
          </a:prstGeom>
          <a:solidFill>
            <a:srgbClr val="5A68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724912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 · 게이트웨이 설치와 배선 공사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9264" y="3273552"/>
            <a:ext cx="100584" cy="100584"/>
          </a:xfrm>
          <a:prstGeom prst="rect">
            <a:avLst/>
          </a:prstGeom>
          <a:solidFill>
            <a:srgbClr val="5A68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3218688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· 네트워크가 끊기면 감지도 정지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" y="3767328"/>
            <a:ext cx="100584" cy="100584"/>
          </a:xfrm>
          <a:prstGeom prst="rect">
            <a:avLst/>
          </a:prstGeom>
          <a:solidFill>
            <a:srgbClr val="5A68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71246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'구역 진입' 단위 — 누가 가까운지는 모름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9264" y="4261104"/>
            <a:ext cx="100584" cy="100584"/>
          </a:xfrm>
          <a:prstGeom prst="rect">
            <a:avLst/>
          </a:prstGeom>
          <a:solidFill>
            <a:srgbClr val="5A68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06240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라인을 바꾸면 다시 공사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1344" y="1938528"/>
            <a:ext cx="5358384" cy="2834640"/>
          </a:xfrm>
          <a:prstGeom prst="roundRect">
            <a:avLst>
              <a:gd name="adj" fmla="val 3548"/>
            </a:avLst>
          </a:prstGeom>
          <a:solidFill>
            <a:srgbClr val="12202E"/>
          </a:solidFill>
          <a:ln w="19050">
            <a:solidFill>
              <a:srgbClr val="7DD3FC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10528" y="215798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10528" y="2779776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48272" y="2724912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설치는 앱 하나 — 고정 설비 · 배선 없음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10528" y="3273552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3218688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간 직접 통신 — 네트워크 없이 동작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528" y="3767328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48272" y="371246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대 개체 거리 — 역할별 기준 적용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10528" y="4261104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48272" y="4206240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= 설치. 재공사 없음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3639312" cy="786384"/>
          </a:xfrm>
          <a:prstGeom prst="roundRect">
            <a:avLst>
              <a:gd name="adj" fmla="val 12791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5074920"/>
            <a:ext cx="512064" cy="512064"/>
          </a:xfrm>
          <a:prstGeom prst="roundRect">
            <a:avLst>
              <a:gd name="adj" fmla="val 42857"/>
            </a:avLst>
          </a:prstGeom>
          <a:solidFill>
            <a:srgbClr val="1A2233"/>
          </a:solidFill>
          <a:ln/>
        </p:spPr>
      </p:sp>
      <p:pic>
        <p:nvPicPr>
          <p:cNvPr id="27" name="Image 0" descr="/tmp/claude-0/-home-user-SafeAlert/a01a9bd8-2674-5693-bc36-c78453b067c8/scratchpad/deck/assets/ic_ante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069" y="5182453"/>
            <a:ext cx="296997" cy="29699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99616" y="493776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투자 0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398264" y="4937760"/>
            <a:ext cx="3639312" cy="786384"/>
          </a:xfrm>
          <a:prstGeom prst="roundRect">
            <a:avLst>
              <a:gd name="adj" fmla="val 12791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17720" y="5074920"/>
            <a:ext cx="512064" cy="512064"/>
          </a:xfrm>
          <a:prstGeom prst="roundRect">
            <a:avLst>
              <a:gd name="adj" fmla="val 42857"/>
            </a:avLst>
          </a:prstGeom>
          <a:solidFill>
            <a:srgbClr val="1A2233"/>
          </a:solidFill>
          <a:ln/>
        </p:spPr>
      </p:sp>
      <p:pic>
        <p:nvPicPr>
          <p:cNvPr id="31" name="Image 1" descr="/tmp/claude-0/-home-user-SafeAlert/a01a9bd8-2674-5693-bc36-c78453b067c8/scratchpad/deck/assets/ic_share_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253" y="5182453"/>
            <a:ext cx="296997" cy="296997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257800" y="493776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없이 경보 동작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8156448" y="4937760"/>
            <a:ext cx="3639312" cy="786384"/>
          </a:xfrm>
          <a:prstGeom prst="roundRect">
            <a:avLst>
              <a:gd name="adj" fmla="val 12791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375904" y="5074920"/>
            <a:ext cx="512064" cy="512064"/>
          </a:xfrm>
          <a:prstGeom prst="roundRect">
            <a:avLst>
              <a:gd name="adj" fmla="val 42857"/>
            </a:avLst>
          </a:prstGeom>
          <a:solidFill>
            <a:srgbClr val="1A2233"/>
          </a:solidFill>
          <a:ln/>
        </p:spPr>
      </p:sp>
      <p:pic>
        <p:nvPicPr>
          <p:cNvPr id="35" name="Image 2" descr="/tmp/claude-0/-home-user-SafeAlert/a01a9bd8-2674-5693-bc36-c78453b067c8/scratchpad/deck/assets/ic_receive_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437" y="5182453"/>
            <a:ext cx="296997" cy="296997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9015984" y="493776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기기와 100% 호환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작업자가 보는 화면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고르면 나머지는 백그라운드에서 동작한다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" y="1856232"/>
            <a:ext cx="2523744" cy="4242816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/>
          <a:effectLst>
            <a:outerShdw sx="100000" sy="100000" kx="0" ky="0" algn="bl" rotWithShape="0" blurRad="304800" dist="889" dir="5400000">
              <a:srgbClr val="000000">
                <a:alpha val="55000"/>
              </a:srgbClr>
            </a:outerShdw>
          </a:effectLst>
        </p:spPr>
      </p:sp>
      <p:pic>
        <p:nvPicPr>
          <p:cNvPr id="6" name="Image 0" descr="/tmp/claude-0/-home-user-SafeAlert/a01a9bd8-2674-5693-bc36-c78453b067c8/scratchpad/deck/assets/phon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395728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5840" y="2075688"/>
            <a:ext cx="73152" cy="73152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24128" y="2286000"/>
            <a:ext cx="2176272" cy="2889504"/>
          </a:xfrm>
          <a:prstGeom prst="roundRect">
            <a:avLst>
              <a:gd name="adj" fmla="val 3361"/>
            </a:avLst>
          </a:prstGeom>
          <a:solidFill>
            <a:srgbClr val="141B2B"/>
          </a:solidFill>
          <a:ln w="9525">
            <a:solidFill>
              <a:srgbClr val="232D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423160"/>
            <a:ext cx="73152" cy="7315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61872" y="2350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실행 중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3500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02:14:06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133856" y="2688336"/>
            <a:ext cx="82296" cy="8229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80160" y="2642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장비 (Local)</a:t>
            </a:r>
            <a:endParaRPr lang="en-US" sz="800" dirty="0"/>
          </a:p>
        </p:txBody>
      </p:sp>
      <p:pic>
        <p:nvPicPr>
          <p:cNvPr id="15" name="Image 1" descr="/tmp/claude-0/-home-user-SafeAlert/a01a9bd8-2674-5693-bc36-c78453b067c8/scratchpad/deck/assets/ic_forkl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9077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72768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72768" y="31089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FORK-07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615184" y="2962656"/>
            <a:ext cx="512064" cy="237744"/>
          </a:xfrm>
          <a:prstGeom prst="roundRect">
            <a:avLst>
              <a:gd name="adj" fmla="val 192308"/>
            </a:avLst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615184" y="2962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" y="336499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전진 · 주행  ·  6 km/h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133856" y="3703320"/>
            <a:ext cx="82296" cy="822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280160" y="3657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타겟 (Target)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1097280" y="3950208"/>
            <a:ext cx="2029968" cy="347472"/>
          </a:xfrm>
          <a:prstGeom prst="roundRect">
            <a:avLst>
              <a:gd name="adj" fmla="val 13158"/>
            </a:avLst>
          </a:prstGeom>
          <a:solidFill>
            <a:srgbClr val="1A2233"/>
          </a:solidFill>
          <a:ln/>
        </p:spPr>
      </p:sp>
      <p:sp>
        <p:nvSpPr>
          <p:cNvPr id="24" name="Shape 20"/>
          <p:cNvSpPr/>
          <p:nvPr/>
        </p:nvSpPr>
        <p:spPr>
          <a:xfrm>
            <a:off x="1170432" y="4078224"/>
            <a:ext cx="82296" cy="822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316736" y="39684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보행자 A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316736" y="412394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-56 dBm  ·  3.4 m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2615184" y="4023360"/>
            <a:ext cx="475488" cy="210312"/>
          </a:xfrm>
          <a:prstGeom prst="roundRect">
            <a:avLst>
              <a:gd name="adj" fmla="val 217391"/>
            </a:avLst>
          </a:prstGeom>
          <a:solidFill>
            <a:srgbClr val="FB718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2615184" y="402336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1097280" y="4352544"/>
            <a:ext cx="2029968" cy="347472"/>
          </a:xfrm>
          <a:prstGeom prst="roundRect">
            <a:avLst>
              <a:gd name="adj" fmla="val 13158"/>
            </a:avLst>
          </a:prstGeom>
          <a:solidFill>
            <a:srgbClr val="1A2233"/>
          </a:solidFill>
          <a:ln/>
        </p:spPr>
      </p:sp>
      <p:sp>
        <p:nvSpPr>
          <p:cNvPr id="30" name="Shape 26"/>
          <p:cNvSpPr/>
          <p:nvPr/>
        </p:nvSpPr>
        <p:spPr>
          <a:xfrm>
            <a:off x="1170432" y="4480560"/>
            <a:ext cx="82296" cy="8229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1316736" y="43708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EPJ B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1316736" y="45262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-71 dBm  ·  9.8 m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2615184" y="4425696"/>
            <a:ext cx="475488" cy="210312"/>
          </a:xfrm>
          <a:prstGeom prst="roundRect">
            <a:avLst>
              <a:gd name="adj" fmla="val 217391"/>
            </a:avLst>
          </a:prstGeom>
          <a:solidFill>
            <a:srgbClr val="FCD34D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2615184" y="442569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1097280" y="4754880"/>
            <a:ext cx="2029968" cy="347472"/>
          </a:xfrm>
          <a:prstGeom prst="roundRect">
            <a:avLst>
              <a:gd name="adj" fmla="val 13158"/>
            </a:avLst>
          </a:prstGeom>
          <a:solidFill>
            <a:srgbClr val="1A2233"/>
          </a:solidFill>
          <a:ln/>
        </p:spPr>
      </p:sp>
      <p:sp>
        <p:nvSpPr>
          <p:cNvPr id="36" name="Shape 32"/>
          <p:cNvSpPr/>
          <p:nvPr/>
        </p:nvSpPr>
        <p:spPr>
          <a:xfrm>
            <a:off x="1170432" y="4882896"/>
            <a:ext cx="82296" cy="8229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316736" y="4773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보행자 C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1316736" y="492861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-84 dBm  ·  18 m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2615184" y="4828032"/>
            <a:ext cx="475488" cy="210312"/>
          </a:xfrm>
          <a:prstGeom prst="roundRect">
            <a:avLst>
              <a:gd name="adj" fmla="val 217391"/>
            </a:avLst>
          </a:prstGeom>
          <a:solidFill>
            <a:srgbClr val="4ADE80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2615184" y="482803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1024128" y="5340096"/>
            <a:ext cx="1051560" cy="329184"/>
          </a:xfrm>
          <a:prstGeom prst="roundRect">
            <a:avLst>
              <a:gd name="adj" fmla="val 138889"/>
            </a:avLst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024128" y="53400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전환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185416" y="5340096"/>
            <a:ext cx="1051560" cy="329184"/>
          </a:xfrm>
          <a:prstGeom prst="roundRect">
            <a:avLst>
              <a:gd name="adj" fmla="val 138889"/>
            </a:avLst>
          </a:prstGeom>
          <a:solidFill>
            <a:srgbClr val="FB7185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2185416" y="53400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850392" y="61630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(v1.1.70)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133088" y="1938528"/>
            <a:ext cx="7418527" cy="969264"/>
          </a:xfrm>
          <a:prstGeom prst="roundRect">
            <a:avLst>
              <a:gd name="adj" fmla="val 10377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4443984" y="2176272"/>
            <a:ext cx="118872" cy="11887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4681728" y="2084832"/>
            <a:ext cx="6558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선택이 전부</a:t>
            </a:r>
            <a:endParaRPr lang="en-US" sz="1700" dirty="0"/>
          </a:p>
        </p:txBody>
      </p:sp>
      <p:sp>
        <p:nvSpPr>
          <p:cNvPr id="49" name="Text 45"/>
          <p:cNvSpPr txBox="1"/>
          <p:nvPr/>
        </p:nvSpPr>
        <p:spPr>
          <a:xfrm>
            <a:off x="4681728" y="2450592"/>
            <a:ext cx="6558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고르면 그 조합의 경고 · 위험 거리가 자동 적용된다. 작업자가 설정할 것이 없다.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4133088" y="2980944"/>
            <a:ext cx="7418527" cy="969264"/>
          </a:xfrm>
          <a:prstGeom prst="roundRect">
            <a:avLst>
              <a:gd name="adj" fmla="val 10377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4443984" y="3218688"/>
            <a:ext cx="118872" cy="1188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4681728" y="3127248"/>
            <a:ext cx="6558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목록 실시간</a:t>
            </a:r>
            <a:endParaRPr lang="en-US" sz="1700" dirty="0"/>
          </a:p>
        </p:txBody>
      </p:sp>
      <p:sp>
        <p:nvSpPr>
          <p:cNvPr id="53" name="Text 49"/>
          <p:cNvSpPr txBox="1"/>
          <p:nvPr/>
        </p:nvSpPr>
        <p:spPr>
          <a:xfrm>
            <a:off x="4681728" y="3493008"/>
            <a:ext cx="6558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기기의 신호 세기 · 추정 거리 · 등급을 보여준다. 등급 색은 앱 전체에서 같은 의미다.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4133088" y="4023360"/>
            <a:ext cx="7418527" cy="969264"/>
          </a:xfrm>
          <a:prstGeom prst="roundRect">
            <a:avLst>
              <a:gd name="adj" fmla="val 10377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4443984" y="4261104"/>
            <a:ext cx="118872" cy="1188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4681728" y="4169664"/>
            <a:ext cx="6558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꺼도 동작</a:t>
            </a:r>
            <a:endParaRPr lang="en-US" sz="1700" dirty="0"/>
          </a:p>
        </p:txBody>
      </p:sp>
      <p:sp>
        <p:nvSpPr>
          <p:cNvPr id="57" name="Text 53"/>
          <p:cNvSpPr txBox="1"/>
          <p:nvPr/>
        </p:nvSpPr>
        <p:spPr>
          <a:xfrm>
            <a:off x="4681728" y="4535424"/>
            <a:ext cx="6558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스캔한다. 감지가 멈추면 그 사실 자체를 알림으로 띄운다 — 조용한 실패가 없다.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133088" y="5065776"/>
            <a:ext cx="7418527" cy="969264"/>
          </a:xfrm>
          <a:prstGeom prst="roundRect">
            <a:avLst>
              <a:gd name="adj" fmla="val 10377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2000"/>
              </a:srgbClr>
            </a:outerShdw>
          </a:effectLst>
        </p:spPr>
      </p:sp>
      <p:sp>
        <p:nvSpPr>
          <p:cNvPr id="59" name="Shape 55"/>
          <p:cNvSpPr/>
          <p:nvPr/>
        </p:nvSpPr>
        <p:spPr>
          <a:xfrm>
            <a:off x="4443984" y="5303520"/>
            <a:ext cx="118872" cy="1188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4681728" y="5212080"/>
            <a:ext cx="6558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경보는 3중 출력</a:t>
            </a:r>
            <a:endParaRPr lang="en-US" sz="1700" dirty="0"/>
          </a:p>
        </p:txBody>
      </p:sp>
      <p:sp>
        <p:nvSpPr>
          <p:cNvPr id="61" name="Text 57"/>
          <p:cNvSpPr txBox="1"/>
          <p:nvPr/>
        </p:nvSpPr>
        <p:spPr>
          <a:xfrm>
            <a:off x="4681728" y="5577840"/>
            <a:ext cx="6558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· 진동 · 화면 가장자리 사이드바가 동시에 뜬다. 소리 하나에 의존하지 않는다.</a:t>
            </a:r>
            <a:endParaRPr lang="en-US" sz="1300" dirty="0"/>
          </a:p>
        </p:txBody>
      </p:sp>
      <p:sp>
        <p:nvSpPr>
          <p:cNvPr id="62" name="Text 58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v1.1.70 에서 실제로 동작하는 기능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02736" cy="1773936"/>
          </a:xfrm>
          <a:prstGeom prst="roundRect">
            <a:avLst>
              <a:gd name="adj" fmla="val 567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139696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61D2B"/>
          </a:solidFill>
          <a:ln/>
        </p:spPr>
      </p:sp>
      <p:pic>
        <p:nvPicPr>
          <p:cNvPr id="7" name="Image 0" descr="/tmp/claude-0/-home-user-SafeAlert/a01a9bd8-2674-5693-bc36-c78453b067c8/scratchpad/deck/assets/ic_fork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743" y="2258751"/>
            <a:ext cx="328818" cy="3288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45920" y="2322576"/>
            <a:ext cx="14630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2816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기반 차등 반경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 · EPJ · 보행자 조합별로 경고 · 위험 거리를 다르게 적용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98264" y="1920240"/>
            <a:ext cx="3602736" cy="1773936"/>
          </a:xfrm>
          <a:prstGeom prst="roundRect">
            <a:avLst>
              <a:gd name="adj" fmla="val 567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2139696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61D2B"/>
          </a:solidFill>
          <a:ln/>
        </p:spPr>
      </p:sp>
      <p:pic>
        <p:nvPicPr>
          <p:cNvPr id="13" name="Image 1" descr="/tmp/claude-0/-home-user-SafeAlert/a01a9bd8-2674-5693-bc36-c78453b067c8/scratchpad/deck/assets/ic_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927" y="2258751"/>
            <a:ext cx="328818" cy="3288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04104" y="2322576"/>
            <a:ext cx="146304" cy="14630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690872" y="2816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경보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90872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/ 경고 / 위험. 등급에 따라 소리 · 진동 · 화면 표시가 달라진다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56448" y="1920240"/>
            <a:ext cx="3602736" cy="1773936"/>
          </a:xfrm>
          <a:prstGeom prst="roundRect">
            <a:avLst>
              <a:gd name="adj" fmla="val 567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49056" y="2139696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61D2B"/>
          </a:solidFill>
          <a:ln/>
        </p:spPr>
      </p:sp>
      <p:pic>
        <p:nvPicPr>
          <p:cNvPr id="19" name="Image 2" descr="/tmp/claude-0/-home-user-SafeAlert/a01a9bd8-2674-5693-bc36-c78453b067c8/scratchpad/deck/assets/ic_share_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111" y="2258751"/>
            <a:ext cx="328818" cy="32881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62288" y="2322576"/>
            <a:ext cx="146304" cy="14630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449056" y="2816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협력 알림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49056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한쪽이 먼저 감지하면 상대도 함께 울린다. 한쪽 신호가 약해도 놓치지 않는다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0080" y="3858768"/>
            <a:ext cx="3602736" cy="1773936"/>
          </a:xfrm>
          <a:prstGeom prst="roundRect">
            <a:avLst>
              <a:gd name="adj" fmla="val 567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2688" y="4078224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61D2B"/>
          </a:solidFill>
          <a:ln/>
        </p:spPr>
      </p:sp>
      <p:pic>
        <p:nvPicPr>
          <p:cNvPr id="25" name="Image 3" descr="/tmp/claude-0/-home-user-SafeAlert/a01a9bd8-2674-5693-bc36-c78453b067c8/scratchpad/deck/assets/ic_receive_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43" y="4197279"/>
            <a:ext cx="328818" cy="32881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645920" y="4261104"/>
            <a:ext cx="146304" cy="14630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32688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후진 · 하역 특수 경보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932688" y="5084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후진 · 고소작업 중이면 근접 시 즉시 최고 등급으로 격상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98264" y="3858768"/>
            <a:ext cx="3602736" cy="1773936"/>
          </a:xfrm>
          <a:prstGeom prst="roundRect">
            <a:avLst>
              <a:gd name="adj" fmla="val 567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90872" y="4078224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61D2B"/>
          </a:solidFill>
          <a:ln/>
        </p:spPr>
      </p:sp>
      <p:pic>
        <p:nvPicPr>
          <p:cNvPr id="31" name="Image 4" descr="/tmp/claude-0/-home-user-SafeAlert/a01a9bd8-2674-5693-bc36-c78453b067c8/scratchpad/deck/assets/ic_signal_b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927" y="4197279"/>
            <a:ext cx="328818" cy="32881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404104" y="4261104"/>
            <a:ext cx="146304" cy="14630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690872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 · 회전 인식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4690872" y="5084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센서로 정지 · 주행 · 급정거와 좌우 회전을 판별해 판정에 반영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56448" y="3858768"/>
            <a:ext cx="3602736" cy="1773936"/>
          </a:xfrm>
          <a:prstGeom prst="roundRect">
            <a:avLst>
              <a:gd name="adj" fmla="val 567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449056" y="4078224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61D2B"/>
          </a:solidFill>
          <a:ln/>
        </p:spPr>
      </p:sp>
      <p:pic>
        <p:nvPicPr>
          <p:cNvPr id="37" name="Image 5" descr="/tmp/claude-0/-home-user-SafeAlert/a01a9bd8-2674-5693-bc36-c78453b067c8/scratchpad/deck/assets/ic_mu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111" y="4197279"/>
            <a:ext cx="328818" cy="32881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162288" y="4261104"/>
            <a:ext cx="146304" cy="14630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8449056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세이프존 · 자동 뮤트</a:t>
            </a:r>
            <a:endParaRPr lang="en-US" sz="1700" dirty="0"/>
          </a:p>
        </p:txBody>
      </p:sp>
      <p:sp>
        <p:nvSpPr>
          <p:cNvPr id="40" name="Text 32"/>
          <p:cNvSpPr txBox="1"/>
          <p:nvPr/>
        </p:nvSpPr>
        <p:spPr>
          <a:xfrm>
            <a:off x="8449056" y="5084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무음구역과 체류 자동 뮤트로 울릴 필요 없는 경보를 걷어낸다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640080" y="5705856"/>
            <a:ext cx="10911535" cy="621792"/>
          </a:xfrm>
          <a:prstGeom prst="roundRect">
            <a:avLst>
              <a:gd name="adj" fmla="val 16176"/>
            </a:avLst>
          </a:prstGeom>
          <a:solidFill>
            <a:srgbClr val="12202E"/>
          </a:solidFill>
          <a:ln w="15875">
            <a:solidFill>
              <a:srgbClr val="7DD3FC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42" name="Text 34"/>
          <p:cNvSpPr txBox="1"/>
          <p:nvPr/>
        </p:nvSpPr>
        <p:spPr>
          <a:xfrm>
            <a:off x="1005840" y="5705856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클라우드가 죽어도, UWB 가 없어도 블루투스 근접 경보는 그대로 동작한다.</a:t>
            </a:r>
            <a:endParaRPr lang="en-US" sz="1600" dirty="0"/>
          </a:p>
        </p:txBody>
      </p:sp>
      <p:sp>
        <p:nvSpPr>
          <p:cNvPr id="43" name="Text 35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조합별 판정 반경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거리라도 상대가 지게차인지 보행자인지에 따라 다르게 판정한다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5358384" cy="2724912"/>
          </a:xfrm>
          <a:prstGeom prst="roundRect">
            <a:avLst>
              <a:gd name="adj" fmla="val 3691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9264" y="2139696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지게차가 포함된 조합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46888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 ↔ 보행자 · EPJ · 지게차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9264" y="2834640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A2233"/>
          </a:solidFill>
          <a:ln/>
        </p:spPr>
      </p:sp>
      <p:pic>
        <p:nvPicPr>
          <p:cNvPr id="9" name="Image 0" descr="/tmp/claude-0/-home-user-SafeAlert/a01a9bd8-2674-5693-bc36-c78453b067c8/scratchpad/deck/assets/ic_fork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19" y="2953695"/>
            <a:ext cx="328818" cy="32881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45920" y="2834640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A2233"/>
          </a:solidFill>
          <a:ln/>
        </p:spPr>
      </p:sp>
      <p:pic>
        <p:nvPicPr>
          <p:cNvPr id="11" name="Image 1" descr="/tmp/claude-0/-home-user-SafeAlert/a01a9bd8-2674-5693-bc36-c78453b067c8/scratchpad/deck/assets/ic_wal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75" y="2953695"/>
            <a:ext cx="328818" cy="32881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22576" y="2834640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A2233"/>
          </a:solidFill>
          <a:ln/>
        </p:spPr>
      </p:sp>
      <p:pic>
        <p:nvPicPr>
          <p:cNvPr id="13" name="Image 2" descr="/tmp/claude-0/-home-user-SafeAlert/a01a9bd8-2674-5693-bc36-c78453b067c8/scratchpad/deck/assets/ic_ep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631" y="2953695"/>
            <a:ext cx="328818" cy="3288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94176" y="2743200"/>
            <a:ext cx="1572768" cy="1572768"/>
          </a:xfrm>
          <a:prstGeom prst="ellipse">
            <a:avLst/>
          </a:prstGeom>
          <a:solidFill>
            <a:srgbClr val="141C2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61155" y="3110179"/>
            <a:ext cx="838810" cy="838810"/>
          </a:xfrm>
          <a:prstGeom prst="ellipse">
            <a:avLst/>
          </a:prstGeom>
          <a:solidFill>
            <a:srgbClr val="1F2637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343400" y="3392424"/>
            <a:ext cx="274320" cy="274320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69264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15m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969264" y="4114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46888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8m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2468880" y="4114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81344" y="1938528"/>
            <a:ext cx="5358384" cy="2724912"/>
          </a:xfrm>
          <a:prstGeom prst="roundRect">
            <a:avLst>
              <a:gd name="adj" fmla="val 3691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6510528" y="2139696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조합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6510528" y="246888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보행자 ↔ 보행자 · EPJ ↔ 보행자 · EPJ ↔ EPJ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510528" y="2834640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A2233"/>
          </a:solidFill>
          <a:ln/>
        </p:spPr>
      </p:sp>
      <p:pic>
        <p:nvPicPr>
          <p:cNvPr id="25" name="Image 3" descr="/tmp/claude-0/-home-user-SafeAlert/a01a9bd8-2674-5693-bc36-c78453b067c8/scratchpad/deck/assets/ic_wal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583" y="2953695"/>
            <a:ext cx="328818" cy="32881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187184" y="2834640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A2233"/>
          </a:solidFill>
          <a:ln/>
        </p:spPr>
      </p:sp>
      <p:pic>
        <p:nvPicPr>
          <p:cNvPr id="27" name="Image 4" descr="/tmp/claude-0/-home-user-SafeAlert/a01a9bd8-2674-5693-bc36-c78453b067c8/scratchpad/deck/assets/ic_epj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239" y="2953695"/>
            <a:ext cx="328818" cy="32881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9473184" y="2980944"/>
            <a:ext cx="1097280" cy="1097280"/>
          </a:xfrm>
          <a:prstGeom prst="ellipse">
            <a:avLst/>
          </a:prstGeom>
          <a:solidFill>
            <a:srgbClr val="141C2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692640" y="3200400"/>
            <a:ext cx="658368" cy="658368"/>
          </a:xfrm>
          <a:prstGeom prst="ellipse">
            <a:avLst/>
          </a:prstGeom>
          <a:solidFill>
            <a:srgbClr val="1F2637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884664" y="3392424"/>
            <a:ext cx="274320" cy="274320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510528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5m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6510528" y="4114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8010144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8010144" y="4114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40080" y="4846320"/>
            <a:ext cx="10911535" cy="822960"/>
          </a:xfrm>
          <a:prstGeom prst="roundRect">
            <a:avLst>
              <a:gd name="adj" fmla="val 12222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969264" y="4846320"/>
            <a:ext cx="102531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확정된 값이며 사업장별로 조정할 수 있다. 무거운 장비일수록 제동거리가 길어 지게차 조합의 반경이 크다.  (도식은 비례 축척이 아니다)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 대책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세이프존 · 자동 뮤트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울릴 필요 없는 곳에서는 울리지 않는다 — 안전 시스템이 실패하는 흔한 경로는 고장이 아니라 '작업자가 꺼버리는 것'이다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75104"/>
            <a:ext cx="5029200" cy="3054096"/>
          </a:xfrm>
          <a:prstGeom prst="roundRect">
            <a:avLst>
              <a:gd name="adj" fmla="val 329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249424"/>
            <a:ext cx="4407408" cy="1463040"/>
          </a:xfrm>
          <a:prstGeom prst="roundRect">
            <a:avLst>
              <a:gd name="adj" fmla="val 6250"/>
            </a:avLst>
          </a:prstGeom>
          <a:solidFill>
            <a:srgbClr val="0F1E1A"/>
          </a:solidFill>
          <a:ln w="19050">
            <a:solidFill>
              <a:srgbClr val="4ADE8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152144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세이프존 (무음구역)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52144" y="2670048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1A2233"/>
          </a:solidFill>
          <a:ln/>
        </p:spPr>
      </p:sp>
      <p:pic>
        <p:nvPicPr>
          <p:cNvPr id="9" name="Image 0" descr="/tmp/claude-0/-home-user-SafeAlert/a01a9bd8-2674-5693-bc36-c78453b067c8/scratchpad/deck/assets/ic_ante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358" y="2785262"/>
            <a:ext cx="318211" cy="31821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0704" y="3255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비콘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66544" y="2651760"/>
            <a:ext cx="2798064" cy="859536"/>
          </a:xfrm>
          <a:prstGeom prst="roundRect">
            <a:avLst>
              <a:gd name="adj" fmla="val 8511"/>
            </a:avLst>
          </a:prstGeom>
          <a:solidFill>
            <a:srgbClr val="1A22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49424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단말 — 소리 · 진동 정지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3017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감지 차단 + 상대에게 '안전' 선언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0" y="3072384"/>
            <a:ext cx="1828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950976" y="3822192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· 충전 구역 · 집품 스테이션처럼 장비가 다니지 않는 구역에 비콘을 둔다.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52144" y="4187952"/>
            <a:ext cx="566928" cy="566928"/>
          </a:xfrm>
          <a:prstGeom prst="roundRect">
            <a:avLst>
              <a:gd name="adj" fmla="val 38710"/>
            </a:avLst>
          </a:prstGeom>
          <a:solidFill>
            <a:srgbClr val="1A2233"/>
          </a:solidFill>
          <a:ln/>
        </p:spPr>
      </p:sp>
      <p:pic>
        <p:nvPicPr>
          <p:cNvPr id="17" name="Image 1" descr="/tmp/claude-0/-home-user-SafeAlert/a01a9bd8-2674-5693-bc36-c78453b067c8/scratchpad/deck/assets/ic_forkl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99" y="4307007"/>
            <a:ext cx="328818" cy="32881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920240" y="4187952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밖의 지게차는 나를 '안전'으로 인식한다 — 서로 울리지 않는다.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888736" y="1975104"/>
            <a:ext cx="5662879" cy="969264"/>
          </a:xfrm>
          <a:prstGeom prst="roundRect">
            <a:avLst>
              <a:gd name="adj" fmla="val 10377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99632" y="2212848"/>
            <a:ext cx="118872" cy="1188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37376" y="2121408"/>
            <a:ext cx="48033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진입 시 3중 억제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437376" y="2487168"/>
            <a:ext cx="48033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소리 · 진동 정지 · 주변 감지 차단 · 상대에게 안전 선언까지 한 번에. 진입 기준 세기도 설정할 수 있다.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888736" y="3017520"/>
            <a:ext cx="5662879" cy="969264"/>
          </a:xfrm>
          <a:prstGeom prst="roundRect">
            <a:avLst>
              <a:gd name="adj" fmla="val 10377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99632" y="3255264"/>
            <a:ext cx="118872" cy="1188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37376" y="3163824"/>
            <a:ext cx="48033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체류 자동 뮤트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6437376" y="3529584"/>
            <a:ext cx="48033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등급이 계속되면 그 기기의 소리만 멈춘다. 화면 표시와 기록은 유지되고, 등급이 오르면 즉시 다시 울린다.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888736" y="4059936"/>
            <a:ext cx="5662879" cy="969264"/>
          </a:xfrm>
          <a:prstGeom prst="roundRect">
            <a:avLst>
              <a:gd name="adj" fmla="val 10377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99632" y="4297680"/>
            <a:ext cx="118872" cy="11887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437376" y="4206240"/>
            <a:ext cx="48033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구버전과도 호환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6437376" y="4572000"/>
            <a:ext cx="48033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비트를 모르는 구버전 단말도 '안전' 등급은 해석한다. 신버전이 구버전을 무력화하지 않는다.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40080" y="5175504"/>
            <a:ext cx="10911535" cy="749808"/>
          </a:xfrm>
          <a:prstGeom prst="roundRect">
            <a:avLst>
              <a:gd name="adj" fmla="val 13415"/>
            </a:avLst>
          </a:prstGeom>
          <a:solidFill>
            <a:srgbClr val="12202E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1005840" y="5175504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오경보가 잦으면 작업자가 시스템을 끈다. 끄지 않게 만드는 것이 안전의 전제다.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DD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342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동작하는가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10128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0710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판정이 흔들리면</a:t>
            </a:r>
            <a:endParaRPr lang="en-US" sz="3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0710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그 경보를 믿지 않는다.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42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파이프라인 · 프로토콜 · 시스템 구조 · 품질 게이트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감지에서 경보까지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한 번이 경보가 되기까지 거치는 5단계 (회색 글씨는 실제 구성 요소)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2103120" cy="292608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420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· 스캔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45536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기기가 송신자이자 수신자.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주기 연속 스캔.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18795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BleAdvertiser / BleScanner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52344" y="3419856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71216" y="1956816"/>
            <a:ext cx="2103120" cy="292608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08960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5420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정제 3단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145536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튐값 제거 → 이상치 차단 →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평활화. 약 120ms 마다 갱신.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18795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MedianFilter → RssiPreFilter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KalmanFilter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83480" y="3419856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02352" y="1956816"/>
            <a:ext cx="2103120" cy="292608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40096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25420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· 접근 추정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340096" y="3145536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역할쌍 보정, 상호 신호 대칭화,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UWB 정밀 거리로 보완.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0096" y="418795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 RSSI · UwbRanger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14616" y="3419856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33488" y="1956816"/>
            <a:ext cx="2103120" cy="2926080"/>
          </a:xfrm>
          <a:prstGeom prst="roundRect">
            <a:avLst>
              <a:gd name="adj" fmla="val 4783"/>
            </a:avLst>
          </a:prstGeom>
          <a:solidFill>
            <a:srgbClr val="12202E"/>
          </a:solidFill>
          <a:ln w="15875">
            <a:solidFill>
              <a:srgbClr val="FCD34D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571232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25420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판정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145536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속도와 상대 상태를 보고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등급을 올리거나 내린다.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418795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BleService 경보 상태머신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45752" y="3419856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64624" y="1956816"/>
            <a:ext cx="2103120" cy="292608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802368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5420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출력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9802368" y="3145536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· 진동 · 화면 사이드바를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낸다.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02368" y="418795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AlertSoundPlayer ·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OverlayManager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047488"/>
            <a:ext cx="2688336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14400" y="5047488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스캔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0474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447288" y="5047488"/>
            <a:ext cx="2688336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721608" y="5047488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갱신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721608" y="50474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120ms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254496" y="5047488"/>
            <a:ext cx="2688336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528816" y="5047488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갱신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28816" y="50474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800ms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9061704" y="5047488"/>
            <a:ext cx="2688336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336024" y="5047488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반응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336024" y="50474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1바이트에 모든 것을 담는다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블루투스 광고 패킷 단 1바이트에 역할 · 상태 · 회전 · 위험도를 싣는다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7DD3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29968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7DD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29968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3347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8094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2688336" cy="1737360"/>
          </a:xfrm>
          <a:prstGeom prst="roundRect">
            <a:avLst>
              <a:gd name="adj" fmla="val 5789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96112" y="345643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 보행자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849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EPJ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2428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지게차 · 리치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6360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예약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64608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63347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98094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상태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310128"/>
            <a:ext cx="2688336" cy="1737360"/>
          </a:xfrm>
          <a:prstGeom prst="roundRect">
            <a:avLst>
              <a:gd name="adj" fmla="val 5789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730752" y="345643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 정지 · 일반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730752" y="3849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전진 · 주행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730752" y="42428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후진  ▲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30752" y="46360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하역 · 작업  ▲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99248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99248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2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263347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298094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방향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310128"/>
            <a:ext cx="2688336" cy="1737360"/>
          </a:xfrm>
          <a:prstGeom prst="roundRect">
            <a:avLst>
              <a:gd name="adj" fmla="val 5789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65392" y="345643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 직진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65392" y="3849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좌회전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65392" y="42428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우회전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565392" y="46360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예약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144000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0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533888" y="1956816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61D2B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33888" y="19568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263347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298094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위험도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0" y="3310128"/>
            <a:ext cx="2688336" cy="1737360"/>
          </a:xfrm>
          <a:prstGeom prst="roundRect">
            <a:avLst>
              <a:gd name="adj" fmla="val 5789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400032" y="345643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 안전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400032" y="3849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경고 감지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400032" y="42428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위험 감지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9400032" y="46360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예약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1389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특수경보 트리거 — 상대가 후진 · 하역 중이면 근접 즉시 최고 등급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5559552"/>
            <a:ext cx="109728" cy="10972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77824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1바이트인가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3200400" y="5504688"/>
            <a:ext cx="8351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패킷 용량이 극히 작다. 비트 단위로 눌러 담아야 1초 주기 연속 방송이 가능하다.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40080" y="5888736"/>
            <a:ext cx="109728" cy="10972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77824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못 바꾸는가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3200400" y="5833872"/>
            <a:ext cx="8351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 배포된 구버전 단말과 통신해야 한다. 배치가 바뀌면 서로를 오인한다.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27개 파일 11,636줄 · 6개 계층 · 순환 참조 없음 (2026.08 실측)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7680960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58568"/>
            <a:ext cx="128016" cy="12801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25296" y="195681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05_ui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71216" y="195681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역할 선택 · 설정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9568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파일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195681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2,521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80560" y="2688336"/>
            <a:ext cx="0" cy="128016"/>
          </a:xfrm>
          <a:prstGeom prst="line">
            <a:avLst/>
          </a:prstGeom>
          <a:noFill/>
          <a:ln w="1905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816352"/>
            <a:ext cx="7680960" cy="731520"/>
          </a:xfrm>
          <a:prstGeom prst="roundRect">
            <a:avLst>
              <a:gd name="adj" fmla="val 13750"/>
            </a:avLst>
          </a:prstGeom>
          <a:solidFill>
            <a:srgbClr val="12202E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118104"/>
            <a:ext cx="128016" cy="12801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25296" y="281635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03_service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71216" y="28163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판정 · 상태 관리 · 생명주기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81635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파일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8163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4,133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480560" y="3547872"/>
            <a:ext cx="0" cy="128016"/>
          </a:xfrm>
          <a:prstGeom prst="line">
            <a:avLst/>
          </a:prstGeom>
          <a:noFill/>
          <a:ln w="1905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3675888"/>
            <a:ext cx="7680960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77640"/>
            <a:ext cx="128016" cy="128016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25296" y="3675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02_ble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871216" y="3675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블루투스 송수신 · 신호 정제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6758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파일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67588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1,712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480560" y="4407408"/>
            <a:ext cx="0" cy="128016"/>
          </a:xfrm>
          <a:prstGeom prst="line">
            <a:avLst/>
          </a:prstGeom>
          <a:noFill/>
          <a:ln w="1905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4535424"/>
            <a:ext cx="7680960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837176"/>
            <a:ext cx="128016" cy="12801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25296" y="453542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06_utils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871216" y="453542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· UWB · 비콘 · 오버레이 · 설정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53542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파일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53542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3,040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480560" y="5266944"/>
            <a:ext cx="0" cy="128016"/>
          </a:xfrm>
          <a:prstGeom prst="line">
            <a:avLst/>
          </a:prstGeom>
          <a:noFill/>
          <a:ln w="1905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5394960"/>
            <a:ext cx="7680960" cy="731520"/>
          </a:xfrm>
          <a:prstGeom prst="roundRect">
            <a:avLst>
              <a:gd name="adj" fmla="val 137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" y="5696712"/>
            <a:ext cx="128016" cy="128016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225296" y="5394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01_model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871216" y="5394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53949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파일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269480" y="5394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8540496" y="1956816"/>
            <a:ext cx="3011119" cy="2231136"/>
          </a:xfrm>
          <a:prstGeom prst="roundRect">
            <a:avLst>
              <a:gd name="adj" fmla="val 4508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833104" y="2121408"/>
            <a:ext cx="24259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04_firebase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833104" y="2468880"/>
            <a:ext cx="2425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프로필 공유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833104" y="2724912"/>
            <a:ext cx="2425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파일 · 181줄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833104" y="3145536"/>
            <a:ext cx="24259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판정 경로와 분리되어 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클라우드가 끊겨도 경보는 동작한다.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40496" y="4352544"/>
            <a:ext cx="3011119" cy="1572768"/>
          </a:xfrm>
          <a:prstGeom prst="roundRect">
            <a:avLst>
              <a:gd name="adj" fmla="val 6395"/>
            </a:avLst>
          </a:prstGeom>
          <a:solidFill>
            <a:srgbClr val="0F1E1A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833104" y="4517136"/>
            <a:ext cx="24259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833104" y="4864608"/>
            <a:ext cx="2425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17건 · 488줄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833104" y="5120640"/>
            <a:ext cx="2425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실기기 없이 CI 에서 자동 실행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833104" y="5504688"/>
            <a:ext cx="2425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 신설 (로드맵 1단계)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부채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개선이 필요한 지점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하나에 경보 · 거리 · 보정 · 생명주기가 모두 들어 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214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3,899</a:t>
            </a:r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BleService.kt 한 파일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1985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번째로 큰 파일의 4배.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코드의 3분의 1이 여기 모여 있다.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206240" y="182880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961120" y="1920240"/>
            <a:ext cx="2590495" cy="1554480"/>
          </a:xfrm>
          <a:prstGeom prst="roundRect">
            <a:avLst>
              <a:gd name="adj" fmla="val 6471"/>
            </a:avLst>
          </a:prstGeom>
          <a:solidFill>
            <a:srgbClr val="12202E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235440" y="2084832"/>
            <a:ext cx="2041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문제인가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2432304"/>
            <a:ext cx="2041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곳을 고치면 다른 증상이 따라 나온다. 같은 계열 수정이 세 번 반복됐다.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61120" y="3602736"/>
            <a:ext cx="2590495" cy="1609344"/>
          </a:xfrm>
          <a:prstGeom prst="roundRect">
            <a:avLst>
              <a:gd name="adj" fmla="val 6250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235440" y="3767328"/>
            <a:ext cx="2041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푸는가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253728" y="4206240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491472" y="4133088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판정 컴포넌트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253728" y="4517136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491472" y="4443984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UWB 거리 컴포넌트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253728" y="4828032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491472" y="4754880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컴포넌트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5468112"/>
            <a:ext cx="10911535" cy="731520"/>
          </a:xfrm>
          <a:prstGeom prst="roundRect">
            <a:avLst>
              <a:gd name="adj" fmla="val 13750"/>
            </a:avLst>
          </a:prstGeom>
          <a:solidFill>
            <a:srgbClr val="12202E"/>
          </a:solidFill>
          <a:ln w="15875">
            <a:solidFill>
              <a:srgbClr val="7DD3FC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05840" y="5468112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분해의 수용 기준은 '동작이 하나도 달라지지 않는 것'이다. 기능을 바꾸는 작업이 아니다.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확보 로드맵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· 매 단계마다 출하 가능한 상태로 끝난다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31136"/>
            <a:ext cx="2103120" cy="2651760"/>
          </a:xfrm>
          <a:prstGeom prst="roundRect">
            <a:avLst>
              <a:gd name="adj" fmla="val 4783"/>
            </a:avLst>
          </a:prstGeom>
          <a:solidFill>
            <a:srgbClr val="0F1E1A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956816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6883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· CI 게이트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40156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회귀를 현장이 아니라 빌드에서 먼저 잡는다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" y="4462272"/>
            <a:ext cx="896112" cy="310896"/>
          </a:xfrm>
          <a:prstGeom prst="roundRect">
            <a:avLst>
              <a:gd name="adj" fmla="val 147059"/>
            </a:avLst>
          </a:prstGeom>
          <a:solidFill>
            <a:srgbClr val="4ADE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" y="446227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52344" y="3566160"/>
            <a:ext cx="109728" cy="0"/>
          </a:xfrm>
          <a:prstGeom prst="line">
            <a:avLst/>
          </a:prstGeom>
          <a:noFill/>
          <a:ln w="2540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71216" y="2231136"/>
            <a:ext cx="2103120" cy="265176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48456" y="1956816"/>
            <a:ext cx="548640" cy="548640"/>
          </a:xfrm>
          <a:prstGeom prst="ellipse">
            <a:avLst/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48456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6883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경로 기준값 고정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40156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격상 · 해제 전 경로를 기대값에 고정, 저속 접근 미탐지 수정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4462272"/>
            <a:ext cx="896112" cy="310896"/>
          </a:xfrm>
          <a:prstGeom prst="roundRect">
            <a:avLst>
              <a:gd name="adj" fmla="val 147059"/>
            </a:avLst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46227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3566160"/>
            <a:ext cx="109728" cy="0"/>
          </a:xfrm>
          <a:prstGeom prst="line">
            <a:avLst/>
          </a:prstGeom>
          <a:noFill/>
          <a:ln w="2540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02352" y="2231136"/>
            <a:ext cx="2103120" cy="265176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79592" y="1956816"/>
            <a:ext cx="548640" cy="548640"/>
          </a:xfrm>
          <a:prstGeom prst="ellipse">
            <a:avLst/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79592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340096" y="26883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로직 분해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40096" y="340156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· 거리 · 보정 세 컴포넌트로 분리, 동작 보존 증명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0096" y="4462272"/>
            <a:ext cx="896112" cy="310896"/>
          </a:xfrm>
          <a:prstGeom prst="roundRect">
            <a:avLst>
              <a:gd name="adj" fmla="val 147059"/>
            </a:avLst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0096" y="446227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14616" y="3566160"/>
            <a:ext cx="109728" cy="0"/>
          </a:xfrm>
          <a:prstGeom prst="line">
            <a:avLst/>
          </a:prstGeom>
          <a:noFill/>
          <a:ln w="2540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33488" y="2231136"/>
            <a:ext cx="2103120" cy="265176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0728" y="1956816"/>
            <a:ext cx="548640" cy="548640"/>
          </a:xfrm>
          <a:prstGeom prst="ellipse">
            <a:avLst/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10728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571232" y="26883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상태 단일화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571232" y="340156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상태를 하나로 통합, 장시간 구동 안정성 확보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71232" y="4462272"/>
            <a:ext cx="896112" cy="310896"/>
          </a:xfrm>
          <a:prstGeom prst="roundRect">
            <a:avLst>
              <a:gd name="adj" fmla="val 147059"/>
            </a:avLst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71232" y="446227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45752" y="3566160"/>
            <a:ext cx="109728" cy="0"/>
          </a:xfrm>
          <a:prstGeom prst="line">
            <a:avLst/>
          </a:prstGeom>
          <a:noFill/>
          <a:ln w="25400">
            <a:solidFill>
              <a:srgbClr val="232D4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64624" y="2231136"/>
            <a:ext cx="2103120" cy="2651760"/>
          </a:xfrm>
          <a:prstGeom prst="roundRect">
            <a:avLst>
              <a:gd name="adj" fmla="val 478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341864" y="1956816"/>
            <a:ext cx="548640" cy="548640"/>
          </a:xfrm>
          <a:prstGeom prst="ellipse">
            <a:avLst/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41864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9802368" y="26883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처리 분리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802368" y="340156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기기 현장에서 화면 지연 없이 동작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02368" y="4462272"/>
            <a:ext cx="896112" cy="310896"/>
          </a:xfrm>
          <a:prstGeom prst="roundRect">
            <a:avLst>
              <a:gd name="adj" fmla="val 147059"/>
            </a:avLst>
          </a:prstGeom>
          <a:solidFill>
            <a:srgbClr val="161D2B"/>
          </a:solidFill>
          <a:ln w="12700">
            <a:solidFill>
              <a:srgbClr val="5662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02368" y="446227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5120640"/>
            <a:ext cx="10911535" cy="804672"/>
          </a:xfrm>
          <a:prstGeom prst="roundRect">
            <a:avLst>
              <a:gd name="adj" fmla="val 125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50976" y="5458968"/>
            <a:ext cx="118872" cy="1188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70432" y="51206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완료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3017520" y="5120640"/>
            <a:ext cx="8259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17건 신설  ·  빌드마다 자동 실행  ·  실패 시 릴리스 자동 차단  ·  실기기 없이 회귀 판별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회귀를 현장이 아니라 빌드에서 잡는다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1단계에서 새로 만든 장치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2103120" cy="1792224"/>
          </a:xfrm>
          <a:prstGeom prst="roundRect">
            <a:avLst>
              <a:gd name="adj" fmla="val 561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12848"/>
            <a:ext cx="13716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변경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798064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수정을 올린다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52344" y="2834640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71216" y="1956816"/>
            <a:ext cx="2103120" cy="1792224"/>
          </a:xfrm>
          <a:prstGeom prst="roundRect">
            <a:avLst>
              <a:gd name="adj" fmla="val 561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2212848"/>
            <a:ext cx="13716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빌드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798064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가 즉시 빌드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2834640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02352" y="1956816"/>
            <a:ext cx="2103120" cy="1792224"/>
          </a:xfrm>
          <a:prstGeom prst="roundRect">
            <a:avLst>
              <a:gd name="adj" fmla="val 561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0096" y="2212848"/>
            <a:ext cx="137160" cy="137160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40096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검증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2798064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17건이 신호 처리 결과를 기대값과 대조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14616" y="2834640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33488" y="1956816"/>
            <a:ext cx="2103120" cy="1792224"/>
          </a:xfrm>
          <a:prstGeom prst="roundRect">
            <a:avLst>
              <a:gd name="adj" fmla="val 561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71232" y="2212848"/>
            <a:ext cx="137160" cy="1371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71232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/ 차단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2798064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어긋나면 릴리스 차단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45752" y="2834640"/>
            <a:ext cx="109728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64624" y="1956816"/>
            <a:ext cx="2103120" cy="1792224"/>
          </a:xfrm>
          <a:prstGeom prst="roundRect">
            <a:avLst>
              <a:gd name="adj" fmla="val 561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02368" y="2212848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02368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배포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802368" y="2798064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시에만 자동 업데이트 대상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986784"/>
            <a:ext cx="5358384" cy="1737360"/>
          </a:xfrm>
          <a:prstGeom prst="roundRect">
            <a:avLst>
              <a:gd name="adj" fmla="val 5789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9264" y="4169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69264" y="4480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회귀를 사용자가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발견했다.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" y="5266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사이클이 현장 가용 시간에 묶여 있었다.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3986784"/>
            <a:ext cx="5358384" cy="1737360"/>
          </a:xfrm>
          <a:prstGeom prst="roundRect">
            <a:avLst>
              <a:gd name="adj" fmla="val 5789"/>
            </a:avLst>
          </a:prstGeom>
          <a:solidFill>
            <a:srgbClr val="0F1E1A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10528" y="4169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10528" y="4480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회귀를 빌드가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발견한다.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510528" y="5266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테스트가 실제로 실행됐는지까지 검증한다.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feAlert/a01a9bd8-2674-5693-bc36-c78453b067c8/scratchpad/deck/assets/wid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확산과 결정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310128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대를 더 설치할 때마다</a:t>
            </a:r>
            <a:endParaRPr lang="en-US" sz="3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범위가 스스로 넓어진다.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이점 · 도입 시나리오 · 한계 · 요청 사항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대수가 곧 감지 범위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인프라를 늘리지 않고 커버리지만 늘어난다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435</a:t>
            </a:r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쌍</a:t>
            </a:r>
            <a:endParaRPr lang="en-US" sz="7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30대 설치 시 상호 감지 링크 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112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n대 → n(n-1)/2.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대수가 늘면 감지쌍은 제곱으로 늘어난다.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023360" y="192024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138160" y="1975104"/>
            <a:ext cx="3413455" cy="987552"/>
          </a:xfrm>
          <a:prstGeom prst="roundRect">
            <a:avLst>
              <a:gd name="adj" fmla="val 10185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94192" y="2194560"/>
            <a:ext cx="530352" cy="530352"/>
          </a:xfrm>
          <a:prstGeom prst="roundRect">
            <a:avLst>
              <a:gd name="adj" fmla="val 41379"/>
            </a:avLst>
          </a:prstGeom>
          <a:solidFill>
            <a:srgbClr val="1A2233"/>
          </a:solidFill>
          <a:ln/>
        </p:spPr>
      </p:sp>
      <p:pic>
        <p:nvPicPr>
          <p:cNvPr id="11" name="Image 0" descr="/tmp/claude-0/-home-user-SafeAlert/a01a9bd8-2674-5693-bc36-c78453b067c8/scratchpad/deck/assets/ic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566" y="2305934"/>
            <a:ext cx="307604" cy="3076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052560" y="2176272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한계비용 구조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052560" y="2487168"/>
            <a:ext cx="2224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추가 = 앱 설치 한 건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3035808"/>
            <a:ext cx="3413455" cy="987552"/>
          </a:xfrm>
          <a:prstGeom prst="roundRect">
            <a:avLst>
              <a:gd name="adj" fmla="val 10185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3255264"/>
            <a:ext cx="530352" cy="530352"/>
          </a:xfrm>
          <a:prstGeom prst="roundRect">
            <a:avLst>
              <a:gd name="adj" fmla="val 41379"/>
            </a:avLst>
          </a:prstGeom>
          <a:solidFill>
            <a:srgbClr val="1A2233"/>
          </a:solidFill>
          <a:ln/>
        </p:spPr>
      </p:sp>
      <p:pic>
        <p:nvPicPr>
          <p:cNvPr id="16" name="Image 1" descr="/tmp/claude-0/-home-user-SafeAlert/a01a9bd8-2674-5693-bc36-c78453b067c8/scratchpad/deck/assets/ic_receive_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566" y="3366638"/>
            <a:ext cx="307604" cy="3076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3236976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3547872"/>
            <a:ext cx="2224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센터가 바뀌어도 재공사 없음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38160" y="4096512"/>
            <a:ext cx="3413455" cy="987552"/>
          </a:xfrm>
          <a:prstGeom prst="roundRect">
            <a:avLst>
              <a:gd name="adj" fmla="val 10185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94192" y="4315968"/>
            <a:ext cx="530352" cy="530352"/>
          </a:xfrm>
          <a:prstGeom prst="roundRect">
            <a:avLst>
              <a:gd name="adj" fmla="val 41379"/>
            </a:avLst>
          </a:prstGeom>
          <a:solidFill>
            <a:srgbClr val="1A2233"/>
          </a:solidFill>
          <a:ln/>
        </p:spPr>
      </p:sp>
      <p:pic>
        <p:nvPicPr>
          <p:cNvPr id="21" name="Image 2" descr="/tmp/claude-0/-home-user-SafeAlert/a01a9bd8-2674-5693-bc36-c78453b067c8/scratchpad/deck/assets/ic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566" y="4427342"/>
            <a:ext cx="307604" cy="3076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52560" y="429768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4608576"/>
            <a:ext cx="2224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구간 · 시간대 분석 가능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230368"/>
            <a:ext cx="10911535" cy="731520"/>
          </a:xfrm>
          <a:prstGeom prst="roundRect">
            <a:avLst>
              <a:gd name="adj" fmla="val 13750"/>
            </a:avLst>
          </a:prstGeom>
          <a:solidFill>
            <a:srgbClr val="1A2233"/>
          </a:solidFill>
          <a:ln w="15875">
            <a:solidFill>
              <a:srgbClr val="FCD34D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969264" y="5230368"/>
            <a:ext cx="102531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단말 한 대의 동시 추적 대수에는 현재 한계가 있다. 20대 이상 밀집 환경의 화면 지연은 로드맵 5단계에서 해소한다.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시나리오 (제안)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단계는 다음 단계로 넘어갈 판단 근거를 남기고 끝난다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3602736" cy="3968496"/>
          </a:xfrm>
          <a:prstGeom prst="roundRect">
            <a:avLst>
              <a:gd name="adj" fmla="val 2792"/>
            </a:avLst>
          </a:prstGeom>
          <a:solidFill>
            <a:srgbClr val="12202E"/>
          </a:solidFill>
          <a:ln w="15875">
            <a:solidFill>
              <a:srgbClr val="7DD3FC"/>
            </a:solidFill>
            <a:prstDash val="solid"/>
          </a:ln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39696"/>
            <a:ext cx="1060704" cy="310896"/>
          </a:xfrm>
          <a:prstGeom prst="roundRect">
            <a:avLst>
              <a:gd name="adj" fmla="val 147059"/>
            </a:avLst>
          </a:prstGeom>
          <a:solidFill>
            <a:srgbClr val="7DD3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396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0320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626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센터 · 위험 동선 1개 구간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456432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0432" y="33832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장비 · 인원에 앱 설치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840480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376732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반경 현장 확정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4224528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0432" y="415137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세이프존 위치 지정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4608576"/>
            <a:ext cx="100584" cy="10058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70432" y="45354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 · 미탐지 사례 수집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992624"/>
            <a:ext cx="3054096" cy="0"/>
          </a:xfrm>
          <a:prstGeom prst="line">
            <a:avLst/>
          </a:prstGeom>
          <a:noFill/>
          <a:ln w="12700">
            <a:solidFill>
              <a:srgbClr val="232D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0840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근거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303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경보가 뜰 때 뜨고 꺼질 때 꺼지는가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51960" y="3749040"/>
            <a:ext cx="13716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98264" y="1938528"/>
            <a:ext cx="3602736" cy="3968496"/>
          </a:xfrm>
          <a:prstGeom prst="roundRect">
            <a:avLst>
              <a:gd name="adj" fmla="val 279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72584" y="2139696"/>
            <a:ext cx="1060704" cy="310896"/>
          </a:xfrm>
          <a:prstGeom prst="roundRect">
            <a:avLst>
              <a:gd name="adj" fmla="val 147059"/>
            </a:avLst>
          </a:prstGeom>
          <a:solidFill>
            <a:srgbClr val="FCD34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72584" y="21396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72584" y="2560320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단위 확대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4672584" y="29626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사업장 전 라인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90872" y="3456432"/>
            <a:ext cx="100584" cy="10058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28616" y="33832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사업장별 보정값 공유 적용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90872" y="3840480"/>
            <a:ext cx="100584" cy="10058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28616" y="376732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장시간 연속 구동 안정성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90872" y="4224528"/>
            <a:ext cx="100584" cy="10058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28616" y="415137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기기 밀집 구간 성능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90872" y="4608576"/>
            <a:ext cx="100584" cy="10058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28616" y="45354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무음구역 운영 규칙 정착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72584" y="4992624"/>
            <a:ext cx="3054096" cy="0"/>
          </a:xfrm>
          <a:prstGeom prst="line">
            <a:avLst/>
          </a:prstGeom>
          <a:noFill/>
          <a:ln w="12700">
            <a:solidFill>
              <a:srgbClr val="232D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72584" y="50840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근거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672584" y="5303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대수가 늘어도 판정이 흔들리지 않는가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10144" y="3749040"/>
            <a:ext cx="13716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156448" y="1938528"/>
            <a:ext cx="3602736" cy="3968496"/>
          </a:xfrm>
          <a:prstGeom prst="roundRect">
            <a:avLst>
              <a:gd name="adj" fmla="val 2792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3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30768" y="2139696"/>
            <a:ext cx="1060704" cy="310896"/>
          </a:xfrm>
          <a:prstGeom prst="roundRect">
            <a:avLst>
              <a:gd name="adj" fmla="val 147059"/>
            </a:avLst>
          </a:prstGeom>
          <a:solidFill>
            <a:srgbClr val="4ADE8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30768" y="21396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2560320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29626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센터 · 운영 규칙 편입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49056" y="3456432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686800" y="33832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소지 · 충전 규칙 수립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449056" y="3840480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86800" y="376732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입사자 온보딩 포함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449056" y="4224528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86800" y="415137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이력 기반 정기 리뷰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449056" y="4608576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686800" y="45354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조치 완료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430768" y="4992624"/>
            <a:ext cx="3054096" cy="0"/>
          </a:xfrm>
          <a:prstGeom prst="line">
            <a:avLst/>
          </a:prstGeom>
          <a:noFill/>
          <a:ln w="12700">
            <a:solidFill>
              <a:srgbClr val="232D4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30768" y="50840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근거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430768" y="5303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 없이도 유지되는가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리스크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결정 전에 알고 있어야 할 항목 — 숨기지 않고 함께 본다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문제인가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11535" cy="768096"/>
          </a:xfrm>
          <a:prstGeom prst="roundRect">
            <a:avLst>
              <a:gd name="adj" fmla="val 13095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615184"/>
            <a:ext cx="118872" cy="1188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28600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기반 거리 오차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286000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구조물 · 적재물이 전파를 가리면 거리가 어긋난다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286000"/>
            <a:ext cx="3401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정제 · 역할쌍 보정 · 상호 대칭화. 재현성 확보가 로드맵 2~4단계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10911535" cy="768096"/>
          </a:xfrm>
          <a:prstGeom prst="roundRect">
            <a:avLst>
              <a:gd name="adj" fmla="val 13095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2688" y="3456432"/>
            <a:ext cx="118872" cy="1188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312724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소지 · 전원 의존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127248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단말을 소지하지 않으면 감지되지 않는다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3127248"/>
            <a:ext cx="3401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규칙으로 보완 필요. 기술로 해결되는 항목이 아니다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68496"/>
            <a:ext cx="10911535" cy="768096"/>
          </a:xfrm>
          <a:prstGeom prst="roundRect">
            <a:avLst>
              <a:gd name="adj" fmla="val 13095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297680"/>
            <a:ext cx="118872" cy="1188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88720" y="3968496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기기 밀집 성능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968496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이상이 모이면 화면 반응이 느려진다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3968496"/>
            <a:ext cx="3401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5단계에서 판정 처리를 분리해 해소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809744"/>
            <a:ext cx="10911535" cy="768096"/>
          </a:xfrm>
          <a:prstGeom prst="roundRect">
            <a:avLst>
              <a:gd name="adj" fmla="val 13095"/>
            </a:avLst>
          </a:prstGeom>
          <a:solidFill>
            <a:srgbClr val="161D2B"/>
          </a:solidFill>
          <a:ln/>
          <a:effectLst>
            <a:outerShdw sx="100000" sy="100000" kx="0" ky="0" algn="bl" rotWithShape="0" blurRad="203200" dist="889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" y="5138928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88720" y="480974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UWB 의존성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809744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중인 UWB 라이브러리가 정식 출시 전 버전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4809744"/>
            <a:ext cx="3401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판정은 블루투스. UWB 는 보조 수단으로 한정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650992"/>
            <a:ext cx="10911535" cy="768096"/>
          </a:xfrm>
          <a:prstGeom prst="roundRect">
            <a:avLst>
              <a:gd name="adj" fmla="val 13095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03200" dist="889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88" y="5980176"/>
            <a:ext cx="118872" cy="1188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88720" y="565099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조치 미완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5650992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릴리스 빌드 난독화 미적용, 경보 이력 평문 저장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5650992"/>
            <a:ext cx="3401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전 조치 필요. 사내 보안 기준 확인 요청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경영진 보고  ·  v1.1.70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63721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feAlert/a01a9bd8-2674-5693-bc36-c78453b067c8/scratchpad/deck/assets/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886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요청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7665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사항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08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넘어가기 위해 결정이 필요한 세 가지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3602736" cy="1828800"/>
          </a:xfrm>
          <a:prstGeom prst="roundRect">
            <a:avLst>
              <a:gd name="adj" fmla="val 55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79400" dist="889" dir="5400000">
              <a:srgbClr val="000000">
                <a:alpha val="5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32688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7249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대상 지정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1272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1곳과 위험 동선 1개 구간, 참여 장비 · 인원 범위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8264" y="2011680"/>
            <a:ext cx="3602736" cy="1828800"/>
          </a:xfrm>
          <a:prstGeom prst="roundRect">
            <a:avLst>
              <a:gd name="adj" fmla="val 55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79400" dist="889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9087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690872" y="27249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검증 시간 확보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690872" y="31272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검증이 유일한 회귀 확인 수단입니다. 정기 슬롯이 필요합니다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56448" y="2011680"/>
            <a:ext cx="3602736" cy="1828800"/>
          </a:xfrm>
          <a:prstGeom prst="roundRect">
            <a:avLst>
              <a:gd name="adj" fmla="val 550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279400" dist="889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449056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449056" y="27249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운영 정책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449056" y="31272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D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대상 단말, 소지 · 충전 규칙, 자동 업데이트 허용 여부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626864"/>
            <a:ext cx="1463040" cy="0"/>
          </a:xfrm>
          <a:prstGeom prst="line">
            <a:avLst/>
          </a:prstGeom>
          <a:noFill/>
          <a:ln w="38100">
            <a:solidFill>
              <a:srgbClr val="7DD3F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경보가 떠야 할 때 뜨고, 꺼져야 할 때 꺼진다.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3400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확산의 전제는 대수가 아니라 신뢰성입니다.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9618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SafeAlert  ·  v1.1.70  ·  2026. 08.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SafeAlert 경영진 보고</dc:title>
  <dc:subject>PptxGenJS Presentation</dc:subject>
  <dc:creator>SafeAlert</dc:creator>
  <cp:lastModifiedBy>SafeAlert</cp:lastModifiedBy>
  <cp:revision>1</cp:revision>
  <dcterms:created xsi:type="dcterms:W3CDTF">2026-08-29T00:46:48Z</dcterms:created>
  <dcterms:modified xsi:type="dcterms:W3CDTF">2026-08-29T00:46:48Z</dcterms:modified>
</cp:coreProperties>
</file>