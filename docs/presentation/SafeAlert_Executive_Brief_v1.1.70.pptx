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C7C88"/>
                </a:solidFill>
                <a:latin typeface="Malgun Gothic"/>
              </a:defRPr>
            </a:pPr>
            <a:r>
              <a:rPr sz="1200" b="0" i="0" u="none" strike="noStrike">
                <a:solidFill>
                  <a:srgbClr val="6C7C88"/>
                </a:solidFill>
                <a:latin typeface="Malgun Gothic"/>
              </a:rPr>
              <a:t>상위 6개 파일의 코드 줄 수 (전체 27개 파일 11,636줄)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코드 줄 수</c:v>
                </c:pt>
              </c:strCache>
            </c:strRef>
          </c:tx>
          <c:spPr>
            <a:solidFill>
              <a:srgbClr val="3D6E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31454F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D6E8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6E8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D6E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D6E8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6E8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24A3E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OverlayManager</c:v>
                  </c:pt>
                  <c:pt idx="1">
                    <c:v>BleAdvertiser</c:v>
                  </c:pt>
                  <c:pt idx="2">
                    <c:v>DevSettings</c:v>
                  </c:pt>
                  <c:pt idx="3">
                    <c:v>UwbRanger</c:v>
                  </c:pt>
                  <c:pt idx="4">
                    <c:v>MainActivity</c:v>
                  </c:pt>
                  <c:pt idx="5">
                    <c:v>BleService
(경보 판정 전체)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602</c:v>
                </c:pt>
                <c:pt idx="1">
                  <c:v>632</c:v>
                </c:pt>
                <c:pt idx="2">
                  <c:v>752</c:v>
                </c:pt>
                <c:pt idx="3">
                  <c:v>850</c:v>
                </c:pt>
                <c:pt idx="4">
                  <c:v>942</c:v>
                </c:pt>
                <c:pt idx="5">
                  <c:v>3899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31454F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1454F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C7C8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C7C88"/>
                </a:solidFill>
                <a:latin typeface="Malgun Gothic"/>
              </a:defRPr>
            </a:pPr>
            <a:r>
              <a:rPr sz="1200" b="0" i="0" u="none" strike="noStrike">
                <a:solidFill>
                  <a:srgbClr val="6C7C88"/>
                </a:solidFill>
                <a:latin typeface="Malgun Gothic"/>
              </a:rPr>
              <a:t>설치 대수와 상호 감지 링크 수  n(n-1)/2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상호 감지 링크 수</c:v>
                </c:pt>
              </c:strCache>
            </c:strRef>
          </c:tx>
          <c:spPr>
            <a:solidFill>
              <a:srgbClr val="F0A3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31454F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2대</c:v>
                  </c:pt>
                  <c:pt idx="1">
                    <c:v>5대</c:v>
                  </c:pt>
                  <c:pt idx="2">
                    <c:v>10대</c:v>
                  </c:pt>
                  <c:pt idx="3">
                    <c:v>20대</c:v>
                  </c:pt>
                  <c:pt idx="4">
                    <c:v>30대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10</c:v>
                </c:pt>
                <c:pt idx="2">
                  <c:v>45</c:v>
                </c:pt>
                <c:pt idx="3">
                  <c:v>190</c:v>
                </c:pt>
                <c:pt idx="4">
                  <c:v>435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31454F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1454F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보고 목적: 현재 현장에서 운영 중인 SafeAlert의 기능과 목적, 그리고 확산 시 얻는 이점을 공유하고 파일럿 확대 여부에 대한 의사결정을 요청한다.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개의 숫자로 현황을 먼저 고정한다. 70회 릴리스는 실험이 아니라 이미 현장에서 도는 물건이라는 뜻이고, 1/5는 지금 하는 일이 기능 추가가 아니라 신뢰성 확보라는 뜻이다.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네 가지는 추정이 아니라 현장 조건이다. 특히 생수 파렛트의 전파 흡수는 신호 기반 거리 추정의 난이도를 직접 끌어올리는 요인이고, 뒤에 나올 3단 신호 정제와 사업장별 보정이 여기서 나왔다.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차별점은 '고정 설비가 없다'는 것이다. 클라우드는 설정 공유와 앱 자동 업데이트에만 쓰이고, 경보 판정 자체는 단말 안에서 끝난다. 통신이 끊긴 창고에서도 경보는 그대로 동작한다.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가지 중 세 개(양방향 협력 알림, 후진·하역 특수 경보, 모션·회전 인식)는 시판 제품에서 잘 보이지 않는 항목이다. 현장 요구에서 나온 기능이라는 점을 강조한다.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값은 임의로 정한 것이 아니라 현장에서 확인된 값이다. 현재 개선 작업의 목표도 '값을 바꾸는 것'이 아니라 '값대로 정확히 동작하게 하는 것'이다.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3단 신호 정제가 이 시스템의 심장이다. 블루투스 신호 세기는 그대로 쓰면 초당 수 dB씩 튀기 때문에, 정제 없이는 경보가 깜빡인다. 04단계(경보 판정)가 현재 개선 작업의 주 대상이다.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경영진에게 전할 함의는 하나다 — 이 1바이트 레이아웃은 현장 호환성 때문에 바꿀 수 없는 제약이며, 앞으로의 모든 개선은 이 제약 안에서 이뤄진다. 동시에 이 설계 덕분에 신버전 배포가 구버전 단말을 무력화하지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계층이 위에서 아래로만 의존한다 — 순환 참조가 없다는 것은 한 계층을 고쳐도 다른 계층이 연쇄적으로 깨지지 않는다는 뜻이다. 문제는 계층 구조가 아니라 03_service 한 파일에 책임이 몰려 있다는 점이며, 다음 장에서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 하나만 기억하면 된다 — 3,899줄. 두 번째로 큰 파일의 네 배다. 과거 같은 계열의 수정이 세 번 반복된 원인이 여기에 있다. 분해 후에도 앱 동작은 동일해야 하며, 그것이 수용 기준이다.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중요한 설계 원칙: 모든 단계가 출하 가능한 상태로 끝난다. 앱이 반쯤 분해된 채 검증 불가 상태로 오래 머무는 것을 명시적으로 금지했다. 현장 검증 사이클이 병목이기 때문이다.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경영진 관점에서 이 장의 의미: 확산의 전제 조건이 갖춰지기 시작했다는 것. 단말이 늘면 문제 보고도 늘어나는데, 회귀를 자동으로 잡는 장치 없이는 대수를 늘릴수록 관리 비용이 비선형으로 커진다.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차트는 이론적 감지쌍 수이며 실제 동시 추적 성능과는 다르다. 그 격차를 정직하게 밝히는 것이 아래 주석이고, 로드맵 5단계가 그것을 다룬다. 비용 항목은 사내 단말 정책에 따라 달라지므로 별도 산정이 필요하다.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일정은 의도적으로 적지 않았다. 각 단계의 종료 조건이 '기간'이 아니라 '판단 근거 확보'이기 때문이다. 파일럿 기간은 현장 가용 시간에 따라 함께 정하면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항목(보안)은 파일럿 단계에서는 영향이 작지만 전사 확산 전에는 반드시 처리해야 한다. 의사결정 시점에 함께 검토를 요청하는 항목이다.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가지 요청은 모두 기술이 아니라 운영 결정이다. 개발 측에서 준비 가능한 부분은 로드맵으로 진행 중이며, 파일럿 확대 여부만 결정되면 즉시 착수할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1280160"/>
            <a:ext cx="4480560" cy="4480560"/>
          </a:xfrm>
          <a:prstGeom prst="ellipse">
            <a:avLst/>
          </a:prstGeom>
          <a:solidFill>
            <a:srgbClr val="0F1C26"/>
          </a:solidFill>
          <a:ln w="15875">
            <a:solidFill>
              <a:srgbClr val="1E36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1828800"/>
            <a:ext cx="3383280" cy="3383280"/>
          </a:xfrm>
          <a:prstGeom prst="ellipse">
            <a:avLst/>
          </a:prstGeom>
          <a:solidFill>
            <a:srgbClr val="0F1C26"/>
          </a:solidFill>
          <a:ln w="15875">
            <a:solidFill>
              <a:srgbClr val="24404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2331720"/>
            <a:ext cx="2377440" cy="2377440"/>
          </a:xfrm>
          <a:prstGeom prst="ellipse">
            <a:avLst/>
          </a:prstGeom>
          <a:solidFill>
            <a:srgbClr val="0F1C26"/>
          </a:solidFill>
          <a:ln w="15875">
            <a:solidFill>
              <a:srgbClr val="2C50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32520" y="2788920"/>
            <a:ext cx="1463040" cy="1463040"/>
          </a:xfrm>
          <a:prstGeom prst="ellipse">
            <a:avLst/>
          </a:prstGeom>
          <a:solidFill>
            <a:srgbClr val="0F1C26"/>
          </a:solidFill>
          <a:ln w="15875">
            <a:solidFill>
              <a:srgbClr val="B9760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08592" y="3364992"/>
            <a:ext cx="310896" cy="310896"/>
          </a:xfrm>
          <a:prstGeom prst="ellipse">
            <a:avLst/>
          </a:prstGeom>
          <a:solidFill>
            <a:srgbClr val="F0A31A"/>
          </a:solidFill>
          <a:ln/>
        </p:spPr>
      </p:sp>
      <p:sp>
        <p:nvSpPr>
          <p:cNvPr id="7" name="Shape 5"/>
          <p:cNvSpPr/>
          <p:nvPr/>
        </p:nvSpPr>
        <p:spPr>
          <a:xfrm>
            <a:off x="8293608" y="2176272"/>
            <a:ext cx="786384" cy="310896"/>
          </a:xfrm>
          <a:prstGeom prst="roundRect">
            <a:avLst>
              <a:gd name="adj" fmla="val 147059"/>
            </a:avLst>
          </a:prstGeom>
          <a:solidFill>
            <a:srgbClr val="D24A3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93608" y="2176272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0927080" y="4937760"/>
            <a:ext cx="914400" cy="310896"/>
          </a:xfrm>
          <a:prstGeom prst="roundRect">
            <a:avLst>
              <a:gd name="adj" fmla="val 147059"/>
            </a:avLst>
          </a:prstGeom>
          <a:solidFill>
            <a:srgbClr val="F0A31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927080" y="493776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193852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3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물류 현장 근접 경보 시스템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2286000"/>
            <a:ext cx="6766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</a:t>
            </a:r>
            <a:endParaRPr lang="en-US" sz="66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456432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B9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 · EPJ · 보행자가 서로를 감지한다.</a:t>
            </a:r>
            <a:endParaRPr lang="en-US" sz="14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B9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앱이 설치된 스마트폰끼리 직접 신호를 주고받아, 위험 거리에 들어오면 즉시 알린다.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66928" y="4572000"/>
            <a:ext cx="2926080" cy="0"/>
          </a:xfrm>
          <a:prstGeom prst="line">
            <a:avLst/>
          </a:prstGeom>
          <a:noFill/>
          <a:ln w="12700">
            <a:solidFill>
              <a:srgbClr val="27414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66928" y="4718304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버전 v1.1.70  ·  3개월간 70회 이상 릴리스  ·  현장 운영 중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5047488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87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2026. 08.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87552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하는가 · 왜 하는가 · 확산하면 무엇이 달라지는가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2688336" cy="1426464"/>
          </a:xfrm>
          <a:prstGeom prst="roundRect">
            <a:avLst>
              <a:gd name="adj" fmla="val 5128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04672" y="1664208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D6E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70+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231136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릴리스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487168"/>
            <a:ext cx="2231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3개월간 현장 운영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29000" y="1517904"/>
            <a:ext cx="2688336" cy="1426464"/>
          </a:xfrm>
          <a:prstGeom prst="roundRect">
            <a:avLst>
              <a:gd name="adj" fmla="val 5128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66744" y="1664208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8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666744" y="2231136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인프라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666744" y="2487168"/>
            <a:ext cx="2231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앵커·게이트웨이·배선 불필요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91072" y="1517904"/>
            <a:ext cx="2688336" cy="1426464"/>
          </a:xfrm>
          <a:prstGeom prst="roundRect">
            <a:avLst>
              <a:gd name="adj" fmla="val 5128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528816" y="1664208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A3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528816" y="2231136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등급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528816" y="2487168"/>
            <a:ext cx="2231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· 경고 · 위험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153144" y="1517904"/>
            <a:ext cx="2688336" cy="1426464"/>
          </a:xfrm>
          <a:prstGeom prst="roundRect">
            <a:avLst>
              <a:gd name="adj" fmla="val 5128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390888" y="1664208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24A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1/5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9390888" y="2231136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 개선 진행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9390888" y="2487168"/>
            <a:ext cx="2231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신뢰성 로드맵 1단계 완료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3163824"/>
            <a:ext cx="11057839" cy="722376"/>
          </a:xfrm>
          <a:prstGeom prst="roundRect">
            <a:avLst>
              <a:gd name="adj" fmla="val 10127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209544"/>
            <a:ext cx="1920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76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하는가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779776" y="3209544"/>
            <a:ext cx="8570671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앱이 설치된 기기끼리 블루투스 신호를 직접 주고받아, 신호 세기로 추정한 거리가 위험 구간에 들어오면 소리·진동·전체화면으로 알린다.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3950208"/>
            <a:ext cx="11057839" cy="722376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2700">
            <a:solidFill>
              <a:srgbClr val="D3DDE3"/>
            </a:solidFill>
            <a:prstDash val="solid"/>
          </a:ln>
          <a:effectLst>
            <a:outerShdw sx="100000" sy="100000" kx="0" ky="0" algn="bl" rotWithShape="0" blurRad="127000" dist="635" dir="5400000">
              <a:srgbClr val="000000">
                <a:alpha val="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960" y="3995928"/>
            <a:ext cx="1920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76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하는가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779776" y="3995928"/>
            <a:ext cx="8570671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철제 렉 사이 통로와 단독 작업 구간에서 지게차·EPJ·보행자가 서로를 육안으로 확인하기 어렵다. 사각지대를 사람의 주의력이 아니라 시스템이 메운다.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736592"/>
            <a:ext cx="11057839" cy="722376"/>
          </a:xfrm>
          <a:prstGeom prst="roundRect">
            <a:avLst>
              <a:gd name="adj" fmla="val 10127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22960" y="4782312"/>
            <a:ext cx="1920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76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하는 일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2779776" y="4782312"/>
            <a:ext cx="8570671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기능 추가가 아니라 '같은 상황에서 같은 판정'을 보장하는 구조 개선이다. 5단계 로드맵 중 1단계(테스트·CI 회귀 게이트) 완료.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522976"/>
            <a:ext cx="11057839" cy="722376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2700">
            <a:solidFill>
              <a:srgbClr val="D3DDE3"/>
            </a:solidFill>
            <a:prstDash val="solid"/>
          </a:ln>
          <a:effectLst>
            <a:outerShdw sx="100000" sy="100000" kx="0" ky="0" algn="bl" rotWithShape="0" blurRad="127000" dist="635" dir="5400000">
              <a:srgbClr val="000000">
                <a:alpha val="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22960" y="5568696"/>
            <a:ext cx="1920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76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확산하면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2779776" y="5568696"/>
            <a:ext cx="8570671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단말이 늘수록 감지 범위가 인프라 비용 증가 없이 넓어진다. 설치 대수 n대 → 상호 감지쌍 n(n-1)/2.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· 경영진 보고 · v1.1.70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현장의 사각지대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87552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사람의 주의력만으로는 부족한가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1655064"/>
            <a:ext cx="475488" cy="475488"/>
          </a:xfrm>
          <a:prstGeom prst="ellipse">
            <a:avLst/>
          </a:prstGeom>
          <a:solidFill>
            <a:srgbClr val="0F1C2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655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A3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◈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43584" y="15727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시야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43584" y="1865376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높이 철제 렉 사이 통로. 교차·곡선 구간에서 지게차와 보행자가 서로를 볼 수 없다.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2715768"/>
            <a:ext cx="475488" cy="475488"/>
          </a:xfrm>
          <a:prstGeom prst="ellipse">
            <a:avLst/>
          </a:prstGeom>
          <a:solidFill>
            <a:srgbClr val="0F1C2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7157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A3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633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전파·소음 환경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43584" y="292608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적재된 생수 파렛트가 2.4GHz 흡수벽으로 작용한다. 장비 소음 속에서 경적 인지도 늦다.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3776472"/>
            <a:ext cx="475488" cy="475488"/>
          </a:xfrm>
          <a:prstGeom prst="ellipse">
            <a:avLst/>
          </a:prstGeom>
          <a:solidFill>
            <a:srgbClr val="0F1C2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776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A3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43584" y="36941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단독 작업 구간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43584" y="3986784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렉 사이에서 혼자 작업하는 구간이 존재한다. 이탈 감지가 안전상 필수다.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837176"/>
            <a:ext cx="475488" cy="475488"/>
          </a:xfrm>
          <a:prstGeom prst="ellipse">
            <a:avLst/>
          </a:prstGeom>
          <a:solidFill>
            <a:srgbClr val="0F1C2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48371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A3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⇄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43584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혼재 동선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243584" y="504748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지게차·리치·오더피커·EPJ·보행자가 같은 통로를 공유한다. 역할마다 위험 거리가 다르다.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903720" y="1517904"/>
            <a:ext cx="4721047" cy="3877056"/>
          </a:xfrm>
          <a:prstGeom prst="roundRect">
            <a:avLst>
              <a:gd name="adj" fmla="val 1887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178040" y="1700784"/>
            <a:ext cx="41724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렉 사이 통로 — 상호 육안 확인 불가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287768" y="2139696"/>
            <a:ext cx="1554480" cy="786384"/>
          </a:xfrm>
          <a:prstGeom prst="rect">
            <a:avLst/>
          </a:prstGeom>
          <a:solidFill>
            <a:srgbClr val="E4EBEF"/>
          </a:solidFill>
          <a:ln w="12700">
            <a:solidFill>
              <a:srgbClr val="D3DD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149840" y="2139696"/>
            <a:ext cx="1554480" cy="786384"/>
          </a:xfrm>
          <a:prstGeom prst="rect">
            <a:avLst/>
          </a:prstGeom>
          <a:solidFill>
            <a:srgbClr val="E4EBEF"/>
          </a:solidFill>
          <a:ln w="12700">
            <a:solidFill>
              <a:srgbClr val="D3DD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287768" y="3200400"/>
            <a:ext cx="1554480" cy="786384"/>
          </a:xfrm>
          <a:prstGeom prst="rect">
            <a:avLst/>
          </a:prstGeom>
          <a:solidFill>
            <a:srgbClr val="E4EBEF"/>
          </a:solidFill>
          <a:ln w="12700">
            <a:solidFill>
              <a:srgbClr val="D3DD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0" y="3200400"/>
            <a:ext cx="1554480" cy="786384"/>
          </a:xfrm>
          <a:prstGeom prst="rect">
            <a:avLst/>
          </a:prstGeom>
          <a:solidFill>
            <a:srgbClr val="E4EBEF"/>
          </a:solidFill>
          <a:ln w="12700">
            <a:solidFill>
              <a:srgbClr val="D3DD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87768" y="4261104"/>
            <a:ext cx="1554480" cy="786384"/>
          </a:xfrm>
          <a:prstGeom prst="rect">
            <a:avLst/>
          </a:prstGeom>
          <a:solidFill>
            <a:srgbClr val="E4EBEF"/>
          </a:solidFill>
          <a:ln w="12700">
            <a:solidFill>
              <a:srgbClr val="D3DD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149840" y="4261104"/>
            <a:ext cx="1554480" cy="786384"/>
          </a:xfrm>
          <a:prstGeom prst="rect">
            <a:avLst/>
          </a:prstGeom>
          <a:solidFill>
            <a:srgbClr val="E4EBEF"/>
          </a:solidFill>
          <a:ln w="12700">
            <a:solidFill>
              <a:srgbClr val="D3DDE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287768" y="2331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적재 렉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0" y="2331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적재 렉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988552" y="2212848"/>
            <a:ext cx="1024128" cy="384048"/>
          </a:xfrm>
          <a:prstGeom prst="roundRect">
            <a:avLst>
              <a:gd name="adj" fmla="val 119048"/>
            </a:avLst>
          </a:prstGeom>
          <a:solidFill>
            <a:srgbClr val="F0A31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988552" y="22128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988552" y="4626864"/>
            <a:ext cx="1024128" cy="384048"/>
          </a:xfrm>
          <a:prstGeom prst="roundRect">
            <a:avLst>
              <a:gd name="adj" fmla="val 119048"/>
            </a:avLst>
          </a:prstGeom>
          <a:solidFill>
            <a:srgbClr val="3D6E8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988552" y="462686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보행자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9500616" y="2651760"/>
            <a:ext cx="0" cy="1938528"/>
          </a:xfrm>
          <a:prstGeom prst="line">
            <a:avLst/>
          </a:prstGeom>
          <a:noFill/>
          <a:ln w="19050">
            <a:solidFill>
              <a:srgbClr val="D24A3E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9006840" y="3456432"/>
            <a:ext cx="1005840" cy="329184"/>
          </a:xfrm>
          <a:prstGeom prst="roundRect">
            <a:avLst>
              <a:gd name="adj" fmla="val 138889"/>
            </a:avLst>
          </a:prstGeom>
          <a:solidFill>
            <a:srgbClr val="D24A3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006840" y="345643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시야 차단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· 경영진 보고 · v1.1.70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방식 — 기기끼리 서로를 본다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87552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설비를 까는 대신, 움직이는 주체가 서로를 감지한다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468112" cy="3017520"/>
          </a:xfrm>
          <a:prstGeom prst="roundRect">
            <a:avLst>
              <a:gd name="adj" fmla="val 2424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59536" y="1773936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일반적인 구역 감지 방식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77824" y="2157984"/>
            <a:ext cx="482803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구역마다 앵커·게이트웨이 설치와 배선 공사가 필요하다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서버·네트워크가 끊기면 감지도 함께 멈춘다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'구역 진입' 단위 판정 — 누가 누구에게 가까운지는 모른다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라인을 바꾸거나 센터를 늘리면 다시 공사한다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53912" y="1572768"/>
            <a:ext cx="5468112" cy="3017520"/>
          </a:xfrm>
          <a:prstGeom prst="roundRect">
            <a:avLst>
              <a:gd name="adj" fmla="val 2424"/>
            </a:avLst>
          </a:prstGeom>
          <a:solidFill>
            <a:srgbClr val="0F1C26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46520" y="1773936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3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방식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64808" y="2157984"/>
            <a:ext cx="482803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FDD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설치는 앱 하나. 고정 설비·배선·서버 증설이 없다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FDD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기기 간 직접 통신 — 네트워크가 없어도 경보는 동작한다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FDD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 대 개체 상대 거리 판정 — 역할 조합별로 기준이 다르다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FDD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= 설치. 현장이 바뀌어도 재공사가 없다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828032"/>
            <a:ext cx="3639312" cy="566928"/>
          </a:xfrm>
          <a:prstGeom prst="roundRect">
            <a:avLst>
              <a:gd name="adj" fmla="val 48387"/>
            </a:avLst>
          </a:prstGeom>
          <a:solidFill>
            <a:srgbClr val="FFFFFF"/>
          </a:solidFill>
          <a:ln w="15875">
            <a:solidFill>
              <a:srgbClr val="1E8A6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4828032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8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인프라 투자 0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06824" y="4828032"/>
            <a:ext cx="3639312" cy="566928"/>
          </a:xfrm>
          <a:prstGeom prst="roundRect">
            <a:avLst>
              <a:gd name="adj" fmla="val 48387"/>
            </a:avLst>
          </a:prstGeom>
          <a:solidFill>
            <a:srgbClr val="FFFFFF"/>
          </a:solidFill>
          <a:ln w="15875">
            <a:solidFill>
              <a:srgbClr val="3D6E8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06824" y="4828032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6E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 없이도 경보 동작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4828032"/>
            <a:ext cx="3639312" cy="566928"/>
          </a:xfrm>
          <a:prstGeom prst="roundRect">
            <a:avLst>
              <a:gd name="adj" fmla="val 48387"/>
            </a:avLst>
          </a:prstGeom>
          <a:solidFill>
            <a:srgbClr val="FFFFFF"/>
          </a:solidFill>
          <a:ln w="15875">
            <a:solidFill>
              <a:srgbClr val="B9760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0" y="4828032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976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구버전 기기와 100% 호환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· 경영진 보고 · v1.1.70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87552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버전 v1.1.70에서 실제로 동작하는 기능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639312" cy="1700784"/>
          </a:xfrm>
          <a:prstGeom prst="roundRect">
            <a:avLst>
              <a:gd name="adj" fmla="val 4301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10512"/>
            <a:ext cx="457200" cy="457200"/>
          </a:xfrm>
          <a:prstGeom prst="ellipse">
            <a:avLst/>
          </a:prstGeom>
          <a:solidFill>
            <a:srgbClr val="F0A31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◎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59152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기반 차등 반경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42616"/>
            <a:ext cx="31272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지게차·EPJ·보행자 조합별로 경고·위험 거리를 다르게 적용한다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5112" y="1572768"/>
            <a:ext cx="3639312" cy="1700784"/>
          </a:xfrm>
          <a:prstGeom prst="roundRect">
            <a:avLst>
              <a:gd name="adj" fmla="val 4301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81144" y="1810512"/>
            <a:ext cx="457200" cy="457200"/>
          </a:xfrm>
          <a:prstGeom prst="ellipse">
            <a:avLst/>
          </a:prstGeom>
          <a:solidFill>
            <a:srgbClr val="D24A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81144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81144" y="2359152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경보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81144" y="2642616"/>
            <a:ext cx="31272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/ 경고 / 위험. 등급에 따라 소리·진동·전체화면 표시가 달라진다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83296" y="1572768"/>
            <a:ext cx="3639312" cy="1700784"/>
          </a:xfrm>
          <a:prstGeom prst="roundRect">
            <a:avLst>
              <a:gd name="adj" fmla="val 4301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39328" y="1810512"/>
            <a:ext cx="457200" cy="457200"/>
          </a:xfrm>
          <a:prstGeom prst="ellipse">
            <a:avLst/>
          </a:prstGeom>
          <a:solidFill>
            <a:srgbClr val="1E8A6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39328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⇄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339328" y="2359152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양방향 협력 알림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339328" y="2642616"/>
            <a:ext cx="31272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한쪽이 먼저 감지하면 상대 기기도 함께 울린다. 한쪽 신호가 약해도 놓치지 않는다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419856"/>
            <a:ext cx="3639312" cy="1700784"/>
          </a:xfrm>
          <a:prstGeom prst="roundRect">
            <a:avLst>
              <a:gd name="adj" fmla="val 4301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2960" y="3657600"/>
            <a:ext cx="457200" cy="457200"/>
          </a:xfrm>
          <a:prstGeom prst="ellipse">
            <a:avLst/>
          </a:prstGeom>
          <a:solidFill>
            <a:srgbClr val="D24A3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◀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206240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후진·하역 특수 경보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489704"/>
            <a:ext cx="31272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상대가 후진 또는 하역·고소작업 중이면 근접 시 즉시 최고 등급으로 격상한다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25112" y="3419856"/>
            <a:ext cx="3639312" cy="1700784"/>
          </a:xfrm>
          <a:prstGeom prst="roundRect">
            <a:avLst>
              <a:gd name="adj" fmla="val 4301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81144" y="3657600"/>
            <a:ext cx="457200" cy="457200"/>
          </a:xfrm>
          <a:prstGeom prst="ellipse">
            <a:avLst/>
          </a:prstGeom>
          <a:solidFill>
            <a:srgbClr val="3D6E8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81144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↻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581144" y="4206240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모션·회전 인식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81144" y="4489704"/>
            <a:ext cx="31272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 센서로 정지·주행·급정거와 좌·우 회전을 판별해 경보 판정에 반영한다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083296" y="3419856"/>
            <a:ext cx="3639312" cy="1700784"/>
          </a:xfrm>
          <a:prstGeom prst="roundRect">
            <a:avLst>
              <a:gd name="adj" fmla="val 4301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39328" y="3657600"/>
            <a:ext cx="457200" cy="457200"/>
          </a:xfrm>
          <a:prstGeom prst="ellipse">
            <a:avLst/>
          </a:prstGeom>
          <a:solidFill>
            <a:srgbClr val="3D6E8C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39328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◈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339328" y="4206240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측위 수단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339328" y="4489704"/>
            <a:ext cx="31272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UWB 정밀 거리, 존 비콘, 사업장별 보정값 클라우드 공유가 주 판정을 보완한다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532180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976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기능은 단말 한 대 안에서 완결된다. 클라우드가 죽어도, UWB가 없어도 블루투스 근접 경보는 그대로 동작한다.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· 경영진 보고 · v1.1.70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조합별 판정 반경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87552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거리라도 상대가 지게차인지 보행자인지에 따라 다르게 판정한다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468112" cy="3200400"/>
          </a:xfrm>
          <a:prstGeom prst="roundRect">
            <a:avLst>
              <a:gd name="adj" fmla="val 2286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59536" y="1737360"/>
            <a:ext cx="4882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지게차가 포함된 조합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59536" y="2011680"/>
            <a:ext cx="4882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 ↔ 보행자 · EPJ · 지게차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32304" y="2276856"/>
            <a:ext cx="1737360" cy="1737360"/>
          </a:xfrm>
          <a:prstGeom prst="ellipse">
            <a:avLst/>
          </a:prstGeom>
          <a:solidFill>
            <a:srgbClr val="FDF3DE"/>
          </a:solidFill>
          <a:ln w="19050">
            <a:solidFill>
              <a:srgbClr val="F0A31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837688" y="2682240"/>
            <a:ext cx="926592" cy="926592"/>
          </a:xfrm>
          <a:prstGeom prst="ellipse">
            <a:avLst/>
          </a:prstGeom>
          <a:solidFill>
            <a:srgbClr val="FAE2DE"/>
          </a:solidFill>
          <a:ln w="19050">
            <a:solidFill>
              <a:srgbClr val="D24A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27248" y="2971800"/>
            <a:ext cx="347472" cy="347472"/>
          </a:xfrm>
          <a:prstGeom prst="ellipse">
            <a:avLst/>
          </a:prstGeom>
          <a:solidFill>
            <a:srgbClr val="0F1C26"/>
          </a:solidFill>
          <a:ln/>
        </p:spPr>
      </p:sp>
      <p:sp>
        <p:nvSpPr>
          <p:cNvPr id="10" name="Shape 8"/>
          <p:cNvSpPr/>
          <p:nvPr/>
        </p:nvSpPr>
        <p:spPr>
          <a:xfrm>
            <a:off x="1700784" y="4206240"/>
            <a:ext cx="1591056" cy="402336"/>
          </a:xfrm>
          <a:prstGeom prst="roundRect">
            <a:avLst>
              <a:gd name="adj" fmla="val 113636"/>
            </a:avLst>
          </a:prstGeom>
          <a:solidFill>
            <a:srgbClr val="F0A3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700784" y="4206240"/>
            <a:ext cx="1591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 15m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346704" y="4206240"/>
            <a:ext cx="1591056" cy="402336"/>
          </a:xfrm>
          <a:prstGeom prst="roundRect">
            <a:avLst>
              <a:gd name="adj" fmla="val 113636"/>
            </a:avLst>
          </a:prstGeom>
          <a:solidFill>
            <a:srgbClr val="D24A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46704" y="4206240"/>
            <a:ext cx="1591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8m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53912" y="1572768"/>
            <a:ext cx="5468112" cy="3200400"/>
          </a:xfrm>
          <a:prstGeom prst="roundRect">
            <a:avLst>
              <a:gd name="adj" fmla="val 2286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46520" y="1737360"/>
            <a:ext cx="4882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외 조합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2011680"/>
            <a:ext cx="4882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보행자 ↔ 보행자 · EPJ ↔ 보행자 · EPJ ↔ EPJ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93608" y="2551176"/>
            <a:ext cx="1188720" cy="1188720"/>
          </a:xfrm>
          <a:prstGeom prst="ellipse">
            <a:avLst/>
          </a:prstGeom>
          <a:solidFill>
            <a:srgbClr val="FDF3DE"/>
          </a:solidFill>
          <a:ln w="19050">
            <a:solidFill>
              <a:srgbClr val="F0A31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31352" y="2788920"/>
            <a:ext cx="713232" cy="713232"/>
          </a:xfrm>
          <a:prstGeom prst="ellipse">
            <a:avLst/>
          </a:prstGeom>
          <a:solidFill>
            <a:srgbClr val="FAE2DE"/>
          </a:solidFill>
          <a:ln w="19050">
            <a:solidFill>
              <a:srgbClr val="D24A3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14232" y="2971800"/>
            <a:ext cx="347472" cy="347472"/>
          </a:xfrm>
          <a:prstGeom prst="ellipse">
            <a:avLst/>
          </a:prstGeom>
          <a:solidFill>
            <a:srgbClr val="0F1C26"/>
          </a:solidFill>
          <a:ln/>
        </p:spPr>
      </p:sp>
      <p:sp>
        <p:nvSpPr>
          <p:cNvPr id="20" name="Shape 18"/>
          <p:cNvSpPr/>
          <p:nvPr/>
        </p:nvSpPr>
        <p:spPr>
          <a:xfrm>
            <a:off x="7287768" y="4206240"/>
            <a:ext cx="1591056" cy="402336"/>
          </a:xfrm>
          <a:prstGeom prst="roundRect">
            <a:avLst>
              <a:gd name="adj" fmla="val 113636"/>
            </a:avLst>
          </a:prstGeom>
          <a:solidFill>
            <a:srgbClr val="F0A31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287768" y="4206240"/>
            <a:ext cx="1591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 5m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933688" y="4206240"/>
            <a:ext cx="1591056" cy="402336"/>
          </a:xfrm>
          <a:prstGeom prst="roundRect">
            <a:avLst>
              <a:gd name="adj" fmla="val 113636"/>
            </a:avLst>
          </a:prstGeom>
          <a:solidFill>
            <a:srgbClr val="D24A3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33688" y="4206240"/>
            <a:ext cx="1591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3m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4937760"/>
            <a:ext cx="11057839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3DDE3"/>
            </a:solidFill>
            <a:prstDash val="solid"/>
          </a:ln>
          <a:effectLst>
            <a:outerShdw sx="100000" sy="100000" kx="0" ky="0" algn="bl" rotWithShape="0" blurRad="127000" dist="635" dir="5400000">
              <a:srgbClr val="000000">
                <a:alpha val="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41248" y="4937760"/>
            <a:ext cx="1050919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값은 현장에서 확정된 기준이며, 설정 화면에서 사업장별로 조정할 수 있다. 무거운 장비일수록 제동거리가 길기 때문에 지게차 조합의 반경이 크다. (도식은 비례 축척이 아니다)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· 경영진 보고 · v1.1.70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원리 — 감지에서 경보까지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87552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 한 번이 경보가 되기까지 거치는 5단계 (괄호 안은 실제 구성 요소)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2157984" cy="3054096"/>
          </a:xfrm>
          <a:prstGeom prst="roundRect">
            <a:avLst>
              <a:gd name="adj" fmla="val 3390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86384" y="173736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76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084832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· 스캔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670048"/>
            <a:ext cx="1719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기기가 동시에 송신자이자 수신자다. 1초 주기 연속 스캔, 화면이 꺼져도 유지된다.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3913632"/>
            <a:ext cx="17190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BleAdvertiser / BleScanner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29484" y="3118104"/>
            <a:ext cx="91440" cy="0"/>
          </a:xfrm>
          <a:prstGeom prst="line">
            <a:avLst/>
          </a:prstGeom>
          <a:noFill/>
          <a:ln w="25400">
            <a:solidFill>
              <a:srgbClr val="F0A31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825496" y="1591056"/>
            <a:ext cx="2157984" cy="3054096"/>
          </a:xfrm>
          <a:prstGeom prst="roundRect">
            <a:avLst>
              <a:gd name="adj" fmla="val 3390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044952" y="173736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76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44952" y="2084832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 정제 3단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44952" y="2670048"/>
            <a:ext cx="1719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튐값 제거 → 이상치 차단 → 평활화. 약 120ms마다 갱신한다.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044952" y="3913632"/>
            <a:ext cx="17190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MedianFilter → RssiPreFilter → KalmanFilter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988052" y="3118104"/>
            <a:ext cx="91440" cy="0"/>
          </a:xfrm>
          <a:prstGeom prst="line">
            <a:avLst/>
          </a:prstGeom>
          <a:noFill/>
          <a:ln w="25400">
            <a:solidFill>
              <a:srgbClr val="F0A31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084064" y="1591056"/>
            <a:ext cx="2157984" cy="3054096"/>
          </a:xfrm>
          <a:prstGeom prst="roundRect">
            <a:avLst>
              <a:gd name="adj" fmla="val 3390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303520" y="173736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76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2084832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· 접근 추정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2670048"/>
            <a:ext cx="1719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역할쌍 보정, 상호 신호 대칭화, UWB 정밀 거리로 보완한다.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303520" y="3913632"/>
            <a:ext cx="17190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역할쌍 오프셋 · 에코 RSSI · UwbRanger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246620" y="3118104"/>
            <a:ext cx="91440" cy="0"/>
          </a:xfrm>
          <a:prstGeom prst="line">
            <a:avLst/>
          </a:prstGeom>
          <a:noFill/>
          <a:ln w="25400">
            <a:solidFill>
              <a:srgbClr val="F0A31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342632" y="1591056"/>
            <a:ext cx="2157984" cy="3054096"/>
          </a:xfrm>
          <a:prstGeom prst="roundRect">
            <a:avLst>
              <a:gd name="adj" fmla="val 3390"/>
            </a:avLst>
          </a:prstGeom>
          <a:solidFill>
            <a:srgbClr val="0F1C26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562088" y="173736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3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562088" y="2084832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판정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562088" y="2670048"/>
            <a:ext cx="1719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4D5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 속도와 상대의 상태를 함께 보고 등급을 올리거나 내린다.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562088" y="3913632"/>
            <a:ext cx="17190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9A3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BleService 경보 상태머신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505188" y="3118104"/>
            <a:ext cx="91440" cy="0"/>
          </a:xfrm>
          <a:prstGeom prst="line">
            <a:avLst/>
          </a:prstGeom>
          <a:noFill/>
          <a:ln w="25400">
            <a:solidFill>
              <a:srgbClr val="F0A31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601200" y="1591056"/>
            <a:ext cx="2157984" cy="3054096"/>
          </a:xfrm>
          <a:prstGeom prst="roundRect">
            <a:avLst>
              <a:gd name="adj" fmla="val 3390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820656" y="173736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76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820656" y="2084832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출력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820656" y="2670048"/>
            <a:ext cx="1719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등급에 맞춰 소리·진동·전체화면을 동시에 낸다.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9820656" y="3913632"/>
            <a:ext cx="17190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AlertSoundPlayer · VibrationHelper · OverlayManager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66928" y="4791456"/>
            <a:ext cx="2688336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3DDE3"/>
            </a:solidFill>
            <a:prstDash val="solid"/>
          </a:ln>
          <a:effectLst>
            <a:outerShdw sx="100000" sy="100000" kx="0" ky="0" algn="bl" rotWithShape="0" blurRad="127000" dist="635" dir="5400000">
              <a:srgbClr val="000000">
                <a:alpha val="4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822960" y="4791456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스캔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22960" y="4791456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1초 주기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3355848" y="4791456"/>
            <a:ext cx="2688336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3DDE3"/>
            </a:solidFill>
            <a:prstDash val="solid"/>
          </a:ln>
          <a:effectLst>
            <a:outerShdw sx="100000" sy="100000" kx="0" ky="0" algn="bl" rotWithShape="0" blurRad="127000" dist="635" dir="5400000">
              <a:srgbClr val="000000">
                <a:alpha val="4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3611880" y="4791456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갱신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3611880" y="4791456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120ms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144768" y="4791456"/>
            <a:ext cx="2688336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3DDE3"/>
            </a:solidFill>
            <a:prstDash val="solid"/>
          </a:ln>
          <a:effectLst>
            <a:outerShdw sx="100000" sy="100000" kx="0" ky="0" algn="bl" rotWithShape="0" blurRad="127000" dist="635" dir="5400000">
              <a:srgbClr val="000000">
                <a:alpha val="4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400800" y="4791456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갱신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6400800" y="4791456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800ms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8933688" y="4791456"/>
            <a:ext cx="2688336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3DDE3"/>
            </a:solidFill>
            <a:prstDash val="solid"/>
          </a:ln>
          <a:effectLst>
            <a:outerShdw sx="100000" sy="100000" kx="0" ky="0" algn="bl" rotWithShape="0" blurRad="127000" dist="635" dir="5400000">
              <a:srgbClr val="000000">
                <a:alpha val="4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9189720" y="4791456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반응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9189720" y="4791456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즉시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· 경영진 보고 · v1.1.70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1바이트 프로토콜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87552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C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블루투스 광고 패킷 단 1바이트에 역할·상태·회전·위험도를 모두 담는다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1316736" cy="548640"/>
          </a:xfrm>
          <a:prstGeom prst="rect">
            <a:avLst/>
          </a:prstGeom>
          <a:solidFill>
            <a:srgbClr val="1B2E3C"/>
          </a:solidFill>
          <a:ln w="15875">
            <a:solidFill>
              <a:srgbClr val="F0A31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572768"/>
            <a:ext cx="1316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A5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7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975104" y="1572768"/>
            <a:ext cx="1316736" cy="548640"/>
          </a:xfrm>
          <a:prstGeom prst="rect">
            <a:avLst/>
          </a:prstGeom>
          <a:solidFill>
            <a:srgbClr val="1B2E3C"/>
          </a:solidFill>
          <a:ln w="15875">
            <a:solidFill>
              <a:srgbClr val="F0A31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975104" y="1572768"/>
            <a:ext cx="1316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A5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6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231136"/>
            <a:ext cx="2724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A3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523744"/>
            <a:ext cx="2724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2852928"/>
            <a:ext cx="2724912" cy="1700784"/>
          </a:xfrm>
          <a:prstGeom prst="roundRect">
            <a:avLst>
              <a:gd name="adj" fmla="val 4301"/>
            </a:avLst>
          </a:prstGeom>
          <a:solidFill>
            <a:srgbClr val="1B2E3C"/>
          </a:solidFill>
          <a:ln/>
          <a:effectLst>
            <a:outerShdw sx="100000" sy="100000" kx="0" ky="0" algn="bl" rotWithShape="0" blurRad="127000" dist="635" dir="5400000">
              <a:srgbClr val="000000">
                <a:alpha val="2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04672" y="2999232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 보행자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804672" y="338328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EPJ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04672" y="3767328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지게차·리치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04672" y="4151376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예약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419856" y="1572768"/>
            <a:ext cx="1316736" cy="548640"/>
          </a:xfrm>
          <a:prstGeom prst="rect">
            <a:avLst/>
          </a:prstGeom>
          <a:solidFill>
            <a:srgbClr val="1B2E3C"/>
          </a:solidFill>
          <a:ln w="15875">
            <a:solidFill>
              <a:srgbClr val="D24A3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19856" y="1572768"/>
            <a:ext cx="1316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A5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5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828032" y="1572768"/>
            <a:ext cx="1316736" cy="548640"/>
          </a:xfrm>
          <a:prstGeom prst="rect">
            <a:avLst/>
          </a:prstGeom>
          <a:solidFill>
            <a:srgbClr val="1B2E3C"/>
          </a:solidFill>
          <a:ln w="15875">
            <a:solidFill>
              <a:srgbClr val="D24A3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28032" y="1572768"/>
            <a:ext cx="1316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A5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4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3419856" y="2231136"/>
            <a:ext cx="2724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24A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419856" y="2523744"/>
            <a:ext cx="2724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상태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419856" y="2852928"/>
            <a:ext cx="2724912" cy="1700784"/>
          </a:xfrm>
          <a:prstGeom prst="roundRect">
            <a:avLst>
              <a:gd name="adj" fmla="val 4301"/>
            </a:avLst>
          </a:prstGeom>
          <a:solidFill>
            <a:srgbClr val="1B2E3C"/>
          </a:solidFill>
          <a:ln/>
          <a:effectLst>
            <a:outerShdw sx="100000" sy="100000" kx="0" ky="0" algn="bl" rotWithShape="0" blurRad="127000" dist="635" dir="5400000">
              <a:srgbClr val="000000">
                <a:alpha val="2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3657600" y="2999232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 정지·일반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338328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전진·주행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657600" y="3767328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0A3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후진 ⚑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657600" y="4151376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0A3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하역·작업 ⚑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272784" y="1572768"/>
            <a:ext cx="1316736" cy="548640"/>
          </a:xfrm>
          <a:prstGeom prst="rect">
            <a:avLst/>
          </a:prstGeom>
          <a:solidFill>
            <a:srgbClr val="1B2E3C"/>
          </a:solidFill>
          <a:ln w="15875">
            <a:solidFill>
              <a:srgbClr val="3D6E8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72784" y="1572768"/>
            <a:ext cx="1316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A5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3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680960" y="1572768"/>
            <a:ext cx="1316736" cy="548640"/>
          </a:xfrm>
          <a:prstGeom prst="rect">
            <a:avLst/>
          </a:prstGeom>
          <a:solidFill>
            <a:srgbClr val="1B2E3C"/>
          </a:solidFill>
          <a:ln w="15875">
            <a:solidFill>
              <a:srgbClr val="3D6E8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80960" y="1572768"/>
            <a:ext cx="1316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A5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2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272784" y="2231136"/>
            <a:ext cx="2724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6E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TURN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6272784" y="2523744"/>
            <a:ext cx="2724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 방향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72784" y="2852928"/>
            <a:ext cx="2724912" cy="1700784"/>
          </a:xfrm>
          <a:prstGeom prst="roundRect">
            <a:avLst>
              <a:gd name="adj" fmla="val 4301"/>
            </a:avLst>
          </a:prstGeom>
          <a:solidFill>
            <a:srgbClr val="1B2E3C"/>
          </a:solidFill>
          <a:ln/>
          <a:effectLst>
            <a:outerShdw sx="100000" sy="100000" kx="0" ky="0" algn="bl" rotWithShape="0" blurRad="127000" dist="635" dir="5400000">
              <a:srgbClr val="000000">
                <a:alpha val="20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6510528" y="2999232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 직진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510528" y="338328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좌회전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510528" y="3767328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우회전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6510528" y="4151376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예약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9125712" y="1572768"/>
            <a:ext cx="1316736" cy="548640"/>
          </a:xfrm>
          <a:prstGeom prst="rect">
            <a:avLst/>
          </a:prstGeom>
          <a:solidFill>
            <a:srgbClr val="1B2E3C"/>
          </a:solidFill>
          <a:ln w="15875">
            <a:solidFill>
              <a:srgbClr val="1E8A6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25712" y="1572768"/>
            <a:ext cx="1316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A5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1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10533888" y="1572768"/>
            <a:ext cx="1316736" cy="548640"/>
          </a:xfrm>
          <a:prstGeom prst="rect">
            <a:avLst/>
          </a:prstGeom>
          <a:solidFill>
            <a:srgbClr val="1B2E3C"/>
          </a:solidFill>
          <a:ln w="15875">
            <a:solidFill>
              <a:srgbClr val="1E8A6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0533888" y="1572768"/>
            <a:ext cx="1316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A5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0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9125712" y="2231136"/>
            <a:ext cx="2724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8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RISK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9125712" y="2523744"/>
            <a:ext cx="2724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위험도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125712" y="2852928"/>
            <a:ext cx="2724912" cy="1700784"/>
          </a:xfrm>
          <a:prstGeom prst="roundRect">
            <a:avLst>
              <a:gd name="adj" fmla="val 4301"/>
            </a:avLst>
          </a:prstGeom>
          <a:solidFill>
            <a:srgbClr val="1B2E3C"/>
          </a:solidFill>
          <a:ln/>
          <a:effectLst>
            <a:outerShdw sx="100000" sy="100000" kx="0" ky="0" algn="bl" rotWithShape="0" blurRad="127000" dist="635" dir="5400000">
              <a:srgbClr val="000000">
                <a:alpha val="20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9363456" y="2999232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 안전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9363456" y="338328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경고 감지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9363456" y="3767328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위험 감지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9363456" y="4151376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A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예약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566928" y="46451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5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⚑ 특수경보 트리거 — 상대가 후진·하역 중이면 근접 즉시 최고 등급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566928" y="50109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0A3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1바이트인가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2761488" y="5010912"/>
            <a:ext cx="88632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4C8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패킷 용량이 극히 작다. 필요한 정보를 비트 단위로 눌러 담아야 1초 주기 연속 방송이 가능하다.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566928" y="53218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0A3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못 바꾸는가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2761488" y="5321808"/>
            <a:ext cx="88632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4C8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 이미 배포된 구버전 단말과 통신해야 한다. 배치가 바뀌면 구버전과 신버전이 서로를 오인한다.</a:t>
            </a:r>
            <a:endParaRPr lang="en-US" sz="115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56327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0A3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호환 설계</a:t>
            </a:r>
            <a:endParaRPr 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2761488" y="5632704"/>
            <a:ext cx="88632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4C8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보행자 평상 상태 = 0x00. 페이로드를 싣지 않는 일반 비콘의 기본값과 자연 일치한다.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73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· 경영진 보고 · v1.1.70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73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구조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87552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27개 파일 11,636줄 · 6개 계층 · 순환 참조 없음 (2026.08 실측)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8138160" cy="713232"/>
          </a:xfrm>
          <a:prstGeom prst="roundRect">
            <a:avLst>
              <a:gd name="adj" fmla="val 10256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47088"/>
            <a:ext cx="201168" cy="201168"/>
          </a:xfrm>
          <a:prstGeom prst="ellipse">
            <a:avLst/>
          </a:prstGeom>
          <a:solidFill>
            <a:srgbClr val="3D6E8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33856" y="159105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05_ui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06624" y="1591056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· 역할 선택 · 설정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693408" y="1591056"/>
            <a:ext cx="1005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파일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744968" y="1591056"/>
            <a:ext cx="777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2,521줄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36008" y="2304288"/>
            <a:ext cx="0" cy="128016"/>
          </a:xfrm>
          <a:prstGeom prst="line">
            <a:avLst/>
          </a:prstGeom>
          <a:noFill/>
          <a:ln w="19050">
            <a:solidFill>
              <a:srgbClr val="D3DDE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66928" y="2432304"/>
            <a:ext cx="8138160" cy="713232"/>
          </a:xfrm>
          <a:prstGeom prst="roundRect">
            <a:avLst>
              <a:gd name="adj" fmla="val 10256"/>
            </a:avLst>
          </a:prstGeom>
          <a:solidFill>
            <a:srgbClr val="0F1C26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04672" y="2688336"/>
            <a:ext cx="201168" cy="201168"/>
          </a:xfrm>
          <a:prstGeom prst="ellipse">
            <a:avLst/>
          </a:prstGeom>
          <a:solidFill>
            <a:srgbClr val="D24A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33856" y="243230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03_service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706624" y="2432304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D3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판정 · 상태 관리 · 생명주기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693408" y="2432304"/>
            <a:ext cx="1005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A5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 파일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744968" y="2432304"/>
            <a:ext cx="777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0A3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4,133줄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36008" y="3145536"/>
            <a:ext cx="0" cy="128016"/>
          </a:xfrm>
          <a:prstGeom prst="line">
            <a:avLst/>
          </a:prstGeom>
          <a:noFill/>
          <a:ln w="19050">
            <a:solidFill>
              <a:srgbClr val="D3DDE3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66928" y="3273552"/>
            <a:ext cx="8138160" cy="713232"/>
          </a:xfrm>
          <a:prstGeom prst="roundRect">
            <a:avLst>
              <a:gd name="adj" fmla="val 10256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" y="3529584"/>
            <a:ext cx="201168" cy="201168"/>
          </a:xfrm>
          <a:prstGeom prst="ellipse">
            <a:avLst/>
          </a:prstGeom>
          <a:solidFill>
            <a:srgbClr val="F0A31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133856" y="327355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02_ble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706624" y="3273552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블루투스 송수신 · 신호 정제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693408" y="3273552"/>
            <a:ext cx="1005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파일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744968" y="3273552"/>
            <a:ext cx="777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1,712줄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636008" y="3986784"/>
            <a:ext cx="0" cy="128016"/>
          </a:xfrm>
          <a:prstGeom prst="line">
            <a:avLst/>
          </a:prstGeom>
          <a:noFill/>
          <a:ln w="19050">
            <a:solidFill>
              <a:srgbClr val="D3DDE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66928" y="4114800"/>
            <a:ext cx="8138160" cy="713232"/>
          </a:xfrm>
          <a:prstGeom prst="roundRect">
            <a:avLst>
              <a:gd name="adj" fmla="val 10256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04672" y="4370832"/>
            <a:ext cx="201168" cy="201168"/>
          </a:xfrm>
          <a:prstGeom prst="ellipse">
            <a:avLst/>
          </a:prstGeom>
          <a:solidFill>
            <a:srgbClr val="F0A3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133856" y="411480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06_utils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2706624" y="4114800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· UWB · 비콘 · 오버레이 · 설정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693408" y="4114800"/>
            <a:ext cx="1005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파일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744968" y="4114800"/>
            <a:ext cx="777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3,040줄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636008" y="4828032"/>
            <a:ext cx="0" cy="128016"/>
          </a:xfrm>
          <a:prstGeom prst="line">
            <a:avLst/>
          </a:prstGeom>
          <a:noFill/>
          <a:ln w="19050">
            <a:solidFill>
              <a:srgbClr val="D3DDE3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66928" y="4956048"/>
            <a:ext cx="8138160" cy="713232"/>
          </a:xfrm>
          <a:prstGeom prst="roundRect">
            <a:avLst>
              <a:gd name="adj" fmla="val 10256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04672" y="5212080"/>
            <a:ext cx="201168" cy="201168"/>
          </a:xfrm>
          <a:prstGeom prst="ellipse">
            <a:avLst/>
          </a:prstGeom>
          <a:solidFill>
            <a:srgbClr val="6C7C88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133856" y="4956048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01_model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2706624" y="4956048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모델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693408" y="4956048"/>
            <a:ext cx="1005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 파일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7744968" y="4956048"/>
            <a:ext cx="777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32줄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851392" y="1591056"/>
            <a:ext cx="2773375" cy="2194560"/>
          </a:xfrm>
          <a:prstGeom prst="roundRect">
            <a:avLst>
              <a:gd name="adj" fmla="val 3333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9107424" y="1755648"/>
            <a:ext cx="22613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04_firebase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9107424" y="2048256"/>
            <a:ext cx="226131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설정·프로필 공유, 배포 권위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 파일 · 181줄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9107424" y="2688336"/>
            <a:ext cx="226131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판정 경로에서 분리되어 있다.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클라우드가 끊겨도 경보는 동작한다.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851392" y="3931920"/>
            <a:ext cx="2773375" cy="1554480"/>
          </a:xfrm>
          <a:prstGeom prst="roundRect">
            <a:avLst>
              <a:gd name="adj" fmla="val 4706"/>
            </a:avLst>
          </a:prstGeom>
          <a:solidFill>
            <a:srgbClr val="0F1C26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9107424" y="4078224"/>
            <a:ext cx="22613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A3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9107424" y="4370832"/>
            <a:ext cx="22613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0D3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JVM 단위 테스트 17건 · 488줄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0D3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실기기 없이 CI에서 자동 실행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9107424" y="5029200"/>
            <a:ext cx="22613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9A3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2026.08 신설 (로드맵 1단계)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· 경영진 보고 · v1.1.70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개선이 필요한 지점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87552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하나에 경보·거리·보정·생명주기가 모두 들어 있다</a:t>
            </a:r>
            <a:endParaRPr lang="en-US" sz="13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591056"/>
          <a:ext cx="68580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591056"/>
            <a:ext cx="4035247" cy="1700784"/>
          </a:xfrm>
          <a:prstGeom prst="roundRect">
            <a:avLst>
              <a:gd name="adj" fmla="val 4301"/>
            </a:avLst>
          </a:prstGeom>
          <a:solidFill>
            <a:srgbClr val="0F1C26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845552" y="1755648"/>
            <a:ext cx="35231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A3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문제인가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7845552" y="2066544"/>
            <a:ext cx="352318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4D5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등급 판정, UWB 거리 관리, 보정값 계산, 서비스 생명주기가 한 파일 안에 섞여 있다. 한 곳을 고치면 다른 증상이 따라 나온다.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589520" y="3419856"/>
            <a:ext cx="4035247" cy="1810512"/>
          </a:xfrm>
          <a:prstGeom prst="roundRect">
            <a:avLst>
              <a:gd name="adj" fmla="val 4040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845552" y="3584448"/>
            <a:ext cx="35231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푸는가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845552" y="3877056"/>
            <a:ext cx="35231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경보 판정 컴포넌트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845552" y="4206240"/>
            <a:ext cx="35231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UWB 거리 컴포넌트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845552" y="4535424"/>
            <a:ext cx="35231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보정 컴포넌트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845552" y="4901184"/>
            <a:ext cx="35231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컴포넌트로 분리 (로드맵 3단계)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32180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976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분해의 수용 기준은 '동작이 하나도 달라지지 않는 것'이다. 기능을 바꾸는 작업이 아니라, 같은 동작을 검증 가능한 형태로 다시 세우는 작업이다.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· 경영진 보고 · v1.1.70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신뢰성 확보 로드맵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87552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C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'같은 상황에서 같은 판정' — 5단계, 매 단계마다 출하 가능한 상태로 끝난다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1700784"/>
            <a:ext cx="2157984" cy="2743200"/>
          </a:xfrm>
          <a:prstGeom prst="roundRect">
            <a:avLst>
              <a:gd name="adj" fmla="val 3390"/>
            </a:avLst>
          </a:prstGeom>
          <a:solidFill>
            <a:srgbClr val="1B2E3C"/>
          </a:solidFill>
          <a:ln/>
          <a:effectLst>
            <a:outerShdw sx="100000" sy="100000" kx="0" ky="0" algn="bl" rotWithShape="0" blurRad="127000" dist="635" dir="54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89888" y="1463040"/>
            <a:ext cx="512064" cy="512064"/>
          </a:xfrm>
          <a:prstGeom prst="ellipse">
            <a:avLst/>
          </a:prstGeom>
          <a:solidFill>
            <a:srgbClr val="1E8A6E"/>
          </a:solidFill>
          <a:ln w="12700">
            <a:solidFill>
              <a:srgbClr val="1E8A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89888" y="1463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157984"/>
            <a:ext cx="1719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· CI 회귀 게이트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852928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4C8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회귀를 현장이 아니라 빌드에서 먼저 잡는다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86384" y="4023360"/>
            <a:ext cx="914400" cy="310896"/>
          </a:xfrm>
          <a:prstGeom prst="roundRect">
            <a:avLst>
              <a:gd name="adj" fmla="val 147059"/>
            </a:avLst>
          </a:prstGeom>
          <a:solidFill>
            <a:srgbClr val="1E8A6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86384" y="402336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29484" y="3072384"/>
            <a:ext cx="91440" cy="0"/>
          </a:xfrm>
          <a:prstGeom prst="line">
            <a:avLst/>
          </a:prstGeom>
          <a:noFill/>
          <a:ln w="25400">
            <a:solidFill>
              <a:srgbClr val="27414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825496" y="1700784"/>
            <a:ext cx="2157984" cy="2743200"/>
          </a:xfrm>
          <a:prstGeom prst="roundRect">
            <a:avLst>
              <a:gd name="adj" fmla="val 3390"/>
            </a:avLst>
          </a:prstGeom>
          <a:solidFill>
            <a:srgbClr val="1B2E3C"/>
          </a:solidFill>
          <a:ln/>
          <a:effectLst>
            <a:outerShdw sx="100000" sy="100000" kx="0" ky="0" algn="bl" rotWithShape="0" blurRad="127000" dist="635" dir="54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48456" y="1463040"/>
            <a:ext cx="512064" cy="512064"/>
          </a:xfrm>
          <a:prstGeom prst="ellipse">
            <a:avLst/>
          </a:prstGeom>
          <a:solidFill>
            <a:srgbClr val="27414F"/>
          </a:solidFill>
          <a:ln w="12700">
            <a:solidFill>
              <a:srgbClr val="2741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48456" y="1463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CA5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044952" y="2157984"/>
            <a:ext cx="1719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경로 기준값 고정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044952" y="2852928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4C8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격상·해제 전 경로를 기대값에 고정, 저속 접근 미탐지 수정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044952" y="4023360"/>
            <a:ext cx="914400" cy="310896"/>
          </a:xfrm>
          <a:prstGeom prst="roundRect">
            <a:avLst>
              <a:gd name="adj" fmla="val 147059"/>
            </a:avLst>
          </a:prstGeom>
          <a:solidFill>
            <a:srgbClr val="27414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044952" y="402336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C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예정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988052" y="3072384"/>
            <a:ext cx="91440" cy="0"/>
          </a:xfrm>
          <a:prstGeom prst="line">
            <a:avLst/>
          </a:prstGeom>
          <a:noFill/>
          <a:ln w="25400">
            <a:solidFill>
              <a:srgbClr val="27414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084064" y="1700784"/>
            <a:ext cx="2157984" cy="2743200"/>
          </a:xfrm>
          <a:prstGeom prst="roundRect">
            <a:avLst>
              <a:gd name="adj" fmla="val 3390"/>
            </a:avLst>
          </a:prstGeom>
          <a:solidFill>
            <a:srgbClr val="1B2E3C"/>
          </a:solidFill>
          <a:ln/>
          <a:effectLst>
            <a:outerShdw sx="100000" sy="100000" kx="0" ky="0" algn="bl" rotWithShape="0" blurRad="127000" dist="635" dir="54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907024" y="1463040"/>
            <a:ext cx="512064" cy="512064"/>
          </a:xfrm>
          <a:prstGeom prst="ellipse">
            <a:avLst/>
          </a:prstGeom>
          <a:solidFill>
            <a:srgbClr val="27414F"/>
          </a:solidFill>
          <a:ln w="12700">
            <a:solidFill>
              <a:srgbClr val="27414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07024" y="1463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CA5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303520" y="2157984"/>
            <a:ext cx="1719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로직 분해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303520" y="2852928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4C8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경보·거리·보정 세 컴포넌트로 분리, 동작 보존 증명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303520" y="4023360"/>
            <a:ext cx="914400" cy="310896"/>
          </a:xfrm>
          <a:prstGeom prst="roundRect">
            <a:avLst>
              <a:gd name="adj" fmla="val 147059"/>
            </a:avLst>
          </a:prstGeom>
          <a:solidFill>
            <a:srgbClr val="27414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03520" y="402336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C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예정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46620" y="3072384"/>
            <a:ext cx="91440" cy="0"/>
          </a:xfrm>
          <a:prstGeom prst="line">
            <a:avLst/>
          </a:prstGeom>
          <a:noFill/>
          <a:ln w="25400">
            <a:solidFill>
              <a:srgbClr val="27414F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342632" y="1700784"/>
            <a:ext cx="2157984" cy="2743200"/>
          </a:xfrm>
          <a:prstGeom prst="roundRect">
            <a:avLst>
              <a:gd name="adj" fmla="val 3390"/>
            </a:avLst>
          </a:prstGeom>
          <a:solidFill>
            <a:srgbClr val="1B2E3C"/>
          </a:solidFill>
          <a:ln/>
          <a:effectLst>
            <a:outerShdw sx="100000" sy="100000" kx="0" ky="0" algn="bl" rotWithShape="0" blurRad="127000" dist="635" dir="5400000">
              <a:srgbClr val="00000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165592" y="1463040"/>
            <a:ext cx="512064" cy="512064"/>
          </a:xfrm>
          <a:prstGeom prst="ellipse">
            <a:avLst/>
          </a:prstGeom>
          <a:solidFill>
            <a:srgbClr val="27414F"/>
          </a:solidFill>
          <a:ln w="12700">
            <a:solidFill>
              <a:srgbClr val="27414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65592" y="1463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CA5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7562088" y="2157984"/>
            <a:ext cx="1719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기기 상태 단일화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7562088" y="2852928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4C8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상태를 하나로 통합, 장시간 구동 안정성 확보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562088" y="4023360"/>
            <a:ext cx="914400" cy="310896"/>
          </a:xfrm>
          <a:prstGeom prst="roundRect">
            <a:avLst>
              <a:gd name="adj" fmla="val 147059"/>
            </a:avLst>
          </a:prstGeom>
          <a:solidFill>
            <a:srgbClr val="27414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562088" y="402336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C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예정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505188" y="3072384"/>
            <a:ext cx="91440" cy="0"/>
          </a:xfrm>
          <a:prstGeom prst="line">
            <a:avLst/>
          </a:prstGeom>
          <a:noFill/>
          <a:ln w="25400">
            <a:solidFill>
              <a:srgbClr val="27414F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9601200" y="1700784"/>
            <a:ext cx="2157984" cy="2743200"/>
          </a:xfrm>
          <a:prstGeom prst="roundRect">
            <a:avLst>
              <a:gd name="adj" fmla="val 3390"/>
            </a:avLst>
          </a:prstGeom>
          <a:solidFill>
            <a:srgbClr val="1B2E3C"/>
          </a:solidFill>
          <a:ln/>
          <a:effectLst>
            <a:outerShdw sx="100000" sy="100000" kx="0" ky="0" algn="bl" rotWithShape="0" blurRad="127000" dist="635" dir="5400000">
              <a:srgbClr val="000000">
                <a:alpha val="2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424160" y="1463040"/>
            <a:ext cx="512064" cy="512064"/>
          </a:xfrm>
          <a:prstGeom prst="ellipse">
            <a:avLst/>
          </a:prstGeom>
          <a:solidFill>
            <a:srgbClr val="27414F"/>
          </a:solidFill>
          <a:ln w="12700">
            <a:solidFill>
              <a:srgbClr val="27414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0424160" y="1463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CA5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9820656" y="2157984"/>
            <a:ext cx="1719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처리 분리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9820656" y="2852928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4C8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다수 기기 현장에서 화면 지연 없이 동작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9820656" y="4023360"/>
            <a:ext cx="914400" cy="310896"/>
          </a:xfrm>
          <a:prstGeom prst="roundRect">
            <a:avLst>
              <a:gd name="adj" fmla="val 147059"/>
            </a:avLst>
          </a:prstGeom>
          <a:solidFill>
            <a:srgbClr val="27414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820656" y="402336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C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예정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4663440"/>
            <a:ext cx="11057839" cy="841248"/>
          </a:xfrm>
          <a:prstGeom prst="roundRect">
            <a:avLst>
              <a:gd name="adj" fmla="val 8696"/>
            </a:avLst>
          </a:prstGeom>
          <a:solidFill>
            <a:srgbClr val="1B2E3C"/>
          </a:solidFill>
          <a:ln/>
          <a:effectLst>
            <a:outerShdw sx="100000" sy="100000" kx="0" ky="0" algn="bl" rotWithShape="0" blurRad="127000" dist="635" dir="5400000">
              <a:srgbClr val="000000">
                <a:alpha val="20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841248" y="4663440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A3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완료 성과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2944368" y="4663440"/>
            <a:ext cx="84060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4D5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테스트 17건 신설 · 빌드마다 자동 실행 · 실패 시 릴리스 자동 차단 · 실기기 없이 회귀 판별 가능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73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· 경영진 보고 · v1.1.70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73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관리 체계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87552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1단계에서 새로 만든 것 — 회귀를 현장이 아니라 빌드에서 잡는 장치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1609344"/>
            <a:ext cx="2157984" cy="1773936"/>
          </a:xfrm>
          <a:prstGeom prst="roundRect">
            <a:avLst>
              <a:gd name="adj" fmla="val 4124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86384" y="1792224"/>
            <a:ext cx="310896" cy="310896"/>
          </a:xfrm>
          <a:prstGeom prst="ellipse">
            <a:avLst/>
          </a:prstGeom>
          <a:solidFill>
            <a:srgbClr val="3D6E8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88720" y="177393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변경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249424"/>
            <a:ext cx="1719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개발자가 수정을 올린다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729484" y="2496312"/>
            <a:ext cx="91440" cy="0"/>
          </a:xfrm>
          <a:prstGeom prst="line">
            <a:avLst/>
          </a:prstGeom>
          <a:noFill/>
          <a:ln w="25400">
            <a:solidFill>
              <a:srgbClr val="F0A31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825496" y="1609344"/>
            <a:ext cx="2157984" cy="1773936"/>
          </a:xfrm>
          <a:prstGeom prst="roundRect">
            <a:avLst>
              <a:gd name="adj" fmla="val 4124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44952" y="1792224"/>
            <a:ext cx="310896" cy="310896"/>
          </a:xfrm>
          <a:prstGeom prst="ellipse">
            <a:avLst/>
          </a:prstGeom>
          <a:solidFill>
            <a:srgbClr val="3D6E8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47288" y="177393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빌드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044952" y="2249424"/>
            <a:ext cx="1719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Actions가 즉시 빌드한다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988052" y="2496312"/>
            <a:ext cx="91440" cy="0"/>
          </a:xfrm>
          <a:prstGeom prst="line">
            <a:avLst/>
          </a:prstGeom>
          <a:noFill/>
          <a:ln w="25400">
            <a:solidFill>
              <a:srgbClr val="F0A31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084064" y="1609344"/>
            <a:ext cx="2157984" cy="1773936"/>
          </a:xfrm>
          <a:prstGeom prst="roundRect">
            <a:avLst>
              <a:gd name="adj" fmla="val 4124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03520" y="1792224"/>
            <a:ext cx="310896" cy="310896"/>
          </a:xfrm>
          <a:prstGeom prst="ellipse">
            <a:avLst/>
          </a:prstGeom>
          <a:solidFill>
            <a:srgbClr val="F0A31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705856" y="177393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기준값 검증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303520" y="2249424"/>
            <a:ext cx="1719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테스트 17건이 신호 처리 결과를 기대값과 대조한다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246620" y="2496312"/>
            <a:ext cx="91440" cy="0"/>
          </a:xfrm>
          <a:prstGeom prst="line">
            <a:avLst/>
          </a:prstGeom>
          <a:noFill/>
          <a:ln w="25400">
            <a:solidFill>
              <a:srgbClr val="F0A31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342632" y="1609344"/>
            <a:ext cx="2157984" cy="1773936"/>
          </a:xfrm>
          <a:prstGeom prst="roundRect">
            <a:avLst>
              <a:gd name="adj" fmla="val 4124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562088" y="1792224"/>
            <a:ext cx="310896" cy="310896"/>
          </a:xfrm>
          <a:prstGeom prst="ellipse">
            <a:avLst/>
          </a:prstGeom>
          <a:solidFill>
            <a:srgbClr val="D24A3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964424" y="177393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/ 차단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562088" y="2249424"/>
            <a:ext cx="1719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어긋나면 릴리스가 차단된다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505188" y="2496312"/>
            <a:ext cx="91440" cy="0"/>
          </a:xfrm>
          <a:prstGeom prst="line">
            <a:avLst/>
          </a:prstGeom>
          <a:noFill/>
          <a:ln w="25400">
            <a:solidFill>
              <a:srgbClr val="F0A31A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601200" y="1609344"/>
            <a:ext cx="2157984" cy="1773936"/>
          </a:xfrm>
          <a:prstGeom prst="roundRect">
            <a:avLst>
              <a:gd name="adj" fmla="val 4124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820656" y="1792224"/>
            <a:ext cx="310896" cy="310896"/>
          </a:xfrm>
          <a:prstGeom prst="ellipse">
            <a:avLst/>
          </a:prstGeom>
          <a:solidFill>
            <a:srgbClr val="1E8A6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222992" y="177393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배포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20656" y="2249424"/>
            <a:ext cx="1719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시에만 앱이 자동 업데이트 대상이 된다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3621024"/>
            <a:ext cx="5468112" cy="1792224"/>
          </a:xfrm>
          <a:prstGeom prst="roundRect">
            <a:avLst>
              <a:gd name="adj" fmla="val 4082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59536" y="378561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859536" y="409651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회귀를 사용자가 현장에서 발견했다.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59536" y="44805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증상이 보고되면 그때부터 원인을 찾았고, 확인 사이클이 현장 가용 시간에 묶여 있었다.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153912" y="3621024"/>
            <a:ext cx="5468112" cy="1792224"/>
          </a:xfrm>
          <a:prstGeom prst="roundRect">
            <a:avLst>
              <a:gd name="adj" fmla="val 4082"/>
            </a:avLst>
          </a:prstGeom>
          <a:solidFill>
            <a:srgbClr val="0F1C26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6446520" y="378561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A3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6446520" y="409651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회귀를 빌드가 먼저 발견한다.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446520" y="44805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4D5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테스트가 실제로 실행됐는지까지 검증한다. 테스트가 조용히 사라져 통과처럼 보이는 상황을 차단했다.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· 경영진 보고 · v1.1.70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 시 이점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87552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대수가 늘수록 감지 범위가 인프라 비용 없이 넓어진다</a:t>
            </a:r>
            <a:endParaRPr lang="en-US" sz="13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609344"/>
          <a:ext cx="5486400" cy="314553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236208" y="1609344"/>
            <a:ext cx="5388559" cy="822960"/>
          </a:xfrm>
          <a:prstGeom prst="roundRect">
            <a:avLst>
              <a:gd name="adj" fmla="val 8889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455664" y="1801368"/>
            <a:ext cx="438912" cy="438912"/>
          </a:xfrm>
          <a:prstGeom prst="ellipse">
            <a:avLst/>
          </a:prstGeom>
          <a:solidFill>
            <a:srgbClr val="0F1C2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55664" y="18013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A3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◎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022592" y="1719072"/>
            <a:ext cx="4382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한계비용 구조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2002536"/>
            <a:ext cx="43827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 한 대 추가 = 앱 설치 한 건. 앵커·배선·서버 증설이 없다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36208" y="2505456"/>
            <a:ext cx="5388559" cy="822960"/>
          </a:xfrm>
          <a:prstGeom prst="roundRect">
            <a:avLst>
              <a:gd name="adj" fmla="val 8889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55664" y="2697480"/>
            <a:ext cx="438912" cy="438912"/>
          </a:xfrm>
          <a:prstGeom prst="ellipse">
            <a:avLst/>
          </a:prstGeom>
          <a:solidFill>
            <a:srgbClr val="0F1C2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55664" y="2697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A3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⇄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022592" y="2615184"/>
            <a:ext cx="4382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커버리지 자기 증식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022592" y="2898648"/>
            <a:ext cx="43827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대수가 늘수록 감지쌍이 제곱으로 늘어난다. 사각지대가 자연히 줄어든다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36208" y="3401568"/>
            <a:ext cx="5388559" cy="822960"/>
          </a:xfrm>
          <a:prstGeom prst="roundRect">
            <a:avLst>
              <a:gd name="adj" fmla="val 8889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55664" y="3593592"/>
            <a:ext cx="438912" cy="438912"/>
          </a:xfrm>
          <a:prstGeom prst="ellipse">
            <a:avLst/>
          </a:prstGeom>
          <a:solidFill>
            <a:srgbClr val="0F1C2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55664" y="35935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A3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◈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022592" y="3511296"/>
            <a:ext cx="4382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이식성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022592" y="3794760"/>
            <a:ext cx="43827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센터나 라인이 바뀌어도 재공사가 없다. 사업장별 보정값만 공유하면 된다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236208" y="4297680"/>
            <a:ext cx="5388559" cy="822960"/>
          </a:xfrm>
          <a:prstGeom prst="roundRect">
            <a:avLst>
              <a:gd name="adj" fmla="val 8889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5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455664" y="4489704"/>
            <a:ext cx="438912" cy="438912"/>
          </a:xfrm>
          <a:prstGeom prst="ellipse">
            <a:avLst/>
          </a:prstGeom>
          <a:solidFill>
            <a:srgbClr val="0F1C26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55664" y="44897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A3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7022592" y="4407408"/>
            <a:ext cx="4382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데이터 축적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022592" y="4690872"/>
            <a:ext cx="43827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이력이 쌓이면 위험 구간·시간대를 근거로 분석할 수 있다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66928" y="5230368"/>
            <a:ext cx="11057839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F0A31A"/>
            </a:solidFill>
            <a:prstDash val="solid"/>
          </a:ln>
          <a:effectLst>
            <a:outerShdw sx="100000" sy="100000" kx="0" ky="0" algn="bl" rotWithShape="0" blurRad="127000" dist="635" dir="5400000">
              <a:srgbClr val="000000">
                <a:alpha val="4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841248" y="5230368"/>
            <a:ext cx="1050919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단, 단말 한 대가 동시에 추적할 수 있는 대수에는 현재 한계가 있다. 20대 이상 밀집 환경의 화면 지연은 로드맵 5단계에서 해소한다.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· 경영진 보고 · v1.1.70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시나리오 (제안)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87552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단계는 다음 단계로 넘어갈 판단 근거를 남기고 끝난다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3657600" cy="3803904"/>
          </a:xfrm>
          <a:prstGeom prst="roundRect">
            <a:avLst>
              <a:gd name="adj" fmla="val 2000"/>
            </a:avLst>
          </a:prstGeom>
          <a:solidFill>
            <a:srgbClr val="0F1C26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92224"/>
            <a:ext cx="1042416" cy="310896"/>
          </a:xfrm>
          <a:prstGeom prst="roundRect">
            <a:avLst>
              <a:gd name="adj" fmla="val 147059"/>
            </a:avLst>
          </a:prstGeom>
          <a:solidFill>
            <a:srgbClr val="F0A31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792224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212848"/>
            <a:ext cx="3182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파일럿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578608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C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 센터, 위험 동선 1개 구간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41248" y="3136392"/>
            <a:ext cx="118872" cy="118872"/>
          </a:xfrm>
          <a:prstGeom prst="ellipse">
            <a:avLst/>
          </a:prstGeom>
          <a:solidFill>
            <a:srgbClr val="F0A31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78992" y="3054096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4D5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장비·인원에 앱 설치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41248" y="3611880"/>
            <a:ext cx="118872" cy="118872"/>
          </a:xfrm>
          <a:prstGeom prst="ellipse">
            <a:avLst/>
          </a:prstGeom>
          <a:solidFill>
            <a:srgbClr val="F0A31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78992" y="3529584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4D5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역할·반경 현장 확정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41248" y="4087368"/>
            <a:ext cx="118872" cy="118872"/>
          </a:xfrm>
          <a:prstGeom prst="ellipse">
            <a:avLst/>
          </a:prstGeom>
          <a:solidFill>
            <a:srgbClr val="F0A31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78992" y="4005072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4D5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오경보·미탐지 사례 수집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" y="4626864"/>
            <a:ext cx="3182112" cy="0"/>
          </a:xfrm>
          <a:prstGeom prst="line">
            <a:avLst/>
          </a:prstGeom>
          <a:noFill/>
          <a:ln w="12700">
            <a:solidFill>
              <a:srgbClr val="27414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4718304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F0A3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근거: 경보가 뜰 때 뜨고 꺼질 때 꺼지는가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29100" y="3493008"/>
            <a:ext cx="91440" cy="0"/>
          </a:xfrm>
          <a:prstGeom prst="line">
            <a:avLst/>
          </a:prstGeom>
          <a:noFill/>
          <a:ln w="25400">
            <a:solidFill>
              <a:srgbClr val="F0A31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325112" y="1591056"/>
            <a:ext cx="3657600" cy="3803904"/>
          </a:xfrm>
          <a:prstGeom prst="roundRect">
            <a:avLst>
              <a:gd name="adj" fmla="val 2000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62856" y="1792224"/>
            <a:ext cx="1042416" cy="310896"/>
          </a:xfrm>
          <a:prstGeom prst="roundRect">
            <a:avLst>
              <a:gd name="adj" fmla="val 147059"/>
            </a:avLst>
          </a:prstGeom>
          <a:solidFill>
            <a:srgbClr val="3D6E8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62856" y="1792224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562856" y="2212848"/>
            <a:ext cx="3182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단위 확대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562856" y="2578608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사업장 전 라인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99432" y="3136392"/>
            <a:ext cx="118872" cy="118872"/>
          </a:xfrm>
          <a:prstGeom prst="ellipse">
            <a:avLst/>
          </a:prstGeom>
          <a:solidFill>
            <a:srgbClr val="3D6E8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37176" y="3054096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사업장별 보정값 공유 적용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99432" y="3611880"/>
            <a:ext cx="118872" cy="118872"/>
          </a:xfrm>
          <a:prstGeom prst="ellipse">
            <a:avLst/>
          </a:prstGeom>
          <a:solidFill>
            <a:srgbClr val="3D6E8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37176" y="3529584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장시간 연속 구동 안정성 확인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99432" y="4087368"/>
            <a:ext cx="118872" cy="118872"/>
          </a:xfrm>
          <a:prstGeom prst="ellipse">
            <a:avLst/>
          </a:prstGeom>
          <a:solidFill>
            <a:srgbClr val="3D6E8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837176" y="4005072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다수 기기 밀집 구간 성능 확인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562856" y="4626864"/>
            <a:ext cx="3182112" cy="0"/>
          </a:xfrm>
          <a:prstGeom prst="line">
            <a:avLst/>
          </a:prstGeom>
          <a:noFill/>
          <a:ln w="12700">
            <a:solidFill>
              <a:srgbClr val="D3DDE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62856" y="4718304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B976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근거: 대수가 늘어도 판정이 흔들리지 않는가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87284" y="3493008"/>
            <a:ext cx="91440" cy="0"/>
          </a:xfrm>
          <a:prstGeom prst="line">
            <a:avLst/>
          </a:prstGeom>
          <a:noFill/>
          <a:ln w="25400">
            <a:solidFill>
              <a:srgbClr val="F0A31A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083296" y="1591056"/>
            <a:ext cx="3657600" cy="3803904"/>
          </a:xfrm>
          <a:prstGeom prst="roundRect">
            <a:avLst>
              <a:gd name="adj" fmla="val 2000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321040" y="1792224"/>
            <a:ext cx="1042416" cy="310896"/>
          </a:xfrm>
          <a:prstGeom prst="roundRect">
            <a:avLst>
              <a:gd name="adj" fmla="val 147059"/>
            </a:avLst>
          </a:prstGeom>
          <a:solidFill>
            <a:srgbClr val="1E8A6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321040" y="1792224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321040" y="2212848"/>
            <a:ext cx="3182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표준화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8321040" y="2578608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센터 · 운영 규칙 편입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8357616" y="3136392"/>
            <a:ext cx="118872" cy="118872"/>
          </a:xfrm>
          <a:prstGeom prst="ellipse">
            <a:avLst/>
          </a:prstGeom>
          <a:solidFill>
            <a:srgbClr val="1E8A6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595360" y="3054096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 소지·충전 운영 규칙 수립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357616" y="3611880"/>
            <a:ext cx="118872" cy="118872"/>
          </a:xfrm>
          <a:prstGeom prst="ellipse">
            <a:avLst/>
          </a:prstGeom>
          <a:solidFill>
            <a:srgbClr val="1E8A6E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595360" y="3529584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입사자 온보딩 절차 포함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8357616" y="4087368"/>
            <a:ext cx="118872" cy="118872"/>
          </a:xfrm>
          <a:prstGeom prst="ellipse">
            <a:avLst/>
          </a:prstGeom>
          <a:solidFill>
            <a:srgbClr val="1E8A6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595360" y="4005072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이력 기반 정기 리뷰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8321040" y="4626864"/>
            <a:ext cx="3182112" cy="0"/>
          </a:xfrm>
          <a:prstGeom prst="line">
            <a:avLst/>
          </a:prstGeom>
          <a:noFill/>
          <a:ln w="12700">
            <a:solidFill>
              <a:srgbClr val="D3DDE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321040" y="4718304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B976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근거: 운영 규칙 없이도 유지되는가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· 경영진 보고 · v1.1.70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한계와 리스크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87552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 결정 전에 알고 있어야 할 항목 — 숨기지 않고 함께 본다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15910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858768" y="15910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문제인가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07808" y="159105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7C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11057839" cy="749808"/>
          </a:xfrm>
          <a:prstGeom prst="roundRect">
            <a:avLst>
              <a:gd name="adj" fmla="val 9756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276856"/>
            <a:ext cx="118872" cy="118872"/>
          </a:xfrm>
          <a:prstGeom prst="ellipse">
            <a:avLst/>
          </a:prstGeom>
          <a:solidFill>
            <a:srgbClr val="F0A31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60704" y="1956816"/>
            <a:ext cx="2706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 기반 거리 추정 오차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858768" y="1956816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구조물·적재물이 전파를 가리면 거리가 실제와 어긋난다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607808" y="1956816"/>
            <a:ext cx="3941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 신호 정제 · 역할쌍 보정 · 상호 신호 대칭화. 재현성 확보 작업이 로드맵 2~4단계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2779776"/>
            <a:ext cx="11057839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3DDE3"/>
            </a:solidFill>
            <a:prstDash val="solid"/>
          </a:ln>
          <a:effectLst>
            <a:outerShdw sx="100000" sy="100000" kx="0" ky="0" algn="bl" rotWithShape="0" blurRad="127000" dist="635" dir="5400000">
              <a:srgbClr val="000000">
                <a:alpha val="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3099816"/>
            <a:ext cx="118872" cy="118872"/>
          </a:xfrm>
          <a:prstGeom prst="ellipse">
            <a:avLst/>
          </a:prstGeom>
          <a:solidFill>
            <a:srgbClr val="D24A3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60704" y="2779776"/>
            <a:ext cx="2706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 소지·전원 의존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858768" y="2779776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앱이 설치된 단말을 소지하지 않으면 감지되지 않는다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607808" y="2779776"/>
            <a:ext cx="3941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규칙으로 보완 필요. 기술로 해결되는 항목이 아니다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02736"/>
            <a:ext cx="11057839" cy="749808"/>
          </a:xfrm>
          <a:prstGeom prst="roundRect">
            <a:avLst>
              <a:gd name="adj" fmla="val 9756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3922776"/>
            <a:ext cx="118872" cy="118872"/>
          </a:xfrm>
          <a:prstGeom prst="ellipse">
            <a:avLst/>
          </a:prstGeom>
          <a:solidFill>
            <a:srgbClr val="F0A31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60704" y="3602736"/>
            <a:ext cx="2706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다수 기기 밀집 성능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858768" y="3602736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20대 이상이 한 구역에 모이면 화면 반응이 느려진다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607808" y="3602736"/>
            <a:ext cx="3941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로드맵 5단계에서 판정 처리를 분리해 해소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425696"/>
            <a:ext cx="11057839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3DDE3"/>
            </a:solidFill>
            <a:prstDash val="solid"/>
          </a:ln>
          <a:effectLst>
            <a:outerShdw sx="100000" sy="100000" kx="0" ky="0" algn="bl" rotWithShape="0" blurRad="127000" dist="635" dir="5400000">
              <a:srgbClr val="000000">
                <a:alpha val="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22960" y="4745736"/>
            <a:ext cx="118872" cy="118872"/>
          </a:xfrm>
          <a:prstGeom prst="ellipse">
            <a:avLst/>
          </a:prstGeom>
          <a:solidFill>
            <a:srgbClr val="3D6E8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60704" y="4425696"/>
            <a:ext cx="2706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UWB 정밀 측위 의존성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3858768" y="4425696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중인 UWB 라이브러리가 정식 출시 전 버전이다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607808" y="4425696"/>
            <a:ext cx="3941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판정은 블루투스. UWB는 보조 수단으로 한정해 영향 차단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248656"/>
            <a:ext cx="11057839" cy="749808"/>
          </a:xfrm>
          <a:prstGeom prst="roundRect">
            <a:avLst>
              <a:gd name="adj" fmla="val 9756"/>
            </a:avLst>
          </a:prstGeom>
          <a:solidFill>
            <a:srgbClr val="F1F5F7"/>
          </a:solidFill>
          <a:ln/>
          <a:effectLst>
            <a:outerShdw sx="100000" sy="100000" kx="0" ky="0" algn="bl" rotWithShape="0" blurRad="127000" dist="635" dir="5400000">
              <a:srgbClr val="000000">
                <a:alpha val="4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22960" y="5568696"/>
            <a:ext cx="118872" cy="118872"/>
          </a:xfrm>
          <a:prstGeom prst="ellipse">
            <a:avLst/>
          </a:prstGeom>
          <a:solidFill>
            <a:srgbClr val="D24A3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60704" y="5248656"/>
            <a:ext cx="2706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F1C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조치 미완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3858768" y="5248656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릴리스 빌드 난독화 미적용, 경보 이력 평문 저장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607808" y="5248656"/>
            <a:ext cx="3941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145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 전 조치 필요 항목. 사내 보안 기준 확인 요청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· 경영진 보고 · v1.1.70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2743200"/>
            <a:ext cx="4754880" cy="4754880"/>
          </a:xfrm>
          <a:prstGeom prst="ellipse">
            <a:avLst/>
          </a:prstGeom>
          <a:solidFill>
            <a:srgbClr val="0F1C26"/>
          </a:solidFill>
          <a:ln w="15875">
            <a:solidFill>
              <a:srgbClr val="182D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23960" y="3337560"/>
            <a:ext cx="3566160" cy="3566160"/>
          </a:xfrm>
          <a:prstGeom prst="ellipse">
            <a:avLst/>
          </a:prstGeom>
          <a:solidFill>
            <a:srgbClr val="0F1C26"/>
          </a:solidFill>
          <a:ln w="15875">
            <a:solidFill>
              <a:srgbClr val="1E36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3931920"/>
            <a:ext cx="2377440" cy="2377440"/>
          </a:xfrm>
          <a:prstGeom prst="ellipse">
            <a:avLst/>
          </a:prstGeom>
          <a:solidFill>
            <a:srgbClr val="0F1C26"/>
          </a:solidFill>
          <a:ln w="15875">
            <a:solidFill>
              <a:srgbClr val="2440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402336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사항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987552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CB4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단계로 넘어가기 위해 결정이 필요한 세 가지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1700784"/>
            <a:ext cx="8321040" cy="1060704"/>
          </a:xfrm>
          <a:prstGeom prst="roundRect">
            <a:avLst>
              <a:gd name="adj" fmla="val 6897"/>
            </a:avLst>
          </a:prstGeom>
          <a:solidFill>
            <a:srgbClr val="1B2E3C"/>
          </a:solidFill>
          <a:ln/>
          <a:effectLst>
            <a:outerShdw sx="100000" sy="100000" kx="0" ky="0" algn="bl" rotWithShape="0" blurRad="127000" dist="635" dir="5400000">
              <a:srgbClr val="000000">
                <a:alpha val="2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41248" y="1700784"/>
            <a:ext cx="65836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A3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9344" y="1883664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파일럿 대상 지정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609344" y="2212848"/>
            <a:ext cx="6949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4C8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1곳과 위험 동선 1개 구간, 참여 장비·인원 범위를 정해 주십시오.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871216"/>
            <a:ext cx="8321040" cy="1060704"/>
          </a:xfrm>
          <a:prstGeom prst="roundRect">
            <a:avLst>
              <a:gd name="adj" fmla="val 6897"/>
            </a:avLst>
          </a:prstGeom>
          <a:solidFill>
            <a:srgbClr val="1B2E3C"/>
          </a:solidFill>
          <a:ln/>
          <a:effectLst>
            <a:outerShdw sx="100000" sy="100000" kx="0" ky="0" algn="bl" rotWithShape="0" blurRad="127000" dist="635" dir="5400000">
              <a:srgbClr val="000000">
                <a:alpha val="2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41248" y="2871216"/>
            <a:ext cx="65836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A3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609344" y="3054096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검증 시간 확보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609344" y="3383280"/>
            <a:ext cx="6949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4C8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검증이 유일한 회귀 확인 수단입니다. 정기적인 검증 슬롯이 필요합니다.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041648"/>
            <a:ext cx="8321040" cy="1060704"/>
          </a:xfrm>
          <a:prstGeom prst="roundRect">
            <a:avLst>
              <a:gd name="adj" fmla="val 6897"/>
            </a:avLst>
          </a:prstGeom>
          <a:solidFill>
            <a:srgbClr val="1B2E3C"/>
          </a:solidFill>
          <a:ln/>
          <a:effectLst>
            <a:outerShdw sx="100000" sy="100000" kx="0" ky="0" algn="bl" rotWithShape="0" blurRad="127000" dist="635" dir="5400000">
              <a:srgbClr val="000000">
                <a:alpha val="2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41248" y="4041648"/>
            <a:ext cx="65836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A3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609344" y="4224528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 운영 정책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609344" y="4553712"/>
            <a:ext cx="6949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4C8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설치 대상 단말, 소지·충전 규칙, 자동 업데이트 허용 여부에 대한 방침이 필요합니다.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5285232"/>
            <a:ext cx="4937760" cy="0"/>
          </a:xfrm>
          <a:prstGeom prst="line">
            <a:avLst/>
          </a:prstGeom>
          <a:noFill/>
          <a:ln w="12700">
            <a:solidFill>
              <a:srgbClr val="2741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6928" y="5431536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F0A3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경보가 떠야 할 때 뜨고, 꺼져야 할 때 꺼진다.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F0A3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확산의 전제는 대수가 아니라 신뢰성입니다.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73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· 경영진 보고 · v1.1.70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73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SafeAlert 경영진 보고</dc:title>
  <dc:subject>PptxGenJS Presentation</dc:subject>
  <dc:creator>SafeAlert</dc:creator>
  <cp:lastModifiedBy>SafeAlert</cp:lastModifiedBy>
  <cp:revision>1</cp:revision>
  <dcterms:created xsi:type="dcterms:W3CDTF">2026-08-29T00:12:02Z</dcterms:created>
  <dcterms:modified xsi:type="dcterms:W3CDTF">2026-08-29T00:12:02Z</dcterms:modified>
</cp:coreProperties>
</file>