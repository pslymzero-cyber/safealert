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6" r:id="rId39"/>
    <p:sldId id="405" r:id="rId38"/>
    <p:sldId id="404" r:id="rId37"/>
    <p:sldId id="403" r:id="rId36"/>
    <p:sldId id="402" r:id="rId35"/>
    <p:sldId id="401" r:id="rId34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5.xml"/><Relationship Id="rId29" Type="http://schemas.openxmlformats.org/officeDocument/2006/relationships/slide" Target="slides/slide14.xml"/><Relationship Id="rId30" Type="http://schemas.openxmlformats.org/officeDocument/2006/relationships/slide" Target="slides/slide13.xml"/><Relationship Id="rId31" Type="http://schemas.openxmlformats.org/officeDocument/2006/relationships/slide" Target="slides/slide12.xml"/><Relationship Id="rId32" Type="http://schemas.openxmlformats.org/officeDocument/2006/relationships/slide" Target="slides/slide11.xml"/><Relationship Id="rId33" Type="http://schemas.openxmlformats.org/officeDocument/2006/relationships/slide" Target="slides/slide10.xml"/><Relationship Id="rId34" Type="http://schemas.openxmlformats.org/officeDocument/2006/relationships/slide" Target="slides/slide9.xml"/><Relationship Id="rId35" Type="http://schemas.openxmlformats.org/officeDocument/2006/relationships/slide" Target="slides/slide8.xml"/><Relationship Id="rId36" Type="http://schemas.openxmlformats.org/officeDocument/2006/relationships/slide" Target="slides/slide7.xml"/><Relationship Id="rId37" Type="http://schemas.openxmlformats.org/officeDocument/2006/relationships/slide" Target="slides/slide6.xml"/><Relationship Id="rId38" Type="http://schemas.openxmlformats.org/officeDocument/2006/relationships/slide" Target="slides/slide5.xml"/><Relationship Id="rId39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금액</c:v>
                </c:pt>
              </c:strCache>
            </c:strRef>
          </c:tx>
          <c:spPr>
            <a:solidFill>
              <a:srgbClr val="C0392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보행자 태그  11만 × 3명</c:v>
                </c:pt>
                <c:pt idx="1">
                  <c:v>EOD  22만 × 4대</c:v>
                </c:pt>
                <c:pt idx="2">
                  <c:v>차량 태그  52.5만 × 4대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33</c:v>
                </c:pt>
                <c:pt idx="1">
                  <c:v>88</c:v>
                </c:pt>
                <c:pt idx="2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C2833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5DBDB"/>
            </a:solidFill>
          </a:ln>
        </c:spPr>
        <c:txPr>
          <a:bodyPr/>
          <a:lstStyle/>
          <a:p>
            <a:pPr>
              <a:defRPr sz="1050">
                <a:solidFill>
                  <a:srgbClr val="5D6D7E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5.2000000000000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solidFill>
            <a:srgbClr val="5D6D7E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금액</c:v>
                </c:pt>
              </c:strCache>
            </c:strRef>
          </c:tx>
          <c:spPr>
            <a:solidFill>
              <a:srgbClr val="C039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1곳</c:v>
                </c:pt>
                <c:pt idx="1">
                  <c:v>5개</c:v>
                </c:pt>
                <c:pt idx="2">
                  <c:v>10개</c:v>
                </c:pt>
                <c:pt idx="3">
                  <c:v>17개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331</c:v>
                </c:pt>
                <c:pt idx="1">
                  <c:v>1655</c:v>
                </c:pt>
                <c:pt idx="2">
                  <c:v>3310</c:v>
                </c:pt>
                <c:pt idx="3">
                  <c:v>5627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C2833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5DBDB"/>
            </a:solidFill>
          </a:ln>
        </c:spPr>
        <c:txPr>
          <a:bodyPr/>
          <a:lstStyle/>
          <a:p>
            <a:pPr>
              <a:defRPr sz="1100">
                <a:solidFill>
                  <a:srgbClr val="5D6D7E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39.86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solidFill>
            <a:srgbClr val="5D6D7E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금액</c:v>
                </c:pt>
              </c:strCache>
            </c:strRef>
          </c:tx>
          <c:spPr>
            <a:solidFill>
              <a:srgbClr val="C0392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보행자 태그  11만 × 3</c:v>
                </c:pt>
                <c:pt idx="1">
                  <c:v>EOD  22만 × 4</c:v>
                </c:pt>
                <c:pt idx="2">
                  <c:v>차량 태그  52.5만 × 4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33</c:v>
                </c:pt>
                <c:pt idx="1">
                  <c:v>88</c:v>
                </c:pt>
                <c:pt idx="2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C2833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5DBDB"/>
            </a:solidFill>
          </a:ln>
        </c:spPr>
        <c:txPr>
          <a:bodyPr/>
          <a:lstStyle/>
          <a:p>
            <a:pPr>
              <a:defRPr sz="1000">
                <a:solidFill>
                  <a:srgbClr val="5D6D7E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35.20000000000002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5D6D7E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한 장 요약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사각지대 안전사고 사전 예방     2) 비용 비교     3) 투자 회수 (ROI)</a:t>
            </a:r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I-PAS 와 비교     2) 앱의 단점     3) 대응 — PDA 이식</a:t>
            </a:r>
          </a:p>
          <a:p>
            <a:r>
              <a:rPr lang="en-US" altLang="ko-KR" dirty="0"/>
              <a:t xml:space="preserve">4. 앞으로 수정계획</a:t>
            </a:r>
            <a:endParaRPr lang="en-US" altLang="ko-KR" dirty="0"/>
          </a:p>
          <a:p>
            <a:r>
              <a:rPr lang="en-US" altLang="ko-KR" sz="1400" b="0" dirty="0"/>
              <a:t xml:space="preserve">  Phase 1 ~ 5</a:t>
            </a:r>
          </a:p>
          <a:p>
            <a:r>
              <a:rPr lang="en-US" altLang="ko-KR" dirty="0"/>
              <a:t xml:space="preserve">5. 테스트 중간 결과</a:t>
            </a:r>
            <a:endParaRPr lang="en-US" altLang="ko-KR" dirty="0"/>
          </a:p>
          <a:p>
            <a:r>
              <a:rPr lang="en-US" altLang="ko-KR" sz="1400" b="0" dirty="0"/>
              <a:t xml:space="preserve">  실 테스트 센터 (WF11 · WF21 · WF25)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부록</a:t>
            </a:r>
            <a:endParaRPr lang="en-US" altLang="ko-KR" dirty="0"/>
          </a:p>
          <a:p>
            <a:r>
              <a:rPr lang="en-US" altLang="ko-KR" sz="1400" b="0" dirty="0"/>
              <a:t xml:space="preserve">  A 비용 산출 근거     B 사용자 피드백     C 시연     D Andon     E 요청 사항</a:t>
            </a:r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장 요약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1024128"/>
            <a:ext cx="10908792" cy="5486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C2833"/>
                </a:solidFill>
                <a:latin typeface="Malgun Gothic"/>
              </a:rPr>
              <a:t>사각지대를 사람의 주의력에 맡기지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45920"/>
            <a:ext cx="10908792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I-PAS 가 덮지 못하는 구간 — 보행자끼리 · EPJ · 미장착 장비 — 을 앱이 메운다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3개월 · 70회+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현장에 배포하며 다듬은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센터당 331만원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같은 범위를 하드웨어로 덮을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테스트 3개 센터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WF11 · WF21 · WF25 서베이 진행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로드맵 1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신뢰성 확보 단계 · 전 단계 출하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10908792" cy="2395728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547872"/>
            <a:ext cx="1024128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요청  — 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유지보수 주체 지정 — 지금은 개인 작업물이라 승계 경로가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16552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PDA 이식 — 개인 스마트폰 임시 설치를 업무 단말로 옮긴다 (Phase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64024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현장 검증 슬롯 — 실기 검증이 유일한 회귀 확인 수단, 단계당 확인 1건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111496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④  보안 검토 — 릴리스 난독화 미적용 · 경보 이력 평문 저장 (확산 전 선행)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70448"/>
            <a:ext cx="1024128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D6D7E"/>
                </a:solidFill>
                <a:latin typeface="Malgun Gothic"/>
              </a:rPr>
              <a:t>결정이 필요한 시점 — Phase 2 착수 전.  그때까지는 현재 버전이 현장에서 그대로 운영된다.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PIT 에는 I-PAS 가 장착돼 3m 에서 자동 셧다운한다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보행자끼리 · EPJ · 미장착 구간은 비어 있고, 그 구간은 주의력에만 맡겨져 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안전사고 예방을 위해 I-PAS 와 같은 기능이 비어 있는 구간에도 필요하다고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장비마다 태그를 다는 방식으로는 사람과 구역을 다 덮지 못한다 — 지급된 단말끼리 직접 감지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“I-PAS 가 장비를 지키는 동안, 그 밖의 구간은 아직 사람의 주의력에 기대고 있습니다.”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1) 사각지대 예방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1051560"/>
            <a:ext cx="90525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I-PAS 와 비슷한 기능을 구현해, 사각지대에서 생기는 안전사고를 사전에 예방한다.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장비별 장착 작업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" name="Picture 15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5448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2) 비용 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같은 범위를 하드웨어로 덮을 때 드는 금액이다. 실제 절감액이 아니다.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223113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017520"/>
                <a:gridCol w="2560320"/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일반 WF 센터 수량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금액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차량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525,000원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EOD (3m 자동 셧다운)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220,000원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 전량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880,000원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보행자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상시 3명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330,000원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합계 — 센터 1곳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3,310,000원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68680" y="3803904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상시 인원 5명 센터는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3,530,000원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059936"/>
            <a:ext cx="34290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센터 1곳 3,310,000원 구성 (만원)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66928" y="4389120"/>
          <a:ext cx="11155680" cy="10241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486400"/>
            <a:ext cx="10607040" cy="26517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자동 셧다운은 SafeAlert 가 못 한다. I-PAS 를 걷어내자는 이야기가 아니다.  단가는 사용자 제공 기준 (2026.08).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760720"/>
            <a:ext cx="10607040" cy="26517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개인 스마트폰 임시 설치 중 — PDA 로 옮기면 단말 비용 없이 업무 단말에서 돈다.  대체 여부는 로드맵 완료 후 재논의한다.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201168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3) 투자 회수 (ROI)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051560"/>
            <a:ext cx="88696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절감액이 아니다. 하드웨어를 사야 덮이는 범위를 추가 구매 없이 덮는 데서 오는 회피 금액이다.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5897879" cy="20848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4519"/>
                <a:gridCol w="210312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도입 범위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대상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하드웨어 환산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1곳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 · 상시 3명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3,310,000원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5개 센터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PIT 20대 · 15명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16,550,000원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10개 센터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40대 · 30명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33,100,000원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17개 센터 (전체)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PIT 68대 · 51명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56,270,000원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675120" y="1371600"/>
          <a:ext cx="5074920" cy="22494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675120" y="3584448"/>
            <a:ext cx="5074920" cy="2560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8A949E"/>
                </a:solidFill>
                <a:latin typeface="Malgun Gothic"/>
              </a:rPr>
              <a:t>도입 센터 수에 따른 하드웨어 환산 누계 (만원)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803904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투자 · 회수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169663"/>
            <a:ext cx="3584448" cy="896112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2959" y="4279392"/>
            <a:ext cx="32918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D6D7E"/>
                </a:solidFill>
                <a:latin typeface="Malgun Gothic"/>
              </a:rPr>
              <a:t>투자 금액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0원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4645152"/>
            <a:ext cx="329184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추가 하드웨어 없음 — 기존 단말에 앱을 설치한다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98264" y="4169663"/>
            <a:ext cx="3584448" cy="896112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62855" y="4279392"/>
            <a:ext cx="32918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D6D7E"/>
                </a:solidFill>
                <a:latin typeface="Malgun Gothic"/>
              </a:rPr>
              <a:t>회수 시점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도입 즉시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5" y="4645152"/>
            <a:ext cx="329184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구매가 없으므로 회수 기간이 발생하지 않는다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4169663"/>
            <a:ext cx="3584448" cy="896112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02752" y="4279392"/>
            <a:ext cx="32918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D6D7E"/>
                </a:solidFill>
                <a:latin typeface="Malgun Gothic"/>
              </a:rPr>
              <a:t>미산정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공수 · 보완 태그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645152"/>
            <a:ext cx="329184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개발 · PDA 이식 공수는 내부 인력, 금액 환산 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193792"/>
            <a:ext cx="105156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단가는 사용자 제공 기준 (2026.08) — 차량 태그 52.5만 · EOD 22만 · 보행자 태그 11만.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477255"/>
            <a:ext cx="105156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EOD 의 3m 자동 셧다운은 SafeAlert 가 대신하지 못한다. 금액 비교는 감지 · 경보 범위에 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760720"/>
            <a:ext cx="105156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·  iOS 인원 보완 태그(11만원/개)와 세이프존 비콘은 대상 인원 확정 전이라 산입하지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1) I-PAS 와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44752"/>
          <a:ext cx="11064240" cy="21579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4754880"/>
                <a:gridCol w="47548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I-PAS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SafeAlert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동작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3m 내 감지 시 자동 셧다운 — 최후 개입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15m 경고 · 8m 위험 경보. 장비 정지는 못 한다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덮는 대상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태그를 단 장비와 사람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앱을 넣은 모든 단말 (보행자끼리 · EPJ 포함)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대상 확대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 · 장비가 늘면 태그를 그만큼 더 산다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 — 추가 구매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유지보수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하드웨어 고장 · 배터리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업데이트 (자동 배포)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3712463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2) 앱의 단점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51376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지게차 셧다운 불가 — 경보만 한다. I-PAS EOD 의 3m 자동 정지는 대체하지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62272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일시적 개인 스마트폰 설치 — 업무 단말이 아니라 개인 폰에 깔려 있어 지속 가능한 상태가 아니다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73168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비콘 구매 필요 — 세이프존(무음구역)과 미설치 인원 감지에는 BLE 비콘 · 태그가 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84064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④  안드로이드 전용 · 20대 이상 밀집 시 화면 반응 저하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504688"/>
            <a:ext cx="11064240" cy="694944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607040" cy="4572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3) 대응  —  </a:t>
            </a:r>
            <a:r>
              <a:rPr sz="1300" b="1" i="0">
                <a:solidFill>
                  <a:srgbClr val="1C2833"/>
                </a:solidFill>
                <a:latin typeface="Malgun Gothic"/>
              </a:rPr>
              <a:t>Phase 2 에 PDA 로 이식하는 것이 가장 효과적이다. </a:t>
            </a:r>
            <a:r>
              <a:rPr sz="1200" b="0" i="0">
                <a:solidFill>
                  <a:srgbClr val="5D6D7E"/>
                </a:solidFill>
                <a:latin typeface="Malgun Gothic"/>
              </a:rPr>
              <a:t>개인 폰 의존과 배터리 부담이 함께 없어지고, 업무 단말이라 배포 · 회수 경로도 이미 있다.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앞으로 수정계획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251960"/>
                <a:gridCol w="49377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 + PDA 이식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PDA 이식은 Phase 2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테스트 중간 결과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459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실 테스트 센터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051560"/>
            <a:ext cx="923544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WF11 · WF21 · WF25 에서 실사용 테스트 진행 중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30723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7784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서베이 항목 (안)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WF11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WF21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WF25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타이밍 — 너무 이르거나 늦지 않은가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거리 정확도 — 표시 거리가 체감과 맞는가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오경보 빈도 — 울릴 필요 없는데 울리는가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배터리 · 발열 — 1교대를 버티는가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사용 편의 — 역할 전환 · 알림 조작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종합 만족도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58368" y="4626864"/>
            <a:ext cx="11064240" cy="731520"/>
          </a:xfrm>
          <a:prstGeom prst="rect">
            <a:avLst/>
          </a:prstGeom>
          <a:solidFill>
            <a:srgbClr val="FDF3F2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791456"/>
            <a:ext cx="10607040" cy="4572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작성 전  — 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서베이를 회수 · 집계한 뒤 이 장을 채운다. 항목은 제안이며 확정본이 아니다. 채우기 전에는 이 장을 빼고 보고한다.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577840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5점 척도(5 매우 만족 ~ 1 매우 미흡)로 집계하면 LFP 지게차 평가 자료와 형식이 맞는다.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88736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센터별 응답자 수와 테스트 기간을 함께 적어야 표본 크기를 판단할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A — 비용 산출 근거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환산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051560"/>
            <a:ext cx="95097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센터 1곳 3,310,000원 (일반 WF · PIT 4대 · 상시 3명) 기준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80467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센터 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5개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10개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17개 (FFWF 전체)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같은 범위를 하드웨어로 덮을 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16,550,000원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33,100,000원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56,270,000원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68680" y="2432304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단가는 사용자 제공 (2026.08 기준). 계약 조건에 따라 달라질 수 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743200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SafeAlert 는 같은 대상(PIT 4대 + 상시 인원)을 단말에 앱을 넣어 덮는다. 추가 하드웨어 구매 없음.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054096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다만 EOD 의 3m 자동 셧다운은 SafeAlert 가 대신하지 못한다 — 금액 비교는 감지 · 경보 범위에 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64992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세이프존(무음구역)과 미설치 인원 감지에는 BLE 비콘 · 태그 구매가 별도로 든다.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712463"/>
            <a:ext cx="22860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센터 1곳 구성 (만원)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66928" y="4059936"/>
          <a:ext cx="5943600" cy="17007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22" name="Picture 21" descr="fig_radi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3785615"/>
            <a:ext cx="3200400" cy="17681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23760" y="5645178"/>
            <a:ext cx="32004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역할 조합별 판정 반경 (실제 비례 축척)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B —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C —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D — Andon (이럴 때 멈춘다)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087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운영 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9659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업데이트 · 수정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81328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미발령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접근했는데 경보가 뜨지 않은 사례 1건이라도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81328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버전 혼재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구버전 단말이 신버전을 감지하지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49424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오발령 지속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정지 중 계속 울림 · 이탈 후 다시 울림이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9424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보호 공백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작업 시간 중 일괄 업데이트 금지 — 교대 전환 때만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17520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감지 중단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상시 알림이 ‘이상’ 으로 바뀌거나 사라짐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서비스 미기동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업데이트 · 역할 전환 후 백그라운드 실행 미복구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경보 피로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무음으로 두거나 앱을 꺼 둔 단말이 늘어남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85616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회귀 재발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증상이 다시 관측됨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공통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즉시 롤백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 — 현장 재설치 없이 배포된다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선행 확인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전 단말 배포 전 1대에서 먼저 확인한다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1441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빌드 차단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릴리스가 자동 차단된다 (동작 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원인 귀속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배포하므로 어느 변경 탓인지 특정된다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재개 조건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98464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E — 요청 사항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0058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051560"/>
            <a:ext cx="987552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572768"/>
          <a:ext cx="11064239" cy="252374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5212080"/>
                <a:gridCol w="374903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왜 필요한가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없으면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정식 과제 등록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지금은 개인 작업물이다. 유지보수 주체가 지정돼 있지 않다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만든 사람이 빠지면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PDA 이식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개인 스마트폰 임시 설치를 업무 단말로 옮겨야 한다 (Phase 2)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개인 폰 의존이 계속된다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현장 검증 슬롯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실기 검증이 유일한 회귀 확인 수단 — 단계당 확인 항목 1건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검증 없이 배포하거나 배포가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보안 검토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릴리스 빌드 난독화 미적용 · 경보 이력 평문 저장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확산할수록 리스크가 커진다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49884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지금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v1.1.70 이 현장에서 운영 중이다 — 결정이 늦어도 보호가 멈추지는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85232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다만 신뢰성 로드맵은 1 / 5 에서 멈춰 있고, 남은 네 단계가 재발 고리를 끊는 작업이다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97296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“지금 필요한 것은 새 기능이 아니라, 이미 도는 것을 믿을 수 있게 만드는 시간입니다.”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