
<file path=[Content_Types].xml><?xml version="1.0" encoding="utf-8"?>
<Types xmlns="http://schemas.openxmlformats.org/package/2006/content-types">
  <Default Extension="jpeg" ContentType="image/jpeg"/>
  <Default Extension="jpg" ContentType="image/jpeg"/>
  <Default Extension="mp4" ContentType="video/mp4"/>
  <Default Extension="png" ContentType="image/png"/>
  <Default Extension="rels" ContentType="application/vnd.openxmlformats-package.relationships+xml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customXml/itemProps4.xml" ContentType="application/vnd.openxmlformats-officedocument.customXmlProperties+xml"/>
  <Override PartName="/docMetadata/LabelInfo.xml" ContentType="application/vnd.ms-office.classificationlabel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3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revisionInfo.xml" ContentType="application/vnd.ms-powerpoint.revisioninfo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Relationship Id="rId6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5"/>
  </p:sldMasterIdLst>
  <p:notesMasterIdLst>
    <p:notesMasterId r:id="rId22"/>
  </p:notesMasterIdLst>
  <p:sldIdLst>
    <p:sldId id="256" r:id="rId6"/>
    <p:sldId id="342" r:id="rId7"/>
    <p:sldId id="394" r:id="rId9"/>
    <p:sldId id="400" r:id="rId33"/>
    <p:sldId id="399" r:id="rId32"/>
    <p:sldId id="398" r:id="rId31"/>
    <p:sldId id="397" r:id="rId30"/>
    <p:sldId id="396" r:id="rId29"/>
    <p:sldId id="395" r:id="rId28"/>
  </p:sldIdLst>
  <p:sldSz cx="12192000" cy="6858000"/>
  <p:notesSz cx="6797675" cy="9926638"/>
  <p:defaultTextStyle>
    <a:defPPr>
      <a:defRPr lang="ko-KR"/>
    </a:defPPr>
    <a:lvl1pPr marL="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DDDDDD"/>
    <a:srgbClr val="FF0066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revisionInfo.xml><?xml version="1.0" encoding="utf-8"?>
<p1510:revInfo xmlns:a="http://schemas.openxmlformats.org/drawingml/2006/main" xmlns:r="http://schemas.openxmlformats.org/officeDocument/2006/relationships" xmlns:p1510="http://schemas.microsoft.com/office/powerpoint/2015/10/main">
  <p1510:revLst>
    <p1510:client id="{86377A61-D6DE-40FD-8AAE-D498C48F2E8F}" v="43" dt="2026-04-29T01:59:02.010"/>
  </p1510:revLst>
</p1510:revInfo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20951" autoAdjust="0"/>
    <p:restoredTop sz="93228" autoAdjust="0"/>
  </p:normalViewPr>
  <p:slideViewPr>
    <p:cSldViewPr snapToGrid="0">
      <p:cViewPr varScale="1">
        <p:scale>
          <a:sx n="114" d="100"/>
          <a:sy n="114" d="100"/>
        </p:scale>
        <p:origin x="132" y="19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customXml" Target="../customXml/item4.xml"/><Relationship Id="rId5" Type="http://schemas.openxmlformats.org/officeDocument/2006/relationships/slideMaster" Target="slideMasters/slide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9" Type="http://schemas.openxmlformats.org/officeDocument/2006/relationships/slide" Target="slides/slide3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Relationship Id="rId27" Type="http://schemas.microsoft.com/office/2015/10/relationships/revisionInfo" Target="revisionInfo.xml"/><Relationship Id="rId28" Type="http://schemas.openxmlformats.org/officeDocument/2006/relationships/slide" Target="slides/slide9.xml"/><Relationship Id="rId29" Type="http://schemas.openxmlformats.org/officeDocument/2006/relationships/slide" Target="slides/slide8.xml"/><Relationship Id="rId30" Type="http://schemas.openxmlformats.org/officeDocument/2006/relationships/slide" Target="slides/slide7.xml"/><Relationship Id="rId31" Type="http://schemas.openxmlformats.org/officeDocument/2006/relationships/slide" Target="slides/slide6.xml"/><Relationship Id="rId32" Type="http://schemas.openxmlformats.org/officeDocument/2006/relationships/slide" Target="slides/slide5.xml"/><Relationship Id="rId33" Type="http://schemas.openxmlformats.org/officeDocument/2006/relationships/slide" Target="slides/slide4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3850443" y="0"/>
            <a:ext cx="2945659" cy="498056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7EF839CF-25B3-42E1-86CA-821A1CE64A45}" type="datetimeFigureOut">
              <a:rPr lang="ko-KR" altLang="en-US" smtClean="0"/>
              <a:t>2026-08-28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422275" y="1241425"/>
            <a:ext cx="5953125" cy="3349625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ko-KR" altLang="en-US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679768" y="4777194"/>
            <a:ext cx="5438140" cy="3908614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3850443" y="9428584"/>
            <a:ext cx="2945659" cy="49805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A222088A-3BB4-440B-AF55-FD785B8FFB57}" type="slidenum">
              <a:rPr lang="ko-KR" altLang="en-US" smtClean="0"/>
              <a:t>‹#›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324183817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 dirty="0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1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47458565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EA2AAB1-F717-726C-DA71-F1F5E90A72A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슬라이드 이미지 개체 틀 1">
            <a:extLst>
              <a:ext uri="{FF2B5EF4-FFF2-40B4-BE49-F238E27FC236}">
                <a16:creationId xmlns:a16="http://schemas.microsoft.com/office/drawing/2014/main" id="{F2AF3212-E942-9096-4B1A-57ED8B29D35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슬라이드 노트 개체 틀 2">
            <a:extLst>
              <a:ext uri="{FF2B5EF4-FFF2-40B4-BE49-F238E27FC236}">
                <a16:creationId xmlns:a16="http://schemas.microsoft.com/office/drawing/2014/main" id="{0F90DE48-757C-851C-A48A-0D487C82F6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ko-KR" altLang="en-US"/>
          </a:p>
        </p:txBody>
      </p:sp>
      <p:sp>
        <p:nvSpPr>
          <p:cNvPr id="4" name="슬라이드 번호 개체 틀 3">
            <a:extLst>
              <a:ext uri="{FF2B5EF4-FFF2-40B4-BE49-F238E27FC236}">
                <a16:creationId xmlns:a16="http://schemas.microsoft.com/office/drawing/2014/main" id="{E232BBE0-A9B7-189E-561D-C46C642FE8FE}"/>
              </a:ext>
            </a:extLst>
          </p:cNvPr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A222088A-3BB4-440B-AF55-FD785B8FFB57}" type="slidenum">
              <a:rPr lang="ko-KR" altLang="en-US" smtClean="0"/>
              <a:t>4</a:t>
            </a:fld>
            <a:endParaRPr lang="ko-KR" altLang="en-US"/>
          </a:p>
        </p:txBody>
      </p:sp>
    </p:spTree>
    <p:extLst>
      <p:ext uri="{BB962C8B-B14F-4D97-AF65-F5344CB8AC3E}">
        <p14:creationId xmlns:p14="http://schemas.microsoft.com/office/powerpoint/2010/main" val="2118365075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Relationship Id="rId4" Type="http://schemas.openxmlformats.org/officeDocument/2006/relationships/image" Target="../media/image2.png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eg"/><Relationship Id="rId3" Type="http://schemas.openxmlformats.org/officeDocument/2006/relationships/image" Target="../media/image4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eg"/><Relationship Id="rId3" Type="http://schemas.openxmlformats.org/officeDocument/2006/relationships/image" Target="../media/image2.png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0"/>
            <a:ext cx="12192000" cy="6858000"/>
          </a:xfrm>
          <a:prstGeom prst="rect">
            <a:avLst/>
          </a:prstGeom>
        </p:spPr>
      </p:pic>
      <p:sp>
        <p:nvSpPr>
          <p:cNvPr id="12" name="TextBox 11">
            <a:extLst>
              <a:ext uri="{FF2B5EF4-FFF2-40B4-BE49-F238E27FC236}">
                <a16:creationId xmlns:a16="http://schemas.microsoft.com/office/drawing/2014/main" id="{E419C12E-FD8D-439E-9DC4-E0392245D044}"/>
              </a:ext>
            </a:extLst>
          </p:cNvPr>
          <p:cNvSpPr txBox="1"/>
          <p:nvPr userDrawn="1"/>
        </p:nvSpPr>
        <p:spPr>
          <a:xfrm>
            <a:off x="227901" y="255514"/>
            <a:ext cx="9334499" cy="46166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b="1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</a:t>
            </a:r>
            <a:endParaRPr lang="en-US" altLang="ko-KR" sz="7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endParaRPr lang="en-US" altLang="ko-KR" sz="900" b="1" kern="1200" baseline="0">
              <a:solidFill>
                <a:schemeClr val="bg1">
                  <a:lumMod val="75000"/>
                </a:schemeClr>
              </a:solidFill>
              <a:effectLst/>
              <a:latin typeface="+mj-ea"/>
              <a:ea typeface="+mj-ea"/>
              <a:cs typeface="+mn-cs"/>
            </a:endParaRPr>
          </a:p>
          <a:p>
            <a:pPr algn="l"/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이 문서는 </a:t>
            </a:r>
            <a:r>
              <a:rPr lang="ko-KR" altLang="en-US" sz="700" kern="1200" err="1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쿠팡풀필먼트서비스의</a:t>
            </a:r>
            <a:r>
              <a:rPr lang="ko-KR" altLang="en-US" sz="700" kern="1200">
                <a:solidFill>
                  <a:schemeClr val="bg1">
                    <a:lumMod val="75000"/>
                  </a:schemeClr>
                </a:solidFill>
                <a:effectLst/>
                <a:latin typeface="+mj-ea"/>
                <a:ea typeface="+mj-ea"/>
                <a:cs typeface="+mn-cs"/>
              </a:rPr>
              <a:t> 대외비이며 지적자산 입니다</a:t>
            </a:r>
            <a:endParaRPr lang="ko-KR" altLang="en-US" sz="400">
              <a:solidFill>
                <a:schemeClr val="bg1">
                  <a:lumMod val="75000"/>
                </a:schemeClr>
              </a:solidFill>
              <a:latin typeface="+mj-ea"/>
              <a:ea typeface="+mj-ea"/>
            </a:endParaRPr>
          </a:p>
        </p:txBody>
      </p:sp>
      <p:cxnSp>
        <p:nvCxnSpPr>
          <p:cNvPr id="13" name="직선 연결선 12">
            <a:extLst>
              <a:ext uri="{FF2B5EF4-FFF2-40B4-BE49-F238E27FC236}">
                <a16:creationId xmlns:a16="http://schemas.microsoft.com/office/drawing/2014/main" id="{A96AF7CE-236C-428D-9955-08A423C085CB}"/>
              </a:ext>
            </a:extLst>
          </p:cNvPr>
          <p:cNvCxnSpPr/>
          <p:nvPr userDrawn="1"/>
        </p:nvCxnSpPr>
        <p:spPr>
          <a:xfrm>
            <a:off x="323850" y="476430"/>
            <a:ext cx="1908910" cy="0"/>
          </a:xfrm>
          <a:prstGeom prst="line">
            <a:avLst/>
          </a:prstGeom>
          <a:ln>
            <a:solidFill>
              <a:schemeClr val="bg1">
                <a:lumMod val="8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pic>
        <p:nvPicPr>
          <p:cNvPr id="8" name="그림 7">
            <a:extLst>
              <a:ext uri="{FF2B5EF4-FFF2-40B4-BE49-F238E27FC236}">
                <a16:creationId xmlns:a16="http://schemas.microsoft.com/office/drawing/2014/main" id="{84D1E454-D0FA-65B7-39EA-43F4A96A6A9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9697271" y="394685"/>
            <a:ext cx="2305750" cy="18332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8142453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1" name="TextBox 10">
            <a:extLst>
              <a:ext uri="{FF2B5EF4-FFF2-40B4-BE49-F238E27FC236}">
                <a16:creationId xmlns:a16="http://schemas.microsoft.com/office/drawing/2014/main" id="{5B105634-23B1-4170-9633-9780F6A2E35E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2" name="Slide Number Placeholder 5">
            <a:extLst>
              <a:ext uri="{FF2B5EF4-FFF2-40B4-BE49-F238E27FC236}">
                <a16:creationId xmlns:a16="http://schemas.microsoft.com/office/drawing/2014/main" id="{EA25EB2F-7F96-49EF-8A88-09A6C440C55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CEC7CE-163E-8BAE-F388-A2FD43833B5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4" name="그림 3">
            <a:extLst>
              <a:ext uri="{FF2B5EF4-FFF2-40B4-BE49-F238E27FC236}">
                <a16:creationId xmlns:a16="http://schemas.microsoft.com/office/drawing/2014/main" id="{A715E97F-3B48-2A0D-19E6-C98D272F27EA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16047718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포함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6" name="TextBox 15">
            <a:extLst>
              <a:ext uri="{FF2B5EF4-FFF2-40B4-BE49-F238E27FC236}">
                <a16:creationId xmlns:a16="http://schemas.microsoft.com/office/drawing/2014/main" id="{9F30CA2E-E975-45EE-82F9-4D03E22676C9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7" name="Slide Number Placeholder 5">
            <a:extLst>
              <a:ext uri="{FF2B5EF4-FFF2-40B4-BE49-F238E27FC236}">
                <a16:creationId xmlns:a16="http://schemas.microsoft.com/office/drawing/2014/main" id="{C4DE31CD-D181-41D0-8BC1-9C9C00EF054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0E8C301-BB43-E752-AF86-FB610DA7A662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  <p:pic>
        <p:nvPicPr>
          <p:cNvPr id="5" name="그림 4">
            <a:extLst>
              <a:ext uri="{FF2B5EF4-FFF2-40B4-BE49-F238E27FC236}">
                <a16:creationId xmlns:a16="http://schemas.microsoft.com/office/drawing/2014/main" id="{CBF8D160-5F2E-17BA-922C-94EE0028832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251393" y="6092779"/>
            <a:ext cx="3519150" cy="279796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502086015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3" name="직사각형 12">
            <a:extLst>
              <a:ext uri="{FF2B5EF4-FFF2-40B4-BE49-F238E27FC236}">
                <a16:creationId xmlns:a16="http://schemas.microsoft.com/office/drawing/2014/main" id="{4116BC38-0538-4E75-B11C-C9B67AE67A13}"/>
              </a:ext>
            </a:extLst>
          </p:cNvPr>
          <p:cNvSpPr/>
          <p:nvPr userDrawn="1"/>
        </p:nvSpPr>
        <p:spPr>
          <a:xfrm>
            <a:off x="586215" y="665103"/>
            <a:ext cx="41563" cy="201673"/>
          </a:xfrm>
          <a:prstGeom prst="rect">
            <a:avLst/>
          </a:prstGeom>
          <a:solidFill>
            <a:srgbClr val="560000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>
              <a:latin typeface="+mj-ea"/>
              <a:ea typeface="+mj-ea"/>
            </a:endParaRPr>
          </a:p>
        </p:txBody>
      </p:sp>
      <p:sp>
        <p:nvSpPr>
          <p:cNvPr id="14" name="Title 1">
            <a:extLst>
              <a:ext uri="{FF2B5EF4-FFF2-40B4-BE49-F238E27FC236}">
                <a16:creationId xmlns:a16="http://schemas.microsoft.com/office/drawing/2014/main" id="{CC3B9042-8183-48C7-9988-030D2543837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342595" cy="338554"/>
          </a:xfrm>
          <a:noFill/>
        </p:spPr>
        <p:txBody>
          <a:bodyPr wrap="square" rtlCol="0">
            <a:spAutoFit/>
          </a:bodyPr>
          <a:lstStyle>
            <a:lvl1pPr marL="0" indent="0">
              <a:lnSpc>
                <a:spcPct val="100000"/>
              </a:lnSpc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 marL="0" lvl="0"/>
            <a:r>
              <a:rPr lang="ko-KR" altLang="en-US"/>
              <a:t>마스터 제목 스타일 편집</a:t>
            </a:r>
            <a:endParaRPr lang="en-US"/>
          </a:p>
        </p:txBody>
      </p:sp>
      <p:sp>
        <p:nvSpPr>
          <p:cNvPr id="18" name="TextBox 17">
            <a:extLst>
              <a:ext uri="{FF2B5EF4-FFF2-40B4-BE49-F238E27FC236}">
                <a16:creationId xmlns:a16="http://schemas.microsoft.com/office/drawing/2014/main" id="{296883D2-A478-45A5-B029-08F19CE016DB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9" name="Slide Number Placeholder 5">
            <a:extLst>
              <a:ext uri="{FF2B5EF4-FFF2-40B4-BE49-F238E27FC236}">
                <a16:creationId xmlns:a16="http://schemas.microsoft.com/office/drawing/2014/main" id="{45909009-EFA6-4514-9FF2-55D07CD14CD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D816EEA0-E5DD-BA80-1EB7-F04388F61ED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002170230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제목 없음(로고 없음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5DAB53E1-6EEB-46F6-B392-AEC477E60770}"/>
              </a:ext>
            </a:extLst>
          </p:cNvPr>
          <p:cNvPicPr>
            <a:picLocks noChangeAspect="1"/>
          </p:cNvPicPr>
          <p:nvPr userDrawn="1"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2110"/>
            <a:ext cx="12192000" cy="6855890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6DB045E8-B213-45A2-AB75-9F07EC8AB46A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sp>
        <p:nvSpPr>
          <p:cNvPr id="9" name="직사각형 8">
            <a:extLst>
              <a:ext uri="{FF2B5EF4-FFF2-40B4-BE49-F238E27FC236}">
                <a16:creationId xmlns:a16="http://schemas.microsoft.com/office/drawing/2014/main" id="{E2DD29C6-9BA0-4CC4-95A0-67F9EEB813B1}"/>
              </a:ext>
            </a:extLst>
          </p:cNvPr>
          <p:cNvSpPr/>
          <p:nvPr userDrawn="1"/>
        </p:nvSpPr>
        <p:spPr>
          <a:xfrm>
            <a:off x="8400980" y="5196838"/>
            <a:ext cx="3369563" cy="125708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15" name="TextBox 14">
            <a:extLst>
              <a:ext uri="{FF2B5EF4-FFF2-40B4-BE49-F238E27FC236}">
                <a16:creationId xmlns:a16="http://schemas.microsoft.com/office/drawing/2014/main" id="{B4B8078C-09ED-4BA2-AD1C-388E6303C19D}"/>
              </a:ext>
            </a:extLst>
          </p:cNvPr>
          <p:cNvSpPr txBox="1"/>
          <p:nvPr userDrawn="1"/>
        </p:nvSpPr>
        <p:spPr>
          <a:xfrm>
            <a:off x="10804458" y="6583979"/>
            <a:ext cx="483394" cy="246221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algn="ctr"/>
            <a:r>
              <a:rPr lang="en-US" altLang="ko-KR" sz="1000" b="0">
                <a:solidFill>
                  <a:schemeClr val="bg1"/>
                </a:solidFill>
                <a:latin typeface="+mj-ea"/>
                <a:ea typeface="+mj-ea"/>
              </a:rPr>
              <a:t>CFS</a:t>
            </a:r>
            <a:endParaRPr lang="ko-KR" altLang="en-US" sz="1000" b="0">
              <a:solidFill>
                <a:schemeClr val="bg1"/>
              </a:solidFill>
              <a:latin typeface="+mj-ea"/>
              <a:ea typeface="+mj-ea"/>
            </a:endParaRPr>
          </a:p>
        </p:txBody>
      </p:sp>
      <p:sp>
        <p:nvSpPr>
          <p:cNvPr id="16" name="Slide Number Placeholder 5">
            <a:extLst>
              <a:ext uri="{FF2B5EF4-FFF2-40B4-BE49-F238E27FC236}">
                <a16:creationId xmlns:a16="http://schemas.microsoft.com/office/drawing/2014/main" id="{4E1411F3-C169-4D9C-8879-36125E05070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40942" y="6576285"/>
            <a:ext cx="429602" cy="261610"/>
          </a:xfrm>
        </p:spPr>
        <p:txBody>
          <a:bodyPr/>
          <a:lstStyle>
            <a:lvl1pPr>
              <a:defRPr sz="1000" b="0">
                <a:solidFill>
                  <a:schemeClr val="bg1"/>
                </a:solidFill>
                <a:latin typeface="+mj-ea"/>
                <a:ea typeface="+mj-ea"/>
              </a:defRPr>
            </a:lvl1pPr>
          </a:lstStyle>
          <a:p>
            <a:fld id="{A2CF8A37-2FCE-495B-9275-FE23C56C2D36}" type="slidenum">
              <a:rPr lang="ko-KR" altLang="en-US" smtClean="0"/>
              <a:pPr/>
              <a:t>‹#›</a:t>
            </a:fld>
            <a:endParaRPr lang="ko-KR" altLang="en-US"/>
          </a:p>
        </p:txBody>
      </p:sp>
      <p:pic>
        <p:nvPicPr>
          <p:cNvPr id="2" name="그림 1" descr="폰트, 그래픽, 텍스트, 그래픽 디자인이(가) 표시된 사진&#10;&#10;자동 생성된 설명">
            <a:extLst>
              <a:ext uri="{FF2B5EF4-FFF2-40B4-BE49-F238E27FC236}">
                <a16:creationId xmlns:a16="http://schemas.microsoft.com/office/drawing/2014/main" id="{96109F11-0706-59BF-85DC-6D26CB44870A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755208" y="317305"/>
            <a:ext cx="1247813" cy="33808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038533701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표지(후)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그림 6">
            <a:extLst>
              <a:ext uri="{FF2B5EF4-FFF2-40B4-BE49-F238E27FC236}">
                <a16:creationId xmlns:a16="http://schemas.microsoft.com/office/drawing/2014/main" id="{0E18AE65-02B4-41D7-A8EA-65488B3A47C7}"/>
              </a:ext>
            </a:extLst>
          </p:cNvPr>
          <p:cNvPicPr>
            <a:picLocks noChangeAspect="1"/>
          </p:cNvPicPr>
          <p:nvPr userDrawn="1"/>
        </p:nvPicPr>
        <p:blipFill rotWithShape="1"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7084"/>
          <a:stretch/>
        </p:blipFill>
        <p:spPr>
          <a:xfrm>
            <a:off x="0" y="0"/>
            <a:ext cx="12192000" cy="6372225"/>
          </a:xfrm>
          <a:prstGeom prst="rect">
            <a:avLst/>
          </a:prstGeom>
        </p:spPr>
      </p:pic>
      <p:sp>
        <p:nvSpPr>
          <p:cNvPr id="16" name="직사각형 15">
            <a:extLst>
              <a:ext uri="{FF2B5EF4-FFF2-40B4-BE49-F238E27FC236}">
                <a16:creationId xmlns:a16="http://schemas.microsoft.com/office/drawing/2014/main" id="{46836695-72E5-40B1-B1BD-5A34EF2CCFDF}"/>
              </a:ext>
            </a:extLst>
          </p:cNvPr>
          <p:cNvSpPr/>
          <p:nvPr userDrawn="1"/>
        </p:nvSpPr>
        <p:spPr>
          <a:xfrm flipV="1">
            <a:off x="10829130" y="166065"/>
            <a:ext cx="1173891" cy="643839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4" name="직사각형 3">
            <a:extLst>
              <a:ext uri="{FF2B5EF4-FFF2-40B4-BE49-F238E27FC236}">
                <a16:creationId xmlns:a16="http://schemas.microsoft.com/office/drawing/2014/main" id="{281CA27A-6328-3FE2-A8FD-1DE26AE2E9E2}"/>
              </a:ext>
            </a:extLst>
          </p:cNvPr>
          <p:cNvSpPr/>
          <p:nvPr userDrawn="1"/>
        </p:nvSpPr>
        <p:spPr>
          <a:xfrm>
            <a:off x="0" y="6680439"/>
            <a:ext cx="12192000" cy="177561"/>
          </a:xfrm>
          <a:prstGeom prst="rect">
            <a:avLst/>
          </a:prstGeom>
          <a:solidFill>
            <a:srgbClr val="DDDDDD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ko-KR" altLang="en-US"/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D1D7F3D-7374-E3BC-7B85-A92F93272001}"/>
              </a:ext>
            </a:extLst>
          </p:cNvPr>
          <p:cNvSpPr txBox="1"/>
          <p:nvPr userDrawn="1"/>
        </p:nvSpPr>
        <p:spPr>
          <a:xfrm>
            <a:off x="4763" y="6670913"/>
            <a:ext cx="4191852" cy="200055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l"/>
            <a:r>
              <a:rPr lang="en-US" altLang="ko-KR" sz="700" kern="1200">
                <a:solidFill>
                  <a:srgbClr val="5F5F5F"/>
                </a:solidFill>
                <a:effectLst/>
                <a:latin typeface="+mj-ea"/>
                <a:ea typeface="+mj-ea"/>
                <a:cs typeface="+mn-cs"/>
              </a:rPr>
              <a:t>Coupang Fulfillment Services Confidential and Proprietary </a:t>
            </a:r>
            <a:endParaRPr lang="ko-KR" altLang="en-US" sz="400">
              <a:solidFill>
                <a:srgbClr val="5F5F5F"/>
              </a:solidFill>
              <a:latin typeface="+mj-ea"/>
              <a:ea typeface="+mj-ea"/>
            </a:endParaRPr>
          </a:p>
        </p:txBody>
      </p:sp>
      <p:pic>
        <p:nvPicPr>
          <p:cNvPr id="6" name="그림 5">
            <a:extLst>
              <a:ext uri="{FF2B5EF4-FFF2-40B4-BE49-F238E27FC236}">
                <a16:creationId xmlns:a16="http://schemas.microsoft.com/office/drawing/2014/main" id="{00455BF9-F253-7919-C71E-E4D962DE1A31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alphaModFix amt="50000"/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333496" y="6019800"/>
            <a:ext cx="4437047" cy="352775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3653471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개체 틀 1">
            <a:extLst>
              <a:ext uri="{FF2B5EF4-FFF2-40B4-BE49-F238E27FC236}">
                <a16:creationId xmlns:a16="http://schemas.microsoft.com/office/drawing/2014/main" id="{5E7A3D66-384D-4238-84A8-C9ADAAA3A2D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ko-KR" altLang="en-US"/>
              <a:t>마스터 제목 스타일 편집</a:t>
            </a:r>
          </a:p>
        </p:txBody>
      </p:sp>
      <p:sp>
        <p:nvSpPr>
          <p:cNvPr id="3" name="텍스트 개체 틀 2">
            <a:extLst>
              <a:ext uri="{FF2B5EF4-FFF2-40B4-BE49-F238E27FC236}">
                <a16:creationId xmlns:a16="http://schemas.microsoft.com/office/drawing/2014/main" id="{49B57DB5-9B87-4525-AE40-2C4F29C264C1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/>
              <a:t>마스터 텍스트 스타일을 편집하려면 클릭</a:t>
            </a:r>
          </a:p>
          <a:p>
            <a:pPr lvl="1"/>
            <a:r>
              <a:rPr lang="ko-KR" altLang="en-US"/>
              <a:t>두 번째 수준</a:t>
            </a:r>
          </a:p>
          <a:p>
            <a:pPr lvl="2"/>
            <a:r>
              <a:rPr lang="ko-KR" altLang="en-US"/>
              <a:t>세 번째 수준</a:t>
            </a:r>
          </a:p>
          <a:p>
            <a:pPr lvl="3"/>
            <a:r>
              <a:rPr lang="ko-KR" altLang="en-US"/>
              <a:t>네 번째 수준</a:t>
            </a:r>
          </a:p>
          <a:p>
            <a:pPr lvl="4"/>
            <a:r>
              <a:rPr lang="ko-KR" altLang="en-US"/>
              <a:t>다섯 번째 수준</a:t>
            </a:r>
          </a:p>
        </p:txBody>
      </p:sp>
      <p:sp>
        <p:nvSpPr>
          <p:cNvPr id="4" name="날짜 개체 틀 3">
            <a:extLst>
              <a:ext uri="{FF2B5EF4-FFF2-40B4-BE49-F238E27FC236}">
                <a16:creationId xmlns:a16="http://schemas.microsoft.com/office/drawing/2014/main" id="{8D2E690B-AE68-4537-94D0-5AA60177E20F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5" name="바닥글 개체 틀 4">
            <a:extLst>
              <a:ext uri="{FF2B5EF4-FFF2-40B4-BE49-F238E27FC236}">
                <a16:creationId xmlns:a16="http://schemas.microsoft.com/office/drawing/2014/main" id="{C213BC88-6107-4282-8C5F-8E3D29B0A169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ko-KR" altLang="en-US"/>
          </a:p>
        </p:txBody>
      </p:sp>
      <p:sp>
        <p:nvSpPr>
          <p:cNvPr id="6" name="슬라이드 번호 개체 틀 5">
            <a:extLst>
              <a:ext uri="{FF2B5EF4-FFF2-40B4-BE49-F238E27FC236}">
                <a16:creationId xmlns:a16="http://schemas.microsoft.com/office/drawing/2014/main" id="{744E68FA-2D0A-407A-A9E0-7B2E60FAA57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F623B82-CB17-47C7-A891-F2264E11CE29}" type="slidenum">
              <a:rPr lang="ko-KR" altLang="en-US" smtClean="0"/>
              <a:t>‹#›</a:t>
            </a:fld>
            <a:endParaRPr lang="ko-KR" altLang="en-US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B1A6A649-DA01-60A1-FA73-8E30486B07BF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hdr"/>
              </p:ext>
            </p:extLst>
          </p:nvPr>
        </p:nvSpPr>
        <p:spPr>
          <a:xfrm>
            <a:off x="4999038" y="63500"/>
            <a:ext cx="2219325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CoupangFS Business-Internal User Only</a:t>
            </a:r>
          </a:p>
        </p:txBody>
      </p:sp>
      <p:sp>
        <p:nvSpPr>
          <p:cNvPr id="10" name="TextBox 9">
            <a:extLst>
              <a:ext uri="{FF2B5EF4-FFF2-40B4-BE49-F238E27FC236}">
                <a16:creationId xmlns:a16="http://schemas.microsoft.com/office/drawing/2014/main" id="{72EEED9E-7B7F-F187-B325-1C27D8B8BEE1}"/>
              </a:ext>
            </a:extLst>
          </p:cNvPr>
          <p:cNvSpPr txBox="1"/>
          <p:nvPr>
            <p:extLst>
              <p:ext uri="{1162E1C5-73C7-4A58-AE30-91384D911F3F}">
                <p184:classification xmlns:p184="http://schemas.microsoft.com/office/powerpoint/2018/4/main" val="ftr"/>
              </p:ext>
            </p:extLst>
          </p:nvPr>
        </p:nvSpPr>
        <p:spPr>
          <a:xfrm>
            <a:off x="5249037" y="6642100"/>
            <a:ext cx="1719263" cy="152400"/>
          </a:xfrm>
          <a:prstGeom prst="rect">
            <a:avLst/>
          </a:prstGeom>
        </p:spPr>
        <p:txBody>
          <a:bodyPr horzOverflow="overflow" lIns="0" tIns="0" rIns="0" bIns="0">
            <a:spAutoFit/>
          </a:bodyPr>
          <a:lstStyle/>
          <a:p>
            <a:pPr algn="l"/>
            <a:r>
              <a:rPr lang="ko-KR" altLang="en-US" sz="1000">
                <a:solidFill>
                  <a:srgbClr val="000000">
                    <a:alpha val="50000"/>
                  </a:srgbClr>
                </a:solidFill>
                <a:latin typeface="Aptos" panose="020B0004020202020204" pitchFamily="34" charset="0"/>
              </a:rPr>
              <a:t>2026-08-27T10:59:36 / Internal</a:t>
            </a:r>
          </a:p>
        </p:txBody>
      </p:sp>
    </p:spTree>
    <p:extLst>
      <p:ext uri="{BB962C8B-B14F-4D97-AF65-F5344CB8AC3E}">
        <p14:creationId xmlns:p14="http://schemas.microsoft.com/office/powerpoint/2010/main" val="67444989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60" r:id="rId1"/>
    <p:sldLayoutId id="2147483662" r:id="rId2"/>
    <p:sldLayoutId id="2147483664" r:id="rId3"/>
    <p:sldLayoutId id="2147483667" r:id="rId4"/>
    <p:sldLayoutId id="2147483666" r:id="rId5"/>
    <p:sldLayoutId id="2147483668" r:id="rId6"/>
  </p:sldLayoutIdLst>
  <p:hf hdr="0" ftr="0" dt="0"/>
  <p:txStyles>
    <p:titleStyle>
      <a:lvl1pPr algn="l" defTabSz="914400" rtl="0" eaLnBrk="1" latinLnBrk="1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1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/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4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6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7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8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image" Target="../media/image9.png"/><Relationship Id="rId3" Type="http://schemas.openxmlformats.org/officeDocument/2006/relationships/image" Target="../media/image10.png"/><Relationship Id="rId4" Type="http://schemas.microsoft.com/office/2007/relationships/media" Target="../media/media1.mp4"/><Relationship Id="rId5" Type="http://schemas.openxmlformats.org/officeDocument/2006/relationships/video" Target="../media/media1.mp4"/><Relationship Id="rId6" Type="http://schemas.openxmlformats.org/officeDocument/2006/relationships/image" Target="../media/image11.jp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>
            <a:extLst>
              <a:ext uri="{FF2B5EF4-FFF2-40B4-BE49-F238E27FC236}">
                <a16:creationId xmlns:a16="http://schemas.microsoft.com/office/drawing/2014/main" id="{7C8FA448-C63A-4C1D-BA52-17ED6FAABCA0}"/>
              </a:ext>
            </a:extLst>
          </p:cNvPr>
          <p:cNvSpPr txBox="1"/>
          <p:nvPr/>
        </p:nvSpPr>
        <p:spPr>
          <a:xfrm>
            <a:off x="1257300" y="2782458"/>
            <a:ext cx="9677400" cy="707886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lvl="0" algn="ctr">
              <a:defRPr/>
            </a:pPr>
            <a:r>
              <a:rPr lang="en-US" altLang="ko-KR" sz="40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SafeAlert  근접 경보 앱</a:t>
            </a:r>
            <a:endParaRPr kumimoji="0" lang="en-US" altLang="ko-KR" sz="40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7A791245-69E4-488F-8844-23FECF253B33}"/>
              </a:ext>
            </a:extLst>
          </p:cNvPr>
          <p:cNvSpPr txBox="1"/>
          <p:nvPr/>
        </p:nvSpPr>
        <p:spPr>
          <a:xfrm>
            <a:off x="4038283" y="3842017"/>
            <a:ext cx="4115434" cy="292388"/>
          </a:xfrm>
          <a:prstGeom prst="rect">
            <a:avLst/>
          </a:prstGeom>
          <a:noFill/>
        </p:spPr>
        <p:txBody>
          <a:bodyPr wrap="square" rtlCol="0" anchor="ctr">
            <a:spAutoFit/>
          </a:bodyPr>
          <a:lstStyle/>
          <a:p>
            <a:pPr marL="0" marR="0" lvl="0" indent="0" algn="ctr" defTabSz="914400" rtl="0" eaLnBrk="1" fontAlgn="auto" latinLnBrk="1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lang="en-US" altLang="ko-KR" sz="1300" dirty="0">
                <a:solidFill>
                  <a:srgbClr val="560000"/>
                </a:solidFill>
                <a:latin typeface="맑은 고딕" panose="020B0503020000020004" pitchFamily="50" charset="-127"/>
                <a:ea typeface="맑은 고딕" panose="020B0503020000020004" pitchFamily="50" charset="-127"/>
              </a:rPr>
              <a:t>2026.08 |  Flex Fulfillment Dynamic Ops  Waterflex</a:t>
            </a:r>
            <a:endParaRPr kumimoji="0" lang="ko-KR" altLang="en-US" sz="1300" b="0" i="0" u="none" strike="noStrike" kern="1200" cap="none" spc="0" normalizeH="0" baseline="0" noProof="0" dirty="0">
              <a:ln>
                <a:noFill/>
              </a:ln>
              <a:solidFill>
                <a:srgbClr val="560000"/>
              </a:solidFill>
              <a:effectLst/>
              <a:uLnTx/>
              <a:uFillTx/>
              <a:latin typeface="맑은 고딕" panose="020B0503020000020004" pitchFamily="50" charset="-127"/>
              <a:ea typeface="맑은 고딕" panose="020B0503020000020004" pitchFamily="50" charset="-127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038806072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제목 3">
            <a:extLst>
              <a:ext uri="{FF2B5EF4-FFF2-40B4-BE49-F238E27FC236}">
                <a16:creationId xmlns:a16="http://schemas.microsoft.com/office/drawing/2014/main" id="{2EEED56C-AE39-6B4E-F938-52DB2BEDA2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altLang="ko-KR" dirty="0"/>
              <a:t>Content</a:t>
            </a:r>
            <a:endParaRPr lang="ko-KR" altLang="en-US" dirty="0"/>
          </a:p>
        </p:txBody>
      </p:sp>
      <p:sp>
        <p:nvSpPr>
          <p:cNvPr id="2" name="슬라이드 번호 개체 틀 1">
            <a:extLst>
              <a:ext uri="{FF2B5EF4-FFF2-40B4-BE49-F238E27FC236}">
                <a16:creationId xmlns:a16="http://schemas.microsoft.com/office/drawing/2014/main" id="{A350EB0F-1F76-5B38-1354-8D989895CE5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2</a:t>
            </a:fld>
            <a:endParaRPr lang="ko-KR" altLang="en-US" dirty="0"/>
          </a:p>
        </p:txBody>
      </p:sp>
      <p:sp>
        <p:nvSpPr>
          <p:cNvPr id="5" name="제목 3">
            <a:extLst>
              <a:ext uri="{FF2B5EF4-FFF2-40B4-BE49-F238E27FC236}">
                <a16:creationId xmlns:a16="http://schemas.microsoft.com/office/drawing/2014/main" id="{F1F2D681-D8C7-91B5-92B5-1ECC1005BEE1}"/>
              </a:ext>
            </a:extLst>
          </p:cNvPr>
          <p:cNvSpPr txBox="1">
            <a:spLocks/>
          </p:cNvSpPr>
          <p:nvPr/>
        </p:nvSpPr>
        <p:spPr>
          <a:xfrm>
            <a:off x="636391" y="934240"/>
            <a:ext cx="11342595" cy="5770811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r>
              <a:rPr lang="en-US" altLang="ko-KR" dirty="0"/>
              <a:t xml:space="preserve">1. 개발 배경</a:t>
            </a:r>
            <a:endParaRPr lang="en-US" altLang="ko-KR" dirty="0"/>
          </a:p>
          <a:p>
            <a:r>
              <a:rPr lang="en-US" altLang="ko-KR" sz="1400" b="0" dirty="0"/>
              <a:t xml:space="preserve">  1) 문제의 배경 · 현재 상황</a:t>
            </a:r>
          </a:p>
          <a:p>
            <a:r>
              <a:rPr lang="en-US" altLang="ko-KR" sz="1400" b="0" dirty="0"/>
              <a:t xml:space="preserve">  2) 왜 앱으로 만들었나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2. 기대효과</a:t>
            </a:r>
            <a:endParaRPr lang="en-US" altLang="ko-KR" dirty="0"/>
          </a:p>
          <a:p>
            <a:r>
              <a:rPr lang="en-US" altLang="ko-KR" sz="1400" b="0" dirty="0"/>
              <a:t xml:space="preserve">  1) As-is / To-be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3. 장단점</a:t>
            </a:r>
            <a:endParaRPr lang="en-US" altLang="ko-KR" dirty="0"/>
          </a:p>
          <a:p>
            <a:r>
              <a:rPr lang="en-US" altLang="ko-KR" sz="1400" b="0" dirty="0"/>
              <a:t xml:space="preserve">  1) Tradeoffs — 무엇을 얻고 무엇을 내줬나</a:t>
            </a:r>
          </a:p>
          <a:p>
            <a:r>
              <a:rPr lang="en-US" altLang="ko-KR" sz="1400" b="0" dirty="0"/>
              <a:t xml:space="preserve">  2) 남는 한계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4. 사용자 피드백</a:t>
            </a:r>
            <a:endParaRPr lang="en-US" altLang="ko-KR" dirty="0"/>
          </a:p>
          <a:p>
            <a:r>
              <a:rPr lang="en-US" altLang="ko-KR" sz="1400" b="0" dirty="0"/>
              <a:t xml:space="preserve">  1) 오더십 리뷰 반영</a:t>
            </a:r>
          </a:p>
          <a:p>
            <a:r>
              <a:rPr lang="en-US" altLang="ko-KR" sz="1400" b="0" dirty="0"/>
              <a:t xml:space="preserve">  2) 현장 요구 반영 (Before / After)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5. 시연</a:t>
            </a:r>
            <a:endParaRPr lang="en-US" altLang="ko-KR" dirty="0"/>
          </a:p>
          <a:p>
            <a:r>
              <a:rPr lang="en-US" altLang="ko-KR" sz="1400" b="0" dirty="0"/>
              <a:t xml:space="preserve">  1) 동작 화면 · 설정 화면</a:t>
            </a:r>
          </a:p>
          <a:p>
            <a:r>
              <a:rPr lang="en-US" altLang="ko-KR" sz="1400" b="0" dirty="0"/>
              <a:t xml:space="preserve">  2) 시연 영상 · 판정 시뮬레이터</a:t>
            </a:r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6. 진행 단계 (Phase 1 ~ 5)</a:t>
            </a:r>
            <a:endParaRPr lang="en-US" altLang="ko-KR" dirty="0"/>
          </a:p>
          <a:p>
            <a:r>
              <a:rPr lang="en-US" altLang="ko-KR" dirty="0"/>
              <a:t xml:space="preserve"> </a:t>
            </a:r>
            <a:endParaRPr lang="en-US" altLang="ko-KR" dirty="0"/>
          </a:p>
          <a:p>
            <a:r>
              <a:rPr lang="en-US" altLang="ko-KR" dirty="0"/>
              <a:t xml:space="preserve">7. Andon — 중단 · 롤백 기준</a:t>
            </a:r>
            <a:endParaRPr lang="en-US" altLang="ko-KR" dirty="0"/>
          </a:p>
        </p:txBody>
      </p:sp>
    </p:spTree>
    <p:extLst>
      <p:ext uri="{BB962C8B-B14F-4D97-AF65-F5344CB8AC3E}">
        <p14:creationId xmlns:p14="http://schemas.microsoft.com/office/powerpoint/2010/main" val="3883590961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1. 개발 배경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pic>
        <p:nvPicPr>
          <p:cNvPr id="13" name="Picture 12" descr="fig_aisle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882127" y="1024128"/>
            <a:ext cx="3913632" cy="2446020"/>
          </a:xfrm>
          <a:prstGeom prst="rect">
            <a:avLst/>
          </a:prstGeom>
        </p:spPr>
      </p:pic>
      <p:sp>
        <p:nvSpPr>
          <p:cNvPr id="14" name="TextBox 13"/>
          <p:cNvSpPr txBox="1"/>
          <p:nvPr/>
        </p:nvSpPr>
        <p:spPr>
          <a:xfrm>
            <a:off x="7882127" y="3561588"/>
            <a:ext cx="3913632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000" b="0" i="0">
                <a:solidFill>
                  <a:srgbClr val="5D6D7E"/>
                </a:solidFill>
                <a:latin typeface="Malgun Gothic"/>
              </a:rPr>
              <a:t>3m 렉 사이 통로 — 교차 구간에서 서로 보이지 않는다</a:t>
            </a:r>
          </a:p>
        </p:txBody>
      </p:sp>
      <p:sp>
        <p:nvSpPr>
          <p:cNvPr id="15" name="Rectangle 14"/>
          <p:cNvSpPr/>
          <p:nvPr/>
        </p:nvSpPr>
        <p:spPr>
          <a:xfrm>
            <a:off x="640080" y="102412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문제의 배경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68680" y="149961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AS-IS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3m 높이 철제 렉 사이 통로에서 지게차와 보행자가 서로를 볼 수 없음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181051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Pain Point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적재 파렛트가 2.4GHz 전파를 흡수하고, 장비 소음으로 경적 인지도 늦음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0080" y="2304288"/>
            <a:ext cx="141732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현재 상황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68680" y="2779776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Data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지게차 · 리치 · EPJ · 보행자가 같은 통로를 공유. 렉 사이 단독 작업 구간도 있음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868680" y="3090672"/>
            <a:ext cx="685800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Issue : </a:t>
            </a:r>
            <a:r>
              <a:rPr sz="1200" b="0" i="0">
                <a:solidFill>
                  <a:srgbClr val="1C2833"/>
                </a:solidFill>
                <a:latin typeface="Malgun Gothic"/>
              </a:rPr>
              <a:t>사각지대를 사람의 주의력에만 맡기고 있어, 보이지 않는 구간은 대책이 없음</a:t>
            </a:r>
          </a:p>
        </p:txBody>
      </p:sp>
      <p:sp>
        <p:nvSpPr>
          <p:cNvPr id="21" name="Rectangle 20"/>
          <p:cNvSpPr/>
          <p:nvPr/>
        </p:nvSpPr>
        <p:spPr>
          <a:xfrm>
            <a:off x="640080" y="3675887"/>
            <a:ext cx="1874519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왜 앱으로 만들었나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5137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①  앵커 · 배선 · 서버 같은 고정 설비 없이 지급된 단말만으로 동작 — 센터 공사 불필요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68680" y="447141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②  움직이는 주체끼리 직접 감지 — 설치 대수가 늘수록 감지 범위도 함께 넓어짐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68680" y="4791456"/>
            <a:ext cx="10881360" cy="310896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1C2833"/>
                </a:solidFill>
                <a:latin typeface="Malgun Gothic"/>
              </a:rPr>
              <a:t>③  v1.0.1 부터 3개월간 70회 이상 배포하며 현장에서 계속 다듬음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52303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사각지대 해소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인프라 없는 확산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오경보 억제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4.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조용한 실패 제거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0080" y="5779008"/>
            <a:ext cx="10908792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“현장 안전은 아직 ‘보고 나서 피하기’에 기대고 있고, 보이지 않는 구간을 메우는 장치가 없습니다.”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2. 기대효과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6002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As-is / To-be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11064240" cy="334670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417320"/>
                <a:gridCol w="443484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구분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As-is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To-be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감지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사람의 주의력에만 의존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소리 · 진동 · 화면 3중 경보로 보완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도입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설비를 깔려면 센터 공사가 필요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설치만으로 즉시 적용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확산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장비를 늘려도 감지 범위는 그대로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단말이 늘수록 감지쌍이 배로 (3대 3쌍 → 10대 45쌍)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센터 차이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센터마다 다른 조건에 대응 못 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반경 · 신호 임계를 설정으로 조정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후진 · 하역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접근을 육안으로만 확인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거리와 무관하게 즉시 최고 등급으로 경보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피로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잦으면 작업자가 꺼버림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· 자동 음소거로 울릴 곳에서만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pair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261104" y="4864608"/>
            <a:ext cx="3657600" cy="139672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3. 장단점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Tradeoffs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77240" y="1389888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고정 설비 vs. 앱만으로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앱 설치만으로 동작 → 즉시 적용 우선</a:t>
            </a:r>
          </a:p>
        </p:txBody>
      </p:sp>
      <p:sp>
        <p:nvSpPr>
          <p:cNvPr id="15" name="Right Arrow 14"/>
          <p:cNvSpPr/>
          <p:nvPr/>
        </p:nvSpPr>
        <p:spPr>
          <a:xfrm>
            <a:off x="5266944" y="1499616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6144768" y="1408176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앵커 · 배선 · 서버가 없어 센터 공사 없이 시작한다.
대신 정밀 측위는 포기하고 신호 세기 추정을 받아들였다.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77240" y="2231136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정밀도 vs. 어디서나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BLE 신호 세기 主 판정 → 현장 적용성 우선</a:t>
            </a:r>
          </a:p>
        </p:txBody>
      </p:sp>
      <p:sp>
        <p:nvSpPr>
          <p:cNvPr id="18" name="Right Arrow 17"/>
          <p:cNvSpPr/>
          <p:nvPr/>
        </p:nvSpPr>
        <p:spPr>
          <a:xfrm>
            <a:off x="5266944" y="2340864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144768" y="2249424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적재물 · 차체가 전파를 가리면 거리 오차가 난다. 센터별 보정값으로
완화하되 완전 제거는 불가. UWB 는 지원 단말에서 보조로만 쓴다.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77240" y="3072384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민감한 경보 vs. 경보 피로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억제 장치를 넣음 → 끄지 않게 만드는 것 우선</a:t>
            </a:r>
          </a:p>
        </p:txBody>
      </p:sp>
      <p:sp>
        <p:nvSpPr>
          <p:cNvPr id="21" name="Right Arrow 20"/>
          <p:cNvSpPr/>
          <p:nvPr/>
        </p:nvSpPr>
        <p:spPr>
          <a:xfrm>
            <a:off x="5266944" y="3182112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144768" y="3090672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세이프존 · 5초 체류 자동 음소거를 둔다. 억제 구간에서 놓칠 위험은
화면 표시와 기록을 그대로 유지해 상쇄한다.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77240" y="3913632"/>
            <a:ext cx="438912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200"/>
              </a:spcAft>
            </a:pPr>
            <a:r>
              <a:rPr sz="1250" b="1" i="0">
                <a:solidFill>
                  <a:srgbClr val="1C2833"/>
                </a:solidFill>
                <a:latin typeface="Malgun Gothic"/>
              </a:rPr>
              <a:t>전 기종 지원 vs. 백그라운드 상시 동작</a:t>
            </a:r>
          </a:p>
          <a:p>
            <a:pPr algn="l">
              <a:spcAft>
                <a:spcPts val="200"/>
              </a:spcAft>
            </a:pPr>
            <a:r>
              <a:rPr sz="1150" b="1" i="0">
                <a:solidFill>
                  <a:srgbClr val="C0392B"/>
                </a:solidFill>
                <a:latin typeface="Malgun Gothic"/>
              </a:rPr>
              <a:t>안드로이드 전용 → 화면이 꺼져도 도는 쪽 우선</a:t>
            </a:r>
          </a:p>
        </p:txBody>
      </p:sp>
      <p:sp>
        <p:nvSpPr>
          <p:cNvPr id="24" name="Right Arrow 23"/>
          <p:cNvSpPr/>
          <p:nvPr/>
        </p:nvSpPr>
        <p:spPr>
          <a:xfrm>
            <a:off x="5266944" y="4023360"/>
            <a:ext cx="713232" cy="329184"/>
          </a:xfrm>
          <a:prstGeom prst="rightArrow">
            <a:avLst/>
          </a:prstGeom>
          <a:solidFill>
            <a:srgbClr val="C7CCD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144768" y="3931920"/>
            <a:ext cx="5623560" cy="7772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iOS 는 백그라운드에서 역할 · 상태를 실은 광고를 보내지 못한다.
대응 — iOS 인원에게 BLE 태그를 지급한다. 등록 비콘 스캔 경로가 이미 있다.</a:t>
            </a:r>
          </a:p>
        </p:txBody>
      </p:sp>
      <p:sp>
        <p:nvSpPr>
          <p:cNvPr id="26" name="Rectangle 25"/>
          <p:cNvSpPr/>
          <p:nvPr/>
        </p:nvSpPr>
        <p:spPr>
          <a:xfrm>
            <a:off x="640080" y="4846320"/>
            <a:ext cx="12344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남는 한계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5266944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앱이 설치된 기기끼리만 감지 — 미설치 인원 · 장비는 보이지 않음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68680" y="5577840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기기가 밀집하면 화면 반응이 느려짐 (20대 이상)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868680" y="5888736"/>
            <a:ext cx="722376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③  안드로이드 8.0 이상에서만 설치된다</a:t>
            </a:r>
          </a:p>
        </p:txBody>
      </p:sp>
      <p:pic>
        <p:nvPicPr>
          <p:cNvPr id="30" name="Picture 29" descr="fig_radius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778240" y="4535424"/>
            <a:ext cx="2468880" cy="13639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4. 사용자 피드백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8288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오더십 리뷰 반영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658368" y="1463040"/>
          <a:ext cx="7589519" cy="202996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777240"/>
                <a:gridCol w="3977639"/>
                <a:gridCol w="283464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차수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반영 내용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결과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1차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역할 전환 버튼 추가 · EPJ 역할 버튼 숨김 · 스플래시 교체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앱 재설치 없이 화면에서 역할 전환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2차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같은 기기 · 같은 등급에 5초 이상 머물면 소리 · 진동 자동 음소거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표시 · 기록은 유지, 등급 오르면 즉시 재발령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566928">
                <a:tc>
                  <a:txBody>
                    <a:bodyPr/>
                    <a:lstStyle/>
                    <a:p>
                      <a:pPr algn="l"/>
                      <a:r>
                        <a:rPr sz="1100" b="1" i="0">
                          <a:solidFill>
                            <a:srgbClr val="1C2833"/>
                          </a:solidFill>
                          <a:latin typeface="Malgun Gothic"/>
                        </a:rPr>
                        <a:t>3차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세이프존 — 휴게실 · 충전 구역에 비콘을 두면 경보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00" b="0" i="0">
                          <a:solidFill>
                            <a:srgbClr val="1C2833"/>
                          </a:solidFill>
                          <a:latin typeface="Malgun Gothic"/>
                        </a:rPr>
                        <a:t>존 안의 기기는 상대에게도 안전으로 인식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pic>
        <p:nvPicPr>
          <p:cNvPr id="15" name="Picture 14" descr="fig_z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485632" y="1389888"/>
            <a:ext cx="3182112" cy="1371928"/>
          </a:xfrm>
          <a:prstGeom prst="rect">
            <a:avLst/>
          </a:prstGeom>
        </p:spPr>
      </p:pic>
      <p:sp>
        <p:nvSpPr>
          <p:cNvPr id="16" name="Rectangle 15"/>
          <p:cNvSpPr/>
          <p:nvPr/>
        </p:nvSpPr>
        <p:spPr>
          <a:xfrm>
            <a:off x="640080" y="3675887"/>
            <a:ext cx="16916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현장 요구 반영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58368" y="4114800"/>
          <a:ext cx="11064240" cy="1938528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1600200"/>
                <a:gridCol w="4251960"/>
                <a:gridCol w="521208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항목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Before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After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보호 상태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끊겨도 작업자가 알 수 없음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감지가 멈추면 상시 알림에 이상 표시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이탈 후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멀어졌는데 다시 울림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경고 범위 재발령 억제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알림 끄기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단계가 번거로움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알림 본문을 누르면 즉시 무음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02336">
                <a:tc>
                  <a:txBody>
                    <a:bodyPr/>
                    <a:lstStyle/>
                    <a:p>
                      <a:pPr algn="l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경보 화면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눈에 잘 들어오지 않음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화면 가장자리에 붙는 사이드바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5. 시연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TextBox 12"/>
          <p:cNvSpPr txBox="1"/>
          <p:nvPr/>
        </p:nvSpPr>
        <p:spPr>
          <a:xfrm>
            <a:off x="640080" y="932688"/>
            <a:ext cx="11155680" cy="64008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400" b="1" i="0">
                <a:solidFill>
                  <a:srgbClr val="1C2833"/>
                </a:solidFill>
                <a:latin typeface="Malgun Gothic"/>
              </a:rPr>
              <a:t>신호 수신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거리 추정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등급 판정</a:t>
            </a:r>
            <a:r>
              <a:rPr sz="1400" b="1" i="0">
                <a:solidFill>
                  <a:srgbClr val="8A949E"/>
                </a:solidFill>
                <a:latin typeface="Malgun Gothic"/>
              </a:rPr>
              <a:t>  →  </a:t>
            </a:r>
            <a:r>
              <a:rPr sz="1400" b="1" i="0">
                <a:solidFill>
                  <a:srgbClr val="1C2833"/>
                </a:solidFill>
                <a:latin typeface="Malgun Gothic"/>
              </a:rPr>
              <a:t>3중 경보</a:t>
            </a:r>
          </a:p>
          <a:p>
            <a:pPr algn="ctr"/>
            <a:r>
              <a:rPr sz="1050" b="0" i="1">
                <a:solidFill>
                  <a:srgbClr val="8A949E"/>
                </a:solidFill>
                <a:latin typeface="Malgun Gothic"/>
              </a:rPr>
              <a:t>BLE 광고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3단 필터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상태머신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   →   </a:t>
            </a:r>
            <a:r>
              <a:rPr sz="1050" b="0" i="1">
                <a:solidFill>
                  <a:srgbClr val="8A949E"/>
                </a:solidFill>
                <a:latin typeface="Malgun Gothic"/>
              </a:rPr>
              <a:t>소리 · 진동 · 화면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2959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동작 화면</a:t>
            </a:r>
          </a:p>
        </p:txBody>
      </p:sp>
      <p:pic>
        <p:nvPicPr>
          <p:cNvPr id="15" name="Picture 14" descr="screen_running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051560" y="2267712"/>
            <a:ext cx="1670538" cy="3474720"/>
          </a:xfrm>
          <a:prstGeom prst="rect">
            <a:avLst/>
          </a:prstGeom>
        </p:spPr>
      </p:pic>
      <p:sp>
        <p:nvSpPr>
          <p:cNvPr id="16" name="TextBox 15"/>
          <p:cNvSpPr txBox="1"/>
          <p:nvPr/>
        </p:nvSpPr>
        <p:spPr>
          <a:xfrm>
            <a:off x="2950698" y="1938528"/>
            <a:ext cx="2127738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설정 화면</a:t>
            </a:r>
          </a:p>
        </p:txBody>
      </p:sp>
      <p:pic>
        <p:nvPicPr>
          <p:cNvPr id="17" name="Picture 16" descr="screen_setting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179298" y="2267712"/>
            <a:ext cx="1670538" cy="3474720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5870448" y="1773936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200" b="1" i="0">
                <a:solidFill>
                  <a:srgbClr val="1C2833"/>
                </a:solidFill>
                <a:latin typeface="Malgun Gothic"/>
              </a:rPr>
              <a:t>시연 영상 — 슬라이드쇼에서 재생 (경보음 포함)</a:t>
            </a:r>
          </a:p>
        </p:txBody>
      </p:sp>
      <p:pic>
        <p:nvPicPr>
          <p:cNvPr id="19" name="safealert-sim.mp4">
            <a:hlinkClick r:id="" action="ppaction://media"/>
          </p:cNvPr>
          <p:cNvPicPr>
            <a:picLocks noChangeAspect="1"/>
          </p:cNvPicPr>
          <p:nvPr>
            <a:videoFile r:link="rId5"/>
            <p:extLst>
              <p:ext uri="{DAA4B4D4-6D71-4841-9C94-3DE7FCFB9230}">
                <p14:media xmlns:p14="http://schemas.microsoft.com/office/powerpoint/2010/main" r:embed="rId4"/>
              </p:ext>
            </p:extLst>
          </p:nvPr>
        </p:nvPicPr>
        <p:blipFill>
          <a:blip r:embed="rId6"/>
          <a:stretch>
            <a:fillRect/>
          </a:stretch>
        </p:blipFill>
        <p:spPr>
          <a:xfrm>
            <a:off x="5870448" y="2121408"/>
            <a:ext cx="5806440" cy="3264242"/>
          </a:xfrm>
          <a:prstGeom prst="rect">
            <a:avLst/>
          </a:prstGeom>
        </p:spPr>
      </p:pic>
      <p:sp>
        <p:nvSpPr>
          <p:cNvPr id="20" name="TextBox 19"/>
          <p:cNvSpPr txBox="1"/>
          <p:nvPr/>
        </p:nvSpPr>
        <p:spPr>
          <a:xfrm>
            <a:off x="5870448" y="5550242"/>
            <a:ext cx="5806440" cy="29260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>
              <a:spcAft>
                <a:spcPts val="400"/>
              </a:spcAft>
            </a:pPr>
            <a:r>
              <a:rPr sz="1100" b="0" i="0">
                <a:solidFill>
                  <a:srgbClr val="5D6D7E"/>
                </a:solidFill>
                <a:latin typeface="Malgun Gothic"/>
              </a:rPr>
              <a:t>판정 시뮬레이터 — web/safealert-simulator.html 에서 직접 조작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  <p:timing>
    <p:tnLst>
      <p:par>
        <p:cTn id="1" dur="indefinite" restart="never" nodeType="tmRoot">
          <p:childTnLst>
            <p:video>
              <p:cMediaNode vol="80000">
                <p:cTn id="2" fill="hold" display="0">
                  <p:stCondLst>
                    <p:cond delay="indefinite"/>
                  </p:stCondLst>
                </p:cTn>
                <p:tgtEl>
                  <p:spTgt spid="19"/>
                </p:tgtEl>
              </p:cMediaNode>
            </p:video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6. 진행 단계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Phase 1 ~ 5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240280" y="1051560"/>
            <a:ext cx="9326880" cy="27432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200" b="0" i="0">
                <a:solidFill>
                  <a:srgbClr val="5D6D7E"/>
                </a:solidFill>
                <a:latin typeface="Malgun Gothic"/>
              </a:rPr>
              <a:t>새 기능을 붙이는 작업이 아니다. 판정이 흔들리는 구조적 원인을 걷어낸다.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658368" y="1481328"/>
          <a:ext cx="11064240" cy="2706624"/>
        </p:xfrm>
        <a:graphic>
          <a:graphicData uri="http://schemas.openxmlformats.org/drawingml/2006/table">
            <a:tbl>
              <a:tblPr firstRow="1" bandRow="0">
                <a:tableStyleId>{5C22544A-7EE6-4342-B048-85BDC9FD1C3A}</a:tableStyleId>
              </a:tblPr>
              <a:tblGrid>
                <a:gridCol w="685800"/>
                <a:gridCol w="3794760"/>
                <a:gridCol w="5394960"/>
                <a:gridCol w="1188720"/>
              </a:tblGrid>
              <a:tr h="329184"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단계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무엇을 하는가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출하 시 현장에서 확인할 것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00" b="1" i="0">
                          <a:solidFill>
                            <a:srgbClr val="FFFFFF"/>
                          </a:solidFill>
                          <a:latin typeface="Malgun Gothic"/>
                        </a:rPr>
                        <a:t>상태</a:t>
                      </a:r>
                    </a:p>
                  </a:txBody>
                  <a:tcPr marL="73152" marR="73152" marT="0" marB="0" anchor="ctr">
                    <a:lnB w="9525" cap="flat" cmpd="sng" algn="ctr">
                      <a:solidFill>
                        <a:srgbClr val="333B45"/>
                      </a:solidFill>
                    </a:lnB>
                    <a:lnT w="9525" cap="flat" cmpd="sng" algn="ctr">
                      <a:solidFill>
                        <a:srgbClr val="333B45"/>
                      </a:solidFill>
                    </a:lnT>
                    <a:lnR w="9525" cap="flat" cmpd="sng" algn="ctr">
                      <a:solidFill>
                        <a:srgbClr val="333B45"/>
                      </a:solidFill>
                    </a:lnR>
                    <a:lnL w="9525" cap="flat" cmpd="sng" algn="ctr">
                      <a:solidFill>
                        <a:srgbClr val="333B45"/>
                      </a:solidFill>
                    </a:lnL>
                    <a:solidFill>
                      <a:srgbClr val="333B45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1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테스트 하네스와 CI 회귀 게이트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설치 · 경보 동작이 이전과 같은가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완료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2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안전 크리티컬 경로 골든 테스트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천천히 접근하는 지게차에 경고가 뜨는가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3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BleService 분해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달라진 게 없는가 (동작 보존)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4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기기 상태 단일화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2시간 이상 구동 후에도 느려지지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  <a:tr h="475488">
                <a:tc>
                  <a:txBody>
                    <a:bodyPr/>
                    <a:lstStyle/>
                    <a:p>
                      <a:pPr algn="ctr"/>
                      <a:r>
                        <a:rPr sz="1150" b="1" i="0">
                          <a:solidFill>
                            <a:srgbClr val="1C2833"/>
                          </a:solidFill>
                          <a:latin typeface="Malgun Gothic"/>
                        </a:rPr>
                        <a:t>5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판정 워커 분리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20대 이상에서 화면이 끊기지 않는가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sz="1150" b="0" i="0">
                          <a:solidFill>
                            <a:srgbClr val="1C2833"/>
                          </a:solidFill>
                          <a:latin typeface="Malgun Gothic"/>
                        </a:rPr>
                        <a:t>예정</a:t>
                      </a:r>
                    </a:p>
                  </a:txBody>
                  <a:tcPr marL="73152" marR="73152" marT="18288" marB="18288" anchor="ctr">
                    <a:lnB w="9525" cap="flat" cmpd="sng" algn="ctr">
                      <a:solidFill>
                        <a:srgbClr val="D5DBDB"/>
                      </a:solidFill>
                    </a:lnB>
                    <a:lnT w="9525" cap="flat" cmpd="sng" algn="ctr">
                      <a:solidFill>
                        <a:srgbClr val="FFFFFF"/>
                      </a:solidFill>
                    </a:lnT>
                    <a:lnR w="9525" cap="flat" cmpd="sng" algn="ctr">
                      <a:solidFill>
                        <a:srgbClr val="FFFFFF"/>
                      </a:solidFill>
                    </a:lnR>
                    <a:lnL w="9525" cap="flat" cmpd="sng" algn="ctr">
                      <a:solidFill>
                        <a:srgbClr val="FFFFFF"/>
                      </a:solidFill>
                    </a:lnL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6" name="Rectangle 15"/>
          <p:cNvSpPr/>
          <p:nvPr/>
        </p:nvSpPr>
        <p:spPr>
          <a:xfrm>
            <a:off x="640080" y="4315968"/>
            <a:ext cx="146304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이 순서인 이유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68680" y="4773168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①  측정 수단이 먼저다 — 테스트 0건 상태에서 안전 로직을 분해하면, 회귀를 현장에서 발견하는 방식이 그대로 남는다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157216"/>
            <a:ext cx="108813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400"/>
              </a:spcAft>
            </a:pPr>
            <a:r>
              <a:rPr sz="1150" b="0" i="0">
                <a:solidFill>
                  <a:srgbClr val="1C2833"/>
                </a:solidFill>
                <a:latin typeface="Malgun Gothic"/>
              </a:rPr>
              <a:t>②  단계마다 단독 배포한다 — 변경을 섞어 내보내면 현장에서 회귀가 나도 어느 변경 탓인지 특정할 수 없다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0080" y="5687568"/>
            <a:ext cx="10908792" cy="384048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500" b="1" i="0">
                <a:solidFill>
                  <a:srgbClr val="C0392B"/>
                </a:solidFill>
                <a:latin typeface="Malgun Gothic"/>
              </a:rPr>
              <a:t>1.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완료 1 / 5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2.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전 단계 출하 가능      </a:t>
            </a:r>
            <a:r>
              <a:rPr sz="1500" b="1" i="0">
                <a:solidFill>
                  <a:srgbClr val="C0392B"/>
                </a:solidFill>
                <a:latin typeface="Malgun Gothic"/>
              </a:rPr>
              <a:t>3. </a:t>
            </a:r>
            <a:r>
              <a:rPr sz="1500" b="1" i="0">
                <a:solidFill>
                  <a:srgbClr val="1C2833"/>
                </a:solidFill>
                <a:latin typeface="Malgun Gothic"/>
              </a:rPr>
              <a:t>현장 확인은 단계당 1건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E4EFD6F4-EBDD-9AC2-DC28-2DDF0C04A56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제목 1">
            <a:extLst>
              <a:ext uri="{FF2B5EF4-FFF2-40B4-BE49-F238E27FC236}">
                <a16:creationId xmlns:a16="http://schemas.microsoft.com/office/drawing/2014/main" id="{3462F1EA-748D-175E-1C14-5E9984552716}"/>
              </a:ext>
            </a:extLst>
          </p:cNvPr>
          <p:cNvSpPr txBox="1">
            <a:spLocks/>
          </p:cNvSpPr>
          <p:nvPr/>
        </p:nvSpPr>
        <p:spPr>
          <a:xfrm>
            <a:off x="636390" y="928122"/>
            <a:ext cx="11342595" cy="3980770"/>
          </a:xfrm>
          <a:prstGeom prst="rect">
            <a:avLst/>
          </a:prstGeom>
          <a:noFill/>
        </p:spPr>
        <p:txBody>
          <a:bodyPr vert="horz" wrap="square" lIns="91440" tIns="45720" rIns="91440" bIns="45720" rtlCol="0" anchor="t">
            <a:spAutoFit/>
          </a:bodyPr>
          <a:lstStyle>
            <a:lvl1pPr marL="0" indent="0" algn="l" defTabSz="914400" rtl="0" eaLnBrk="1" latinLnBrk="1" hangingPunct="1">
              <a:lnSpc>
                <a:spcPct val="100000"/>
              </a:lnSpc>
              <a:spcBef>
                <a:spcPct val="0"/>
              </a:spcBef>
              <a:buNone/>
              <a:defRPr lang="en-US" sz="1600" b="1" kern="1200" dirty="0">
                <a:solidFill>
                  <a:srgbClr val="560000"/>
                </a:solidFill>
                <a:latin typeface="+mj-ea"/>
                <a:ea typeface="+mj-ea"/>
                <a:cs typeface="+mn-cs"/>
              </a:defRPr>
            </a:lvl1pPr>
          </a:lstStyle>
          <a:p>
            <a:pPr>
              <a:lnSpc>
                <a:spcPct val="150000"/>
              </a:lnSpc>
            </a:pPr>
            <a:endParaRPr lang="en-US" altLang="ko-KR" sz="1400" dirty="0">
              <a:solidFill>
                <a:schemeClr val="tx1"/>
              </a:solidFill>
              <a:latin typeface="+mn-ea"/>
              <a:ea typeface="+mn-ea"/>
            </a:endParaRPr>
          </a:p>
        </p:txBody>
      </p:sp>
      <p:sp>
        <p:nvSpPr>
          <p:cNvPr id="2" name="제목 1">
            <a:extLst>
              <a:ext uri="{FF2B5EF4-FFF2-40B4-BE49-F238E27FC236}">
                <a16:creationId xmlns:a16="http://schemas.microsoft.com/office/drawing/2014/main" id="{54B5B938-7AFE-1302-EB19-024D633AA0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36391" y="595686"/>
            <a:ext cx="11293263" cy="338554"/>
          </a:xfrm>
        </p:spPr>
        <p:txBody>
          <a:bodyPr/>
          <a:lstStyle/>
          <a:p>
            <a:r>
              <a:rPr lang="en-US" altLang="ko-KR" dirty="0">
                <a:latin typeface="맑은 고딕" panose="020B0503020000020004" pitchFamily="50" charset="-127"/>
                <a:ea typeface="맑은 고딕" panose="020B0503020000020004" pitchFamily="50" charset="-127"/>
              </a:rPr>
              <a:t>7. Andon — 중단 · 롤백 기준</a:t>
            </a:r>
            <a:endParaRPr lang="ko-KR" altLang="en-US" dirty="0"/>
          </a:p>
        </p:txBody>
      </p:sp>
      <p:sp>
        <p:nvSpPr>
          <p:cNvPr id="12" name="슬라이드 번호 개체 틀 11">
            <a:extLst>
              <a:ext uri="{FF2B5EF4-FFF2-40B4-BE49-F238E27FC236}">
                <a16:creationId xmlns:a16="http://schemas.microsoft.com/office/drawing/2014/main" id="{B7184ABC-D9FC-E120-072A-5615A956917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A2CF8A37-2FCE-495B-9275-FE23C56C2D36}" type="slidenum">
              <a:rPr lang="ko-KR" altLang="en-US" smtClean="0"/>
              <a:pPr/>
              <a:t>4</a:t>
            </a:fld>
            <a:endParaRPr lang="ko-KR" altLang="en-US" dirty="0"/>
          </a:p>
        </p:txBody>
      </p:sp>
      <p:sp>
        <p:nvSpPr>
          <p:cNvPr id="13" name="Rectangle 12"/>
          <p:cNvSpPr/>
          <p:nvPr/>
        </p:nvSpPr>
        <p:spPr>
          <a:xfrm>
            <a:off x="640080" y="1024128"/>
            <a:ext cx="13716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Andon 기준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355080" y="1024128"/>
            <a:ext cx="1371600" cy="301752"/>
          </a:xfrm>
          <a:prstGeom prst="rect">
            <a:avLst/>
          </a:prstGeom>
          <a:solidFill>
            <a:srgbClr val="8C8C8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36576" rIns="36576" tIns="0" bIns="0"/>
          <a:lstStyle/>
          <a:p>
            <a:pPr algn="ctr"/>
            <a:r>
              <a:rPr sz="1100" b="1" i="0">
                <a:solidFill>
                  <a:srgbClr val="FFFFFF"/>
                </a:solidFill>
                <a:latin typeface="Malgun Gothic"/>
              </a:rPr>
              <a:t>조치 방법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1517904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동작 보존 실패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분해 전후로 골든 테스트 기대값이 한 건이라도 바뀌면
그 단계는 통과가 아니다 (Phase 3 수용 게이트)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37960" y="1517904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즉시 롤백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직전 태그 APK 로 되돌린다. 자동 업데이트 경로가 있어
현장 재설치 없이 배포된다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2960" y="2651760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현장 회귀 재발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이전에 고친 증상(미발령 · 상시 경보 · 사이렌 반복)이
다시 관측되면 그 단계를 중단한다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537960" y="2651760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원인 귀속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단계를 단독 배포하기 때문에 회귀가 나면 어느 변경
탓인지 특정된다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822960" y="3785615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CI 게이트 적색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골든 테스트가 실패하면 APK 릴리스가 자동 차단된다
— 이미 동작 중인 장치다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37960" y="3785615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재개 조건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실패한 상황을 테스트로 고정한 뒤에만 다음 단계로
넘어간다 — 같은 증상이 두 번 돌아오지 않게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22960" y="4919472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C0392B"/>
                </a:solidFill>
                <a:latin typeface="Malgun Gothic"/>
              </a:rPr>
              <a:t>UWB 의존 파손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프리릴리스 UWB API 의 파괴 변경으로 경로가 깨지면
UWB 를 끄고 BLE 단독으로 내린다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537960" y="4919472"/>
            <a:ext cx="5120640" cy="100584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l">
              <a:spcAft>
                <a:spcPts val="300"/>
              </a:spcAft>
            </a:pPr>
            <a:r>
              <a:rPr sz="1300" b="1" i="0">
                <a:solidFill>
                  <a:srgbClr val="1C2833"/>
                </a:solidFill>
                <a:latin typeface="Malgun Gothic"/>
              </a:rPr>
              <a:t>현장 부담</a:t>
            </a:r>
          </a:p>
          <a:p>
            <a:pPr algn="l">
              <a:spcAft>
                <a:spcPts val="300"/>
              </a:spcAft>
            </a:pPr>
            <a:r>
              <a:rPr sz="1150" b="0" i="0">
                <a:solidFill>
                  <a:srgbClr val="5D6D7E"/>
                </a:solidFill>
                <a:latin typeface="Malgun Gothic"/>
              </a:rPr>
              <a:t>확인 항목은 단계당 1건으로 제한한다. 검증 사이클이
현장 가용 시간에 묶여 있다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053328"/>
            <a:ext cx="7680960" cy="365760"/>
          </a:xfrm>
          <a:prstGeom prst="rect">
            <a:avLst/>
          </a:prstGeom>
          <a:noFill/>
        </p:spPr>
        <p:txBody>
          <a:bodyPr wrap="square" lIns="36576" rIns="36576" tIns="0" bIns="0">
            <a:spAutoFit/>
          </a:bodyPr>
          <a:lstStyle/>
          <a:p>
            <a:pPr algn="ctr"/>
            <a:r>
              <a:rPr sz="1150" b="0" i="1">
                <a:solidFill>
                  <a:srgbClr val="5D6D7E"/>
                </a:solidFill>
                <a:latin typeface="Malgun Gothic"/>
              </a:rPr>
              <a:t>“멈출 기준을 먼저 정해 두는 것이, 멈추지 않고 밀어붙이는 것보다 빠릅니다.”</a:t>
            </a:r>
          </a:p>
        </p:txBody>
      </p:sp>
    </p:spTree>
    <p:extLst>
      <p:ext uri="{BB962C8B-B14F-4D97-AF65-F5344CB8AC3E}">
        <p14:creationId xmlns:p14="http://schemas.microsoft.com/office/powerpoint/2010/main" val="3987384774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맑은 고딕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_rels/item4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4.xml"/></Relationships>
</file>

<file path=customXml/item1.xml><?xml version="1.0" encoding="utf-8"?>
<titus xmlns="http://schemas.titus.com/TitusProperties/">
  <TitusGUID xmlns="">3327b2bf-19c0-4f57-9539-c91175161ccc</TitusGUID>
</titus>
</file>

<file path=customXml/item2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3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lcf76f155ced4ddcb4097134ff3c332f xmlns="76a6179b-2f14-4671-ab0e-29dce86f04e9">
      <Terms xmlns="http://schemas.microsoft.com/office/infopath/2007/PartnerControls"/>
    </lcf76f155ced4ddcb4097134ff3c332f>
    <TaxCatchAll xmlns="7bd31d1b-6204-41d2-a069-7c433ba37a45" xsi:nil="true"/>
  </documentManagement>
</p:properties>
</file>

<file path=customXml/item4.xml><?xml version="1.0" encoding="utf-8"?>
<ct:contentTypeSchema xmlns:ct="http://schemas.microsoft.com/office/2006/metadata/contentType" xmlns:ma="http://schemas.microsoft.com/office/2006/metadata/properties/metaAttributes" ct:_="" ma:_="" ma:contentTypeName="문서" ma:contentTypeID="0x0101002AE316ECD567BE44870EC877D106A6EF" ma:contentTypeVersion="14" ma:contentTypeDescription="새 문서를 만듭니다." ma:contentTypeScope="" ma:versionID="780609d91c8a00f892fa9cab9ca1e64a">
  <xsd:schema xmlns:xsd="http://www.w3.org/2001/XMLSchema" xmlns:xs="http://www.w3.org/2001/XMLSchema" xmlns:p="http://schemas.microsoft.com/office/2006/metadata/properties" xmlns:ns2="76a6179b-2f14-4671-ab0e-29dce86f04e9" xmlns:ns3="7bd31d1b-6204-41d2-a069-7c433ba37a45" targetNamespace="http://schemas.microsoft.com/office/2006/metadata/properties" ma:root="true" ma:fieldsID="3e1083bd13da805ebe2b366bd6eb46fa" ns2:_="" ns3:_="">
    <xsd:import namespace="76a6179b-2f14-4671-ab0e-29dce86f04e9"/>
    <xsd:import namespace="7bd31d1b-6204-41d2-a069-7c433ba37a45"/>
    <xsd:element name="properties">
      <xsd:complexType>
        <xsd:sequence>
          <xsd:element name="documentManagement">
            <xsd:complexType>
              <xsd:all>
                <xsd:element ref="ns2:MediaServiceMetadata" minOccurs="0"/>
                <xsd:element ref="ns2:MediaServiceFastMetadata" minOccurs="0"/>
                <xsd:element ref="ns2:MediaServiceSearchProperties" minOccurs="0"/>
                <xsd:element ref="ns2:MediaServiceObjectDetectorVersions" minOccurs="0"/>
                <xsd:element ref="ns2:lcf76f155ced4ddcb4097134ff3c332f" minOccurs="0"/>
                <xsd:element ref="ns3:TaxCatchAll" minOccurs="0"/>
                <xsd:element ref="ns2:MediaServiceDateTaken" minOccurs="0"/>
                <xsd:element ref="ns2:MediaServiceOCR" minOccurs="0"/>
                <xsd:element ref="ns2:MediaServiceGenerationTime" minOccurs="0"/>
                <xsd:element ref="ns2:MediaServiceEventHashCode" minOccurs="0"/>
                <xsd:element ref="ns2:MediaServiceLocation" minOccurs="0"/>
                <xsd:element ref="ns2:MediaServiceBillingMetadata" minOccurs="0"/>
                <xsd:element ref="ns2:MediaLengthInSecond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6a6179b-2f14-4671-ab0e-29dce86f04e9" elementFormDefault="qualified">
    <xsd:import namespace="http://schemas.microsoft.com/office/2006/documentManagement/types"/>
    <xsd:import namespace="http://schemas.microsoft.com/office/infopath/2007/PartnerControls"/>
    <xsd:element name="MediaServiceMetadata" ma:index="8" nillable="true" ma:displayName="MediaServiceMetadata" ma:hidden="true" ma:internalName="MediaServiceMetadata" ma:readOnly="true">
      <xsd:simpleType>
        <xsd:restriction base="dms:Note"/>
      </xsd:simpleType>
    </xsd:element>
    <xsd:element name="MediaServiceFastMetadata" ma:index="9" nillable="true" ma:displayName="MediaServiceFastMetadata" ma:hidden="true" ma:internalName="MediaServiceFastMetadata" ma:readOnly="true">
      <xsd:simpleType>
        <xsd:restriction base="dms:Note"/>
      </xsd:simpleType>
    </xsd:element>
    <xsd:element name="MediaServiceSearchProperties" ma:index="10" nillable="true" ma:displayName="MediaServiceSearchProperties" ma:hidden="true" ma:internalName="MediaServiceSearchProperties" ma:readOnly="true">
      <xsd:simpleType>
        <xsd:restriction base="dms:Note"/>
      </xsd:simpleType>
    </xsd:element>
    <xsd:element name="MediaServiceObjectDetectorVersions" ma:index="11" nillable="true" ma:displayName="MediaServiceObjectDetectorVersions" ma:hidden="true" ma:indexed="true" ma:internalName="MediaServiceObjectDetectorVersions" ma:readOnly="true">
      <xsd:simpleType>
        <xsd:restriction base="dms:Text"/>
      </xsd:simpleType>
    </xsd:element>
    <xsd:element name="lcf76f155ced4ddcb4097134ff3c332f" ma:index="13" nillable="true" ma:taxonomy="true" ma:internalName="lcf76f155ced4ddcb4097134ff3c332f" ma:taxonomyFieldName="MediaServiceImageTags" ma:displayName="이미지 태그" ma:readOnly="false" ma:fieldId="{5cf76f15-5ced-4ddc-b409-7134ff3c332f}" ma:taxonomyMulti="true" ma:sspId="0e116155-e74f-41f9-90e9-2cd01caac419" ma:termSetId="09814cd3-568e-fe90-9814-8d621ff8fb84" ma:anchorId="fba54fb3-c3e1-fe81-a776-ca4b69148c4d" ma:open="true" ma:isKeyword="false">
      <xsd:complexType>
        <xsd:sequence>
          <xsd:element ref="pc:Terms" minOccurs="0" maxOccurs="1"/>
        </xsd:sequence>
      </xsd:complexType>
    </xsd:element>
    <xsd:element name="MediaServiceDateTaken" ma:index="15" nillable="true" ma:displayName="MediaServiceDateTaken" ma:hidden="true" ma:indexed="true" ma:internalName="MediaServiceDateTaken" ma:readOnly="true">
      <xsd:simpleType>
        <xsd:restriction base="dms:Text"/>
      </xsd:simpleType>
    </xsd:element>
    <xsd:element name="MediaServiceOCR" ma:index="16" nillable="true" ma:displayName="Extracted Text" ma:internalName="MediaServiceOCR" ma:readOnly="true">
      <xsd:simpleType>
        <xsd:restriction base="dms:Note">
          <xsd:maxLength value="255"/>
        </xsd:restriction>
      </xsd:simpleType>
    </xsd:element>
    <xsd:element name="MediaServiceGenerationTime" ma:index="17" nillable="true" ma:displayName="MediaServiceGenerationTime" ma:hidden="true" ma:internalName="MediaServiceGenerationTime" ma:readOnly="true">
      <xsd:simpleType>
        <xsd:restriction base="dms:Text"/>
      </xsd:simpleType>
    </xsd:element>
    <xsd:element name="MediaServiceEventHashCode" ma:index="18" nillable="true" ma:displayName="MediaServiceEventHashCode" ma:hidden="true" ma:internalName="MediaServiceEventHashCode" ma:readOnly="true">
      <xsd:simpleType>
        <xsd:restriction base="dms:Text"/>
      </xsd:simpleType>
    </xsd:element>
    <xsd:element name="MediaServiceLocation" ma:index="19" nillable="true" ma:displayName="Location" ma:indexed="true" ma:internalName="MediaServiceLocation" ma:readOnly="true">
      <xsd:simpleType>
        <xsd:restriction base="dms:Text"/>
      </xsd:simpleType>
    </xsd:element>
    <xsd:element name="MediaServiceBillingMetadata" ma:index="20" nillable="true" ma:displayName="MediaServiceBillingMetadata" ma:hidden="true" ma:internalName="MediaServiceBillingMetadata" ma:readOnly="true">
      <xsd:simpleType>
        <xsd:restriction base="dms:Note"/>
      </xsd:simpleType>
    </xsd:element>
    <xsd:element name="MediaLengthInSeconds" ma:index="21" nillable="true" ma:displayName="MediaLengthInSeconds" ma:hidden="true" ma:internalName="MediaLengthInSeconds" ma:readOnly="true">
      <xsd:simpleType>
        <xsd:restriction base="dms:Unknown"/>
      </xsd:simple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7bd31d1b-6204-41d2-a069-7c433ba37a45" elementFormDefault="qualified">
    <xsd:import namespace="http://schemas.microsoft.com/office/2006/documentManagement/types"/>
    <xsd:import namespace="http://schemas.microsoft.com/office/infopath/2007/PartnerControls"/>
    <xsd:element name="TaxCatchAll" ma:index="14" nillable="true" ma:displayName="Taxonomy Catch All Column" ma:hidden="true" ma:list="{c67ab031-a979-428a-b0e7-28811c5fe8b6}" ma:internalName="TaxCatchAll" ma:showField="CatchAllData" ma:web="7bd31d1b-6204-41d2-a069-7c433ba37a45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콘텐츠 형식"/>
        <xsd:element ref="dc:title" minOccurs="0" maxOccurs="1" ma:index="4" ma:displayName="제목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Props1.xml><?xml version="1.0" encoding="utf-8"?>
<ds:datastoreItem xmlns:ds="http://schemas.openxmlformats.org/officeDocument/2006/customXml" ds:itemID="{7DBCB82D-E097-4D4E-9654-54D24CD87C57}">
  <ds:schemaRefs>
    <ds:schemaRef ds:uri="http://schemas.titus.com/TitusProperties/"/>
    <ds:schemaRef ds:uri=""/>
  </ds:schemaRefs>
</ds:datastoreItem>
</file>

<file path=customXml/itemProps2.xml><?xml version="1.0" encoding="utf-8"?>
<ds:datastoreItem xmlns:ds="http://schemas.openxmlformats.org/officeDocument/2006/customXml" ds:itemID="{06EE4A5A-CCD2-4A8A-94E7-4945C0E6EE02}">
  <ds:schemaRefs>
    <ds:schemaRef ds:uri="http://schemas.microsoft.com/sharepoint/v3/contenttype/forms"/>
  </ds:schemaRefs>
</ds:datastoreItem>
</file>

<file path=customXml/itemProps3.xml><?xml version="1.0" encoding="utf-8"?>
<ds:datastoreItem xmlns:ds="http://schemas.openxmlformats.org/officeDocument/2006/customXml" ds:itemID="{77DAE5D2-9BE4-4564-B221-A6F0CD24B2E1}">
  <ds:schemaRefs>
    <ds:schemaRef ds:uri="http://schemas.openxmlformats.org/package/2006/metadata/core-properties"/>
    <ds:schemaRef ds:uri="http://schemas.microsoft.com/office/2006/documentManagement/types"/>
    <ds:schemaRef ds:uri="a95f480a-5fea-4514-b796-230b9c7e167c"/>
    <ds:schemaRef ds:uri="http://schemas.microsoft.com/office/2006/metadata/properties"/>
    <ds:schemaRef ds:uri="http://schemas.microsoft.com/office/infopath/2007/PartnerControls"/>
    <ds:schemaRef ds:uri="http://purl.org/dc/terms/"/>
    <ds:schemaRef ds:uri="http://purl.org/dc/elements/1.1/"/>
    <ds:schemaRef ds:uri="d6bd90c4-9ada-44e9-a6c9-d21ca0deef1f"/>
    <ds:schemaRef ds:uri="http://www.w3.org/XML/1998/namespace"/>
    <ds:schemaRef ds:uri="http://purl.org/dc/dcmitype/"/>
    <ds:schemaRef ds:uri="76a6179b-2f14-4671-ab0e-29dce86f04e9"/>
    <ds:schemaRef ds:uri="7bd31d1b-6204-41d2-a069-7c433ba37a45"/>
  </ds:schemaRefs>
</ds:datastoreItem>
</file>

<file path=customXml/itemProps4.xml><?xml version="1.0" encoding="utf-8"?>
<ds:datastoreItem xmlns:ds="http://schemas.openxmlformats.org/officeDocument/2006/customXml" ds:itemID="{529E5092-334A-4ED8-905D-FF9B7B54601E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76a6179b-2f14-4671-ab0e-29dce86f04e9"/>
    <ds:schemaRef ds:uri="7bd31d1b-6204-41d2-a069-7c433ba37a45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docMetadata/LabelInfo.xml><?xml version="1.0" encoding="utf-8"?>
<clbl:labelList xmlns:clbl="http://schemas.microsoft.com/office/2020/mipLabelMetadata">
  <clbl:label id="{b2367e6a-aeaa-40b4-b419-96318dd766f8}" enabled="1" method="Standard" siteId="{9d9f74be-786b-48f6-8e18-83cf7a2eef7c}" contentBits="3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3888</TotalTime>
  <Words>1627</Words>
  <Application>Microsoft Office PowerPoint</Application>
  <PresentationFormat>와이드스크린</PresentationFormat>
  <Paragraphs>393</Paragraphs>
  <Slides>16</Slides>
  <Notes>14</Notes>
  <HiddenSlides>0</HiddenSlides>
  <MMClips>0</MMClips>
  <ScaleCrop>false</ScaleCrop>
  <HeadingPairs>
    <vt:vector size="6" baseType="variant">
      <vt:variant>
        <vt:lpstr>사용한 글꼴</vt:lpstr>
      </vt:variant>
      <vt:variant>
        <vt:i4>5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16</vt:i4>
      </vt:variant>
    </vt:vector>
  </HeadingPairs>
  <TitlesOfParts>
    <vt:vector size="22" baseType="lpstr">
      <vt:lpstr>맑은 고딕</vt:lpstr>
      <vt:lpstr>에스코어 드림 5 Medium</vt:lpstr>
      <vt:lpstr>Aptos</vt:lpstr>
      <vt:lpstr>Arial</vt:lpstr>
      <vt:lpstr>Calibri</vt:lpstr>
      <vt:lpstr>Office 테마</vt:lpstr>
      <vt:lpstr>PowerPoint 프레젠테이션</vt:lpstr>
      <vt:lpstr>Content</vt:lpstr>
      <vt:lpstr>1. 도입배경</vt:lpstr>
      <vt:lpstr>1. 도입배경</vt:lpstr>
      <vt:lpstr>2. 각 지게차 별 평가 및 만족도 조사</vt:lpstr>
      <vt:lpstr>2. 각 지게차 별 평가 및 만족도 조사</vt:lpstr>
      <vt:lpstr>3. CLACK</vt:lpstr>
      <vt:lpstr>3. CLACK</vt:lpstr>
      <vt:lpstr>3. CLACK</vt:lpstr>
      <vt:lpstr>4. HANGCHA</vt:lpstr>
      <vt:lpstr>4. HANGCHA</vt:lpstr>
      <vt:lpstr>4. HANGCHA</vt:lpstr>
      <vt:lpstr>5. ANTON</vt:lpstr>
      <vt:lpstr>5. ANTON</vt:lpstr>
      <vt:lpstr>5. ANTON</vt:lpstr>
      <vt:lpstr>PowerPoint 프레젠테이션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프레젠테이션</dc:title>
  <dc:creator>Bari Choi [Flex Fulfillment WF09 OB Forklift];Road Sim [Flex Fulfillment WF02 OB Forklift]</dc:creator>
  <cp:lastModifiedBy>Mighty Lee [Flex Fulfillment Dynamic Ops WF North 2]</cp:lastModifiedBy>
  <cp:revision>264</cp:revision>
  <cp:lastPrinted>2024-02-02T05:13:21Z</cp:lastPrinted>
  <dcterms:created xsi:type="dcterms:W3CDTF">2020-04-28T08:01:34Z</dcterms:created>
  <dcterms:modified xsi:type="dcterms:W3CDTF">2026-08-28T07:30:49Z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ContentTypeId">
    <vt:lpwstr>0x0101002AE316ECD567BE44870EC877D106A6EF</vt:lpwstr>
  </property>
  <property fmtid="{D5CDD505-2E9C-101B-9397-08002B2CF9AE}" pid="3" name="TitusGUID">
    <vt:lpwstr>3327b2bf-19c0-4f57-9539-c91175161ccc</vt:lpwstr>
  </property>
  <property fmtid="{D5CDD505-2E9C-101B-9397-08002B2CF9AE}" pid="4" name="ClassificationContentMarkingFooterLocations">
    <vt:lpwstr>Office 테마:10</vt:lpwstr>
  </property>
  <property fmtid="{D5CDD505-2E9C-101B-9397-08002B2CF9AE}" pid="5" name="ClassificationContentMarkingFooterText">
    <vt:lpwstr>2026-08-27T10:59:36 / Internal</vt:lpwstr>
  </property>
  <property fmtid="{D5CDD505-2E9C-101B-9397-08002B2CF9AE}" pid="6" name="ClassificationContentMarkingHeaderLocations">
    <vt:lpwstr>Office 테마:9</vt:lpwstr>
  </property>
  <property fmtid="{D5CDD505-2E9C-101B-9397-08002B2CF9AE}" pid="7" name="ClassificationContentMarkingHeaderText">
    <vt:lpwstr>CoupangFS Business-Internal User Only</vt:lpwstr>
  </property>
</Properties>
</file>