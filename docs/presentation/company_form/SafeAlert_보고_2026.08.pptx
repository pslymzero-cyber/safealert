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22"/>
  </p:notesMasterIdLst>
  <p:sldIdLst>
    <p:sldId id="256" r:id="rId6"/>
    <p:sldId id="342" r:id="rId7"/>
    <p:sldId id="394" r:id="rId9"/>
    <p:sldId id="405" r:id="rId38"/>
    <p:sldId id="404" r:id="rId37"/>
    <p:sldId id="403" r:id="rId36"/>
    <p:sldId id="402" r:id="rId35"/>
    <p:sldId id="401" r:id="rId34"/>
    <p:sldId id="400" r:id="rId33"/>
    <p:sldId id="399" r:id="rId32"/>
    <p:sldId id="398" r:id="rId31"/>
    <p:sldId id="397" r:id="rId30"/>
    <p:sldId id="396" r:id="rId29"/>
    <p:sldId id="395" r:id="rId28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DDDD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6377A61-D6DE-40FD-8AAE-D498C48F2E8F}" v="43" dt="2026-04-29T01:59:02.0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951" autoAdjust="0"/>
    <p:restoredTop sz="93228" autoAdjust="0"/>
  </p:normalViewPr>
  <p:slideViewPr>
    <p:cSldViewPr snapToGrid="0">
      <p:cViewPr varScale="1">
        <p:scale>
          <a:sx n="114" d="100"/>
          <a:sy n="114" d="100"/>
        </p:scale>
        <p:origin x="1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9" Type="http://schemas.openxmlformats.org/officeDocument/2006/relationships/slide" Target="slides/slide3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5/10/relationships/revisionInfo" Target="revisionInfo.xml"/><Relationship Id="rId28" Type="http://schemas.openxmlformats.org/officeDocument/2006/relationships/slide" Target="slides/slide14.xml"/><Relationship Id="rId29" Type="http://schemas.openxmlformats.org/officeDocument/2006/relationships/slide" Target="slides/slide13.xml"/><Relationship Id="rId30" Type="http://schemas.openxmlformats.org/officeDocument/2006/relationships/slide" Target="slides/slide12.xml"/><Relationship Id="rId31" Type="http://schemas.openxmlformats.org/officeDocument/2006/relationships/slide" Target="slides/slide11.xml"/><Relationship Id="rId32" Type="http://schemas.openxmlformats.org/officeDocument/2006/relationships/slide" Target="slides/slide10.xml"/><Relationship Id="rId33" Type="http://schemas.openxmlformats.org/officeDocument/2006/relationships/slide" Target="slides/slide9.xml"/><Relationship Id="rId34" Type="http://schemas.openxmlformats.org/officeDocument/2006/relationships/slide" Target="slides/slide8.xml"/><Relationship Id="rId35" Type="http://schemas.openxmlformats.org/officeDocument/2006/relationships/slide" Target="slides/slide7.xml"/><Relationship Id="rId36" Type="http://schemas.openxmlformats.org/officeDocument/2006/relationships/slide" Target="slides/slide6.xml"/><Relationship Id="rId37" Type="http://schemas.openxmlformats.org/officeDocument/2006/relationships/slide" Target="slides/slide5.xml"/><Relationship Id="rId38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F839CF-25B3-42E1-86CA-821A1CE64A45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22088A-3BB4-440B-AF55-FD785B8FFB5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18381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22088A-3BB4-440B-AF55-FD785B8FFB57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45856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2AAB1-F717-726C-DA71-F1F5E90A7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AF3212-E942-9096-4B1A-57ED8B29D3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F90DE48-757C-851C-A48A-0D487C82F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32BBE0-A9B7-189E-561D-C46C642FE8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22088A-3BB4-440B-AF55-FD785B8FFB57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83650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E18AE65-02B4-41D7-A8EA-65488B3A47C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419C12E-FD8D-439E-9DC4-E0392245D044}"/>
              </a:ext>
            </a:extLst>
          </p:cNvPr>
          <p:cNvSpPr txBox="1"/>
          <p:nvPr userDrawn="1"/>
        </p:nvSpPr>
        <p:spPr>
          <a:xfrm>
            <a:off x="227901" y="255514"/>
            <a:ext cx="93344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b="1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</a:t>
            </a:r>
            <a:endParaRPr lang="en-US" altLang="ko-KR" sz="700" b="1" kern="1200" baseline="0">
              <a:solidFill>
                <a:schemeClr val="bg1">
                  <a:lumMod val="75000"/>
                </a:schemeClr>
              </a:solidFill>
              <a:effectLst/>
              <a:latin typeface="+mj-ea"/>
              <a:ea typeface="+mj-ea"/>
              <a:cs typeface="+mn-cs"/>
            </a:endParaRPr>
          </a:p>
          <a:p>
            <a:pPr algn="l"/>
            <a:endParaRPr lang="en-US" altLang="ko-KR" sz="900" b="1" kern="1200" baseline="0">
              <a:solidFill>
                <a:schemeClr val="bg1">
                  <a:lumMod val="75000"/>
                </a:schemeClr>
              </a:solidFill>
              <a:effectLst/>
              <a:latin typeface="+mj-ea"/>
              <a:ea typeface="+mj-ea"/>
              <a:cs typeface="+mn-cs"/>
            </a:endParaRPr>
          </a:p>
          <a:p>
            <a:pPr algn="l"/>
            <a:r>
              <a:rPr lang="ko-KR" altLang="en-US" sz="700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이 문서는 </a:t>
            </a:r>
            <a:r>
              <a:rPr lang="ko-KR" altLang="en-US" sz="700" kern="1200" err="1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쿠팡풀필먼트서비스의</a:t>
            </a:r>
            <a:r>
              <a:rPr lang="ko-KR" altLang="en-US" sz="700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 대외비이며 지적자산 입니다</a:t>
            </a:r>
            <a:endParaRPr lang="ko-KR" altLang="en-US" sz="400">
              <a:solidFill>
                <a:schemeClr val="bg1">
                  <a:lumMod val="75000"/>
                </a:schemeClr>
              </a:solidFill>
              <a:latin typeface="+mj-ea"/>
              <a:ea typeface="+mj-ea"/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A96AF7CE-236C-428D-9955-08A423C085CB}"/>
              </a:ext>
            </a:extLst>
          </p:cNvPr>
          <p:cNvCxnSpPr/>
          <p:nvPr userDrawn="1"/>
        </p:nvCxnSpPr>
        <p:spPr>
          <a:xfrm>
            <a:off x="323850" y="476430"/>
            <a:ext cx="190891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6836695-72E5-40B1-B1BD-5A34EF2CCFDF}"/>
              </a:ext>
            </a:extLst>
          </p:cNvPr>
          <p:cNvSpPr/>
          <p:nvPr userDrawn="1"/>
        </p:nvSpPr>
        <p:spPr>
          <a:xfrm flipV="1">
            <a:off x="10829130" y="166065"/>
            <a:ext cx="1173891" cy="6438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4D1E454-D0FA-65B7-39EA-43F4A96A6A9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7271" y="394685"/>
            <a:ext cx="2305750" cy="183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4245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(로고 포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105634-23B1-4170-9633-9780F6A2E35E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A25EB2F-7F96-49EF-8A88-09A6C440C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16BC38-0538-4E75-B11C-C9B67AE67A13}"/>
              </a:ext>
            </a:extLst>
          </p:cNvPr>
          <p:cNvSpPr/>
          <p:nvPr userDrawn="1"/>
        </p:nvSpPr>
        <p:spPr>
          <a:xfrm>
            <a:off x="586215" y="665103"/>
            <a:ext cx="41563" cy="201673"/>
          </a:xfrm>
          <a:prstGeom prst="rect">
            <a:avLst/>
          </a:prstGeom>
          <a:solidFill>
            <a:srgbClr val="5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C3B9042-8183-48C7-9988-030D25438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342595" cy="338554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/>
            <a:r>
              <a:rPr lang="ko-KR" altLang="en-US"/>
              <a:t>마스터 제목 스타일 편집</a:t>
            </a:r>
            <a:endParaRPr 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6CEC7CE-163E-8BAE-F388-A2FD43833B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715E97F-3B48-2A0D-19E6-C98D272F27E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393" y="6092779"/>
            <a:ext cx="3519150" cy="27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0477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없음(로고 포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30CA2E-E975-45EE-82F9-4D03E22676C9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C4DE31CD-D181-41D0-8BC1-9C9C00E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0E8C301-BB43-E752-AF86-FB610DA7A6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BF8D160-5F2E-17BA-922C-94EE0028832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393" y="6092779"/>
            <a:ext cx="3519150" cy="27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0860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(로고 없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16BC38-0538-4E75-B11C-C9B67AE67A13}"/>
              </a:ext>
            </a:extLst>
          </p:cNvPr>
          <p:cNvSpPr/>
          <p:nvPr userDrawn="1"/>
        </p:nvSpPr>
        <p:spPr>
          <a:xfrm>
            <a:off x="586215" y="665103"/>
            <a:ext cx="41563" cy="201673"/>
          </a:xfrm>
          <a:prstGeom prst="rect">
            <a:avLst/>
          </a:prstGeom>
          <a:solidFill>
            <a:srgbClr val="5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C3B9042-8183-48C7-9988-030D25438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342595" cy="338554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/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6883D2-A478-45A5-B029-08F19CE016DB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45909009-EFA6-4514-9FF2-55D07CD14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D816EEA0-E5DD-BA80-1EB7-F04388F61E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1702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없음(로고 없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B8078C-09ED-4BA2-AD1C-388E6303C19D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4E1411F3-C169-4D9C-8879-36125E050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6109F11-0706-59BF-85DC-6D26CB44870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53370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(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E18AE65-02B4-41D7-A8EA-65488B3A47C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084"/>
          <a:stretch/>
        </p:blipFill>
        <p:spPr>
          <a:xfrm>
            <a:off x="0" y="0"/>
            <a:ext cx="12192000" cy="6372225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46836695-72E5-40B1-B1BD-5A34EF2CCFDF}"/>
              </a:ext>
            </a:extLst>
          </p:cNvPr>
          <p:cNvSpPr/>
          <p:nvPr userDrawn="1"/>
        </p:nvSpPr>
        <p:spPr>
          <a:xfrm flipV="1">
            <a:off x="10829130" y="166065"/>
            <a:ext cx="1173891" cy="6438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81CA27A-6328-3FE2-A8FD-1DE26AE2E9E2}"/>
              </a:ext>
            </a:extLst>
          </p:cNvPr>
          <p:cNvSpPr/>
          <p:nvPr userDrawn="1"/>
        </p:nvSpPr>
        <p:spPr>
          <a:xfrm>
            <a:off x="0" y="6680439"/>
            <a:ext cx="12192000" cy="177561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1D7F3D-7374-E3BC-7B85-A92F93272001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0455BF9-F253-7919-C71E-E4D962DE1A3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3496" y="6019800"/>
            <a:ext cx="4437047" cy="352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53471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E7A3D66-384D-4238-84A8-C9ADAAA3A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B57DB5-9B87-4525-AE40-2C4F29C26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2E690B-AE68-4537-94D0-5AA60177E2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13BC88-6107-4282-8C5F-8E3D29B0A1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4E68FA-2D0A-407A-A9E0-7B2E60FAA5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623B82-CB17-47C7-A891-F2264E11CE2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A6A649-DA01-60A1-FA73-8E30486B07B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4999038" y="63500"/>
            <a:ext cx="22193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CoupangFS Business-Internal User Only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EEED9E-7B7F-F187-B325-1C27D8B8BEE1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249037" y="6642100"/>
            <a:ext cx="17192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2026-08-27T10:59:36 / Internal</a:t>
            </a:r>
          </a:p>
        </p:txBody>
      </p:sp>
    </p:spTree>
    <p:extLst>
      <p:ext uri="{BB962C8B-B14F-4D97-AF65-F5344CB8AC3E}">
        <p14:creationId xmlns:p14="http://schemas.microsoft.com/office/powerpoint/2010/main" val="674449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2" r:id="rId2"/>
    <p:sldLayoutId id="2147483664" r:id="rId3"/>
    <p:sldLayoutId id="2147483667" r:id="rId4"/>
    <p:sldLayoutId id="2147483666" r:id="rId5"/>
    <p:sldLayoutId id="2147483668" r:id="rId6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microsoft.com/office/2007/relationships/media" Target="../media/media1.mp4"/><Relationship Id="rId5" Type="http://schemas.openxmlformats.org/officeDocument/2006/relationships/video" Target="../media/media1.mp4"/><Relationship Id="rId6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8FA448-C63A-4C1D-BA52-17ED6FAABCA0}"/>
              </a:ext>
            </a:extLst>
          </p:cNvPr>
          <p:cNvSpPr txBox="1"/>
          <p:nvPr/>
        </p:nvSpPr>
        <p:spPr>
          <a:xfrm>
            <a:off x="1257300" y="2782458"/>
            <a:ext cx="967740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altLang="ko-KR" sz="4000" dirty="0">
                <a:solidFill>
                  <a:srgbClr val="56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SafeAlert  근접 경보 앱</a:t>
            </a:r>
            <a:endParaRPr kumimoji="0" lang="en-US" altLang="ko-KR" sz="4000" b="0" i="0" u="none" strike="noStrike" kern="1200" cap="none" spc="0" normalizeH="0" baseline="0" noProof="0" dirty="0">
              <a:ln>
                <a:noFill/>
              </a:ln>
              <a:solidFill>
                <a:srgbClr val="56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791245-69E4-488F-8844-23FECF253B33}"/>
              </a:ext>
            </a:extLst>
          </p:cNvPr>
          <p:cNvSpPr txBox="1"/>
          <p:nvPr/>
        </p:nvSpPr>
        <p:spPr>
          <a:xfrm>
            <a:off x="4038283" y="3842017"/>
            <a:ext cx="4115434" cy="29238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dirty="0">
                <a:solidFill>
                  <a:srgbClr val="56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2026.08 |  Flex Fulfillment Dynamic Ops  Waterflex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56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88060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EEED56C-AE39-6B4E-F938-52DB2BEDA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350EB0F-1F76-5B38-1354-8D989895C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제목 3">
            <a:extLst>
              <a:ext uri="{FF2B5EF4-FFF2-40B4-BE49-F238E27FC236}">
                <a16:creationId xmlns:a16="http://schemas.microsoft.com/office/drawing/2014/main" id="{F1F2D681-D8C7-91B5-92B5-1ECC1005BEE1}"/>
              </a:ext>
            </a:extLst>
          </p:cNvPr>
          <p:cNvSpPr txBox="1">
            <a:spLocks/>
          </p:cNvSpPr>
          <p:nvPr/>
        </p:nvSpPr>
        <p:spPr>
          <a:xfrm>
            <a:off x="636391" y="934240"/>
            <a:ext cx="11342595" cy="5770811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r>
              <a:rPr lang="en-US" altLang="ko-KR" dirty="0"/>
              <a:t xml:space="preserve">한 장 요약</a:t>
            </a:r>
            <a:endParaRPr lang="en-US" altLang="ko-KR" dirty="0"/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1. 개발 배경</a:t>
            </a:r>
            <a:endParaRPr lang="en-US" altLang="ko-KR" dirty="0"/>
          </a:p>
          <a:p>
            <a:r>
              <a:rPr lang="en-US" altLang="ko-KR" dirty="0"/>
              <a:t xml:space="preserve">2. 기대효과</a:t>
            </a:r>
            <a:endParaRPr lang="en-US" altLang="ko-KR" dirty="0"/>
          </a:p>
          <a:p>
            <a:r>
              <a:rPr lang="en-US" altLang="ko-KR" sz="1400" b="0" dirty="0"/>
              <a:t xml:space="preserve">  1) 사각지대 안전사고 사전 예방     2) 비용 비교</a:t>
            </a:r>
          </a:p>
          <a:p>
            <a:r>
              <a:rPr lang="en-US" altLang="ko-KR" dirty="0"/>
              <a:t xml:space="preserve">3. 장단점</a:t>
            </a:r>
            <a:endParaRPr lang="en-US" altLang="ko-KR" dirty="0"/>
          </a:p>
          <a:p>
            <a:r>
              <a:rPr lang="en-US" altLang="ko-KR" sz="1400" b="0" dirty="0"/>
              <a:t xml:space="preserve">  1) I-PAS 와 비교     2) 앱의 단점     3) 대응 — PDA 이식</a:t>
            </a:r>
          </a:p>
          <a:p>
            <a:r>
              <a:rPr lang="en-US" altLang="ko-KR" dirty="0"/>
              <a:t xml:space="preserve">4. 앞으로 수정계획</a:t>
            </a:r>
            <a:endParaRPr lang="en-US" altLang="ko-KR" dirty="0"/>
          </a:p>
          <a:p>
            <a:r>
              <a:rPr lang="en-US" altLang="ko-KR" sz="1400" b="0" dirty="0"/>
              <a:t xml:space="preserve">  Phase 1 ~ 5</a:t>
            </a:r>
          </a:p>
          <a:p>
            <a:r>
              <a:rPr lang="en-US" altLang="ko-KR" dirty="0"/>
              <a:t xml:space="preserve">5. 테스트 중간 결과</a:t>
            </a:r>
            <a:endParaRPr lang="en-US" altLang="ko-KR" dirty="0"/>
          </a:p>
          <a:p>
            <a:r>
              <a:rPr lang="en-US" altLang="ko-KR" sz="1400" b="0" dirty="0"/>
              <a:t xml:space="preserve">  실 테스트 센터 (WF11 · WF21 · WF25)</a:t>
            </a:r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부록</a:t>
            </a:r>
            <a:endParaRPr lang="en-US" altLang="ko-KR" dirty="0"/>
          </a:p>
          <a:p>
            <a:r>
              <a:rPr lang="en-US" altLang="ko-KR" sz="1400" b="0" dirty="0"/>
              <a:t xml:space="preserve">  A 비용 산출 근거     B 사용자 피드백     C 시연     D Andon     E 요청 사항</a:t>
            </a:r>
          </a:p>
        </p:txBody>
      </p:sp>
    </p:spTree>
    <p:extLst>
      <p:ext uri="{BB962C8B-B14F-4D97-AF65-F5344CB8AC3E}">
        <p14:creationId xmlns:p14="http://schemas.microsoft.com/office/powerpoint/2010/main" val="38835909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장 요약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640080" y="1024128"/>
            <a:ext cx="10908792" cy="5486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 i="0">
                <a:solidFill>
                  <a:srgbClr val="1C2833"/>
                </a:solidFill>
                <a:latin typeface="Malgun Gothic"/>
              </a:rPr>
              <a:t>사각지대를 사람의 주의력에 맡기지 않는다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645920"/>
            <a:ext cx="10908792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D6D7E"/>
                </a:solidFill>
                <a:latin typeface="Malgun Gothic"/>
              </a:rPr>
              <a:t>I-PAS 가 덮지 못하는 구간 — 보행자끼리 · EPJ · 미장착 장비 — 을 앱이 메운다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212848"/>
            <a:ext cx="2651760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C0392B"/>
                </a:solidFill>
                <a:latin typeface="Malgun Gothic"/>
              </a:rPr>
              <a:t>3개월 · 70회+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2633472"/>
            <a:ext cx="26517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현장에 배포하며 다듬은 기간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212848"/>
            <a:ext cx="2651760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C0392B"/>
                </a:solidFill>
                <a:latin typeface="Malgun Gothic"/>
              </a:rPr>
              <a:t>센터당 331만원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633472"/>
            <a:ext cx="26517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같은 범위를 하드웨어로 덮을 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212848"/>
            <a:ext cx="2651760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C0392B"/>
                </a:solidFill>
                <a:latin typeface="Malgun Gothic"/>
              </a:rPr>
              <a:t>테스트 3개 센터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633472"/>
            <a:ext cx="26517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WF11 · WF21 · WF25 서베이 진행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2212848"/>
            <a:ext cx="2651760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C0392B"/>
                </a:solidFill>
                <a:latin typeface="Malgun Gothic"/>
              </a:rPr>
              <a:t>로드맵 1 /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2633472"/>
            <a:ext cx="26517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신뢰성 확보 단계 · 전 단계 출하 가능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310128"/>
            <a:ext cx="10908792" cy="2395728"/>
          </a:xfrm>
          <a:prstGeom prst="rect">
            <a:avLst/>
          </a:prstGeom>
          <a:solidFill>
            <a:srgbClr val="F7F8F9"/>
          </a:solidFill>
          <a:ln w="12700">
            <a:solidFill>
              <a:srgbClr val="D5D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60120" y="3547872"/>
            <a:ext cx="10241280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Malgun Gothic"/>
              </a:rPr>
              <a:t>요청  — 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SafeAlert 를 정식 과제로 등록하고, 유지 · 검증에 필요한 리소스를 배정해 주십시오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4069080"/>
            <a:ext cx="1005840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①  유지보수 주체 지정 — 지금은 개인 작업물이라 승계 경로가 없다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416552"/>
            <a:ext cx="1005840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②  PDA 이식 — 개인 스마트폰 임시 설치를 업무 단말로 옮긴다 (Phase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764024"/>
            <a:ext cx="1005840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③  현장 검증 슬롯 — 실기 검증이 유일한 회귀 확인 수단, 단계당 확인 1건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5111496"/>
            <a:ext cx="1005840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④  보안 검토 — 릴리스 난독화 미적용 · 경보 이력 평문 저장 (확산 전 선행)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870448"/>
            <a:ext cx="1024128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1">
                <a:solidFill>
                  <a:srgbClr val="5D6D7E"/>
                </a:solidFill>
                <a:latin typeface="Malgun Gothic"/>
              </a:rPr>
              <a:t>결정이 필요한 시점 — Phase 2 착수 전.  그때까지는 현재 버전이 현장에서 그대로 운영된다.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1. 개발 배경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pic>
        <p:nvPicPr>
          <p:cNvPr id="13" name="Picture 12" descr="fig_ais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1024128"/>
            <a:ext cx="3913632" cy="24460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2127" y="3561588"/>
            <a:ext cx="3913632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D6D7E"/>
                </a:solidFill>
                <a:latin typeface="Malgun Gothic"/>
              </a:rPr>
              <a:t>3m 렉 사이 통로 — 교차 구간에서 서로 보이지 않는다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1024128"/>
            <a:ext cx="141732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문제의 배경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1499616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AS-IS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3m 높이 철제 렉 사이 통로에서 지게차와 보행자가 서로를 볼 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1810512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Pain Point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적재 파렛트가 2.4GHz 전파를 흡수하고, 장비 소음으로 경적 인지도 늦음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304288"/>
            <a:ext cx="141732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현재 상황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779776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Data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PIT 에는 I-PAS 가 장착돼 3m 에서 자동 셧다운한다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090672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Issue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보행자끼리 · EPJ · 미장착 구간은 비어 있고, 그 구간은 주의력에만 맡겨져 있다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75887"/>
            <a:ext cx="1874519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왜 앱으로 만들었나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151376"/>
            <a:ext cx="108813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①  안전사고 예방을 위해 I-PAS 와 같은 기능이 비어 있는 구간에도 필요하다고 판단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471416"/>
            <a:ext cx="108813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②  장비마다 태그를 다는 방식으로는 사람과 구역을 다 덮지 못한다 — 지급된 단말끼리 직접 감지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791456"/>
            <a:ext cx="108813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③  v1.0.1 부터 3개월간 70회 이상 배포하며 현장에서 계속 다듬음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230368"/>
            <a:ext cx="10908792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500" b="1" i="0">
                <a:solidFill>
                  <a:srgbClr val="C0392B"/>
                </a:solidFill>
                <a:latin typeface="Malgun Gothic"/>
              </a:rPr>
              <a:t>1.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사각지대 해소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2.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인프라 없는 확산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3.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오경보 억제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4.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조용한 실패 제거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79008"/>
            <a:ext cx="10908792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150" b="0" i="1">
                <a:solidFill>
                  <a:srgbClr val="5D6D7E"/>
                </a:solidFill>
                <a:latin typeface="Malgun Gothic"/>
              </a:rPr>
              <a:t>“I-PAS 가 장비를 지키는 동안, 그 밖의 구간은 아직 사람의 주의력에 기대고 있습니다.”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2. 기대효과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8288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1) 사각지대 예방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1051560"/>
            <a:ext cx="905256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I-PAS 와 비슷한 기능을 구현해, 사각지대에서 생기는 안전사고를 사전에 예방한다.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8368" y="1463040"/>
          <a:ext cx="11064240" cy="334670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417320"/>
                <a:gridCol w="4434840"/>
                <a:gridCol w="5212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구분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As-is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To-be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감지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사람의 주의력에만 의존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소리 · 진동 · 화면 3중 경보로 보완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도입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안전 설비를 깔려면 장비별 장착 작업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앱 설치만으로 즉시 적용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확산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장비를 늘려도 감지 범위는 그대로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단말이 늘수록 감지쌍이 배로 (3대 3쌍 → 10대 45쌍)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센터 차이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센터마다 다른 조건에 대응 못 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판정 반경 · 신호 임계를 설정으로 조정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후진 · 하역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접근을 육안으로만 확인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거리와 무관하게 즉시 최고 등급으로 경보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경보 피로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잦으면 작업자가 꺼버림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세이프존 · 자동 음소거로 울릴 곳에서만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6" name="Picture 15" descr="fig_pai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1104" y="4864608"/>
            <a:ext cx="3657600" cy="1396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2. 기대효과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55448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2) 비용 비교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31720" y="1051560"/>
            <a:ext cx="932688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같은 범위를 하드웨어로 덮을 때 드는 금액이다. 실제 절감액이 아니다.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8368" y="1463040"/>
          <a:ext cx="11064240" cy="2231136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017520"/>
                <a:gridCol w="2560320"/>
                <a:gridCol w="2743200"/>
                <a:gridCol w="27432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단가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일반 WF 센터 수량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금액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차량 태그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525,000원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PIT 4대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2,100,000원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EOD (3m 자동 셧다운)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220,000원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PIT 4대 전량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880,000원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보행자 태그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110,000원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상시 3명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330,000원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합계 — 센터 1곳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3,310,000원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868680" y="3803904"/>
            <a:ext cx="108813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상시 인원 5명 센터는 </a:t>
            </a:r>
            <a:r>
              <a:rPr sz="1200" b="1" i="0">
                <a:solidFill>
                  <a:srgbClr val="C0392B"/>
                </a:solidFill>
                <a:latin typeface="Malgun Gothic"/>
              </a:rPr>
              <a:t>3,530,000원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224528"/>
            <a:ext cx="12344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확산 환산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4206240"/>
            <a:ext cx="2926080" cy="34747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5개 센터   </a:t>
            </a:r>
            <a:r>
              <a:rPr sz="1800" b="1" i="0">
                <a:solidFill>
                  <a:srgbClr val="C0392B"/>
                </a:solidFill>
                <a:latin typeface="Malgun Gothic"/>
              </a:rPr>
              <a:t>1,655만원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206240"/>
            <a:ext cx="2926080" cy="34747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10개 센터   </a:t>
            </a:r>
            <a:r>
              <a:rPr sz="1800" b="1" i="0">
                <a:solidFill>
                  <a:srgbClr val="C0392B"/>
                </a:solidFill>
                <a:latin typeface="Malgun Gothic"/>
              </a:rPr>
              <a:t>3,310만원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4206240"/>
            <a:ext cx="2926080" cy="34747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17개 센터   </a:t>
            </a:r>
            <a:r>
              <a:rPr sz="1800" b="1" i="0">
                <a:solidFill>
                  <a:srgbClr val="C0392B"/>
                </a:solidFill>
                <a:latin typeface="Malgun Gothic"/>
              </a:rPr>
              <a:t>5,627만원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809744"/>
            <a:ext cx="1051560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·  자동 셧다운은 SafeAlert 가 못 한다. I-PAS 를 걷어내자는 이야기가 아니다.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093207"/>
            <a:ext cx="1051560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·  단가는 사용자 제공 기준 (2026.08). 계약 조건에 따라 달라질 수 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376672"/>
            <a:ext cx="1051560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·  지금은 개인 스마트폰에 임시 설치 중이다. PDA 로 옮기면 단말 비용 없이 업무 단말에서 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660136"/>
            <a:ext cx="1051560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·  대체 여부는 이번 요청 범위 밖 — 로드맵 완료와 현장 데이터 확보 후 재논의한다.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961888"/>
            <a:ext cx="786384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150" b="0" i="1">
                <a:solidFill>
                  <a:srgbClr val="5D6D7E"/>
                </a:solidFill>
                <a:latin typeface="Malgun Gothic"/>
              </a:rPr>
              <a:t>“센터 17곳을 하드웨어로 덮으면 5,627만원. 앱은 그 범위를 추가 구매 없이 덮습니다.”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3. 장단점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8288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1) I-PAS 와 비교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8368" y="1444752"/>
          <a:ext cx="11064240" cy="215798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554480"/>
                <a:gridCol w="4754880"/>
                <a:gridCol w="47548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구분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I-PAS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SafeAlert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동작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3m 내 감지 시 자동 셧다운 — 최후 개입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15m 경고 · 8m 위험 경보. 장비 정지는 못 한다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덮는 대상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태그를 단 장비와 사람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앱을 넣은 모든 단말 (보행자끼리 · EPJ 포함)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대상 확대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사람 · 장비가 늘면 태그를 그만큼 더 산다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앱 설치만 — 추가 구매 없음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유지보수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하드웨어 고장 · 배터리 교체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앱 업데이트 (자동 배포)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640080" y="3712463"/>
            <a:ext cx="16002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2) 앱의 단점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151376"/>
            <a:ext cx="108813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①  지게차 셧다운 불가 — 경보만 한다. I-PAS EOD 의 3m 자동 정지는 대체하지 못한다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62272"/>
            <a:ext cx="108813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②  일시적 개인 스마트폰 설치 — 업무 단말이 아니라 개인 폰에 깔려 있어 지속 가능한 상태가 아니다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773168"/>
            <a:ext cx="108813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③  비콘 구매 필요 — 세이프존(무음구역)과 미설치 인원 감지에는 BLE 비콘 · 태그가 든다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084064"/>
            <a:ext cx="108813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④  안드로이드 전용 · 20대 이상 밀집 시 화면 반응 저하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504688"/>
            <a:ext cx="11064240" cy="694944"/>
          </a:xfrm>
          <a:prstGeom prst="rect">
            <a:avLst/>
          </a:prstGeom>
          <a:solidFill>
            <a:srgbClr val="F7F8F9"/>
          </a:solidFill>
          <a:ln w="12700">
            <a:solidFill>
              <a:srgbClr val="D5D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" y="5650992"/>
            <a:ext cx="10607040" cy="45720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3) 대응  —  </a:t>
            </a:r>
            <a:r>
              <a:rPr sz="1300" b="1" i="0">
                <a:solidFill>
                  <a:srgbClr val="1C2833"/>
                </a:solidFill>
                <a:latin typeface="Malgun Gothic"/>
              </a:rPr>
              <a:t>Phase 2 에 PDA 로 이식하는 것이 가장 효과적이다. </a:t>
            </a:r>
            <a:r>
              <a:rPr sz="1200" b="0" i="0">
                <a:solidFill>
                  <a:srgbClr val="5D6D7E"/>
                </a:solidFill>
                <a:latin typeface="Malgun Gothic"/>
              </a:rPr>
              <a:t>개인 폰 의존과 배터리 부담이 함께 없어지고, 업무 단말이라 배포 · 회수 경로도 이미 있다.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앞으로 수정계획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4630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Phase 1 ~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1051560"/>
            <a:ext cx="932688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새 기능을 붙이는 작업이 아니다. 판정이 흔들리는 구조적 원인을 걷어낸다.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8368" y="1481328"/>
          <a:ext cx="11064240" cy="270662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685800"/>
                <a:gridCol w="4251960"/>
                <a:gridCol w="4937760"/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무엇을 하는가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출하 시 현장에서 확인할 것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상태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테스트 하네스와 CI 회귀 게이트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설치 · 경보 동작이 이전과 같은가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완료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2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안전 크리티컬 경로 골든 테스트 + PDA 이식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천천히 접근하는 지게차에 경고가 뜨는가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BleService 분해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달라진 게 없는가 (동작 보존)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4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기기 상태 단일화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2시간 이상 구동 후에도 느려지지 않는가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5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판정 워커 분리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20대 이상에서 화면이 끊기지 않는가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40080" y="4315968"/>
            <a:ext cx="14630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이 순서인 이유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73168"/>
            <a:ext cx="108813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①  측정 수단이 먼저다 — 테스트 0건 상태에서 안전 로직을 분해하면, 회귀를 현장에서 발견하는 방식이 그대로 남는다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157216"/>
            <a:ext cx="108813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②  단계마다 단독 배포한다 — 변경을 섞어 내보내면 현장에서 회귀가 나도 어느 변경 탓인지 특정할 수 없다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687568"/>
            <a:ext cx="10908792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500" b="1" i="0">
                <a:solidFill>
                  <a:srgbClr val="C0392B"/>
                </a:solidFill>
                <a:latin typeface="Malgun Gothic"/>
              </a:rPr>
              <a:t>1.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완료 1 / 5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2.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전 단계 출하 가능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3.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PDA 이식은 Phase 2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5. 테스트 중간 결과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64592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실 테스트 센터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051560"/>
            <a:ext cx="923544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WF11 · WF21 · WF25 에서 실사용 테스트 진행 중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8368" y="1463040"/>
          <a:ext cx="11064240" cy="307238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577840"/>
                <a:gridCol w="1828800"/>
                <a:gridCol w="1828800"/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서베이 항목 (안)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WF11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WF21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WF25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경보 타이밍 — 너무 이르거나 늦지 않은가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거리 정확도 — 표시 거리가 체감과 맞는가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오경보 빈도 — 울릴 필요 없는데 울리는가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배터리 · 발열 — 1교대를 버티는가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사용 편의 — 역할 전환 · 알림 조작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종합 만족도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58368" y="4626864"/>
            <a:ext cx="11064240" cy="731520"/>
          </a:xfrm>
          <a:prstGeom prst="rect">
            <a:avLst/>
          </a:prstGeom>
          <a:solidFill>
            <a:srgbClr val="FDF3F2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4791456"/>
            <a:ext cx="10607040" cy="45720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작성 전  — 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서베이를 회수 · 집계한 뒤 이 장을 채운다. 항목은 제안이며 확정본이 아니다. 채우기 전에는 이 장을 빼고 보고한다.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577840"/>
            <a:ext cx="1051560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·  5점 척도(5 매우 만족 ~ 1 매우 미흡)로 집계하면 LFP 지게차 평가 자료와 형식이 맞는다.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5888736"/>
            <a:ext cx="1051560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·  센터별 응답자 수와 테스트 기간을 함께 적어야 표본 크기를 판단할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부록 A — 비용 산출 근거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2801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확산 환산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1051560"/>
            <a:ext cx="950976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센터 1곳 3,310,000원 (일반 WF · PIT 4대 · 상시 3명) 기준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8368" y="1463040"/>
          <a:ext cx="11064240" cy="80467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931920"/>
                <a:gridCol w="2377440"/>
                <a:gridCol w="2377440"/>
                <a:gridCol w="23774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센터 수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5개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10개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17개 (FFWF 전체)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같은 범위를 하드웨어로 덮을 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16,550,000원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33,100,000원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56,270,000원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868680" y="2651760"/>
            <a:ext cx="1051560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·  단가는 사용자 제공 (2026.08 기준). 계약 조건에 따라 달라질 수 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2962656"/>
            <a:ext cx="1051560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·  SafeAlert 는 같은 대상(PIT 4대 + 상시 인원)을 단말에 앱을 넣어 덮는다. 추가 하드웨어 구매 없음.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273552"/>
            <a:ext cx="1051560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·  다만 EOD 의 3m 자동 셧다운은 SafeAlert 가 대신하지 못한다 — 금액 비교는 감지 · 경보 범위에 한한다.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84448"/>
            <a:ext cx="1051560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·  세이프존(무음구역)과 미설치 인원 감지에는 BLE 비콘 · 태그 구매가 별도로 든다.</a:t>
            </a:r>
          </a:p>
        </p:txBody>
      </p:sp>
      <p:pic>
        <p:nvPicPr>
          <p:cNvPr id="20" name="Picture 19" descr="fig_radi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4023360"/>
            <a:ext cx="3291840" cy="181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434840" y="5933440"/>
            <a:ext cx="329184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D6D7E"/>
                </a:solidFill>
                <a:latin typeface="Malgun Gothic"/>
              </a:rPr>
              <a:t>역할 조합별 판정 반경 (실제 비례 축척)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부록 B — 사용자 피드백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8288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오더십 리뷰 반영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8368" y="1463040"/>
          <a:ext cx="7589519" cy="202996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777240"/>
                <a:gridCol w="3977639"/>
                <a:gridCol w="28346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차수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반영 내용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1차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역할 전환 버튼 추가 · EPJ 역할 버튼 숨김 · 스플래시 교체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앱 재설치 없이 화면에서 역할 전환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2차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같은 기기 · 같은 등급에 5초 이상 머물면 소리 · 진동 자동 음소거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표시 · 기록은 유지, 등급 오르면 즉시 재발령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3차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세이프존 — 휴게실 · 충전 구역에 비콘을 두면 경보 억제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존 안의 기기는 상대에게도 안전으로 인식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Picture 14" descr="fig_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1389888"/>
            <a:ext cx="3182112" cy="1371928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40080" y="3675887"/>
            <a:ext cx="16916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현장 요구 반영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58368" y="4114800"/>
          <a:ext cx="11064240" cy="193852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600200"/>
                <a:gridCol w="4251960"/>
                <a:gridCol w="5212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보호 상태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끊겨도 작업자가 알 수 없음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감지가 멈추면 상시 알림에 이상 표시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이탈 후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멀어졌는데 다시 울림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경고 범위 재발령 억제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알림 끄기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단계가 번거로움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알림 본문을 누르면 즉시 무음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경보 화면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눈에 잘 들어오지 않음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화면 가장자리에 붙는 사이드바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부록 C — 시연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640080" y="932688"/>
            <a:ext cx="11155680" cy="64008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400" b="1" i="0">
                <a:solidFill>
                  <a:srgbClr val="1C2833"/>
                </a:solidFill>
                <a:latin typeface="Malgun Gothic"/>
              </a:rPr>
              <a:t>신호 수신</a:t>
            </a:r>
            <a:r>
              <a:rPr sz="1400" b="1" i="0">
                <a:solidFill>
                  <a:srgbClr val="8A949E"/>
                </a:solidFill>
                <a:latin typeface="Malgun Gothic"/>
              </a:rPr>
              <a:t>  →  </a:t>
            </a:r>
            <a:r>
              <a:rPr sz="1400" b="1" i="0">
                <a:solidFill>
                  <a:srgbClr val="1C2833"/>
                </a:solidFill>
                <a:latin typeface="Malgun Gothic"/>
              </a:rPr>
              <a:t>거리 추정</a:t>
            </a:r>
            <a:r>
              <a:rPr sz="1400" b="1" i="0">
                <a:solidFill>
                  <a:srgbClr val="8A949E"/>
                </a:solidFill>
                <a:latin typeface="Malgun Gothic"/>
              </a:rPr>
              <a:t>  →  </a:t>
            </a:r>
            <a:r>
              <a:rPr sz="1400" b="1" i="0">
                <a:solidFill>
                  <a:srgbClr val="1C2833"/>
                </a:solidFill>
                <a:latin typeface="Malgun Gothic"/>
              </a:rPr>
              <a:t>등급 판정</a:t>
            </a:r>
            <a:r>
              <a:rPr sz="1400" b="1" i="0">
                <a:solidFill>
                  <a:srgbClr val="8A949E"/>
                </a:solidFill>
                <a:latin typeface="Malgun Gothic"/>
              </a:rPr>
              <a:t>  →  </a:t>
            </a:r>
            <a:r>
              <a:rPr sz="1400" b="1" i="0">
                <a:solidFill>
                  <a:srgbClr val="1C2833"/>
                </a:solidFill>
                <a:latin typeface="Malgun Gothic"/>
              </a:rPr>
              <a:t>3중 경보</a:t>
            </a:r>
          </a:p>
          <a:p>
            <a:pPr algn="ctr"/>
            <a:r>
              <a:rPr sz="1050" b="0" i="1">
                <a:solidFill>
                  <a:srgbClr val="8A949E"/>
                </a:solidFill>
                <a:latin typeface="Malgun Gothic"/>
              </a:rPr>
              <a:t>BLE 광고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   →   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3단 필터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   →   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상태머신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   →   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소리 · 진동 · 화면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1938528"/>
            <a:ext cx="2127738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동작 화면</a:t>
            </a:r>
          </a:p>
        </p:txBody>
      </p:sp>
      <p:pic>
        <p:nvPicPr>
          <p:cNvPr id="15" name="Picture 14" descr="screen_ru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267712"/>
            <a:ext cx="1670538" cy="3474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50698" y="1938528"/>
            <a:ext cx="2127738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설정 화면</a:t>
            </a:r>
          </a:p>
        </p:txBody>
      </p:sp>
      <p:pic>
        <p:nvPicPr>
          <p:cNvPr id="17" name="Picture 16" descr="screen_sett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9298" y="2267712"/>
            <a:ext cx="1670538" cy="34747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448" y="1773936"/>
            <a:ext cx="580644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시연 영상 — 슬라이드쇼에서 재생 (경보음 포함)</a:t>
            </a:r>
          </a:p>
        </p:txBody>
      </p:sp>
      <p:pic>
        <p:nvPicPr>
          <p:cNvPr id="19" name="safealert-sim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870448" y="2121408"/>
            <a:ext cx="5806440" cy="326424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870448" y="5550242"/>
            <a:ext cx="580644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판정 시뮬레이터 — web/safealert-simulator.html 에서 직접 조작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부록 D — Andon (이럴 때 멈춘다)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5087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현장 운영 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024128"/>
            <a:ext cx="19659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업데이트 · 수정 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1481328"/>
            <a:ext cx="502920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미발령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즉시 중단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접근했는데 경보가 뜨지 않은 사례 1건이라도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481328"/>
            <a:ext cx="512064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버전 혼재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즉시 중단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구버전 단말이 신버전을 감지하지 못함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249424"/>
            <a:ext cx="502920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오발령 지속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즉시 중단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정지 중 계속 울림 · 이탈 후 다시 울림이 반복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249424"/>
            <a:ext cx="512064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보호 공백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관측 시 판단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작업 시간 중 일괄 업데이트 금지 — 교대 전환 때만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017520"/>
            <a:ext cx="502920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감지 중단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관측 시 판단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상시 알림이 ‘이상’ 으로 바뀌거나 사라짐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017520"/>
            <a:ext cx="512064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서비스 미기동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관측 시 판단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업데이트 · 역할 전환 후 백그라운드 실행 미복구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785616"/>
            <a:ext cx="502920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경보 피로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관측 시 판단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무음으로 두거나 앱을 꺼 둔 단말이 늘어남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3785616"/>
            <a:ext cx="5120640" cy="71323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C0392B"/>
                </a:solidFill>
                <a:latin typeface="Malgun Gothic"/>
              </a:rPr>
              <a:t>회귀 재발</a:t>
            </a:r>
            <a:r>
              <a:rPr sz="1000" b="0" i="0">
                <a:solidFill>
                  <a:srgbClr val="8A949E"/>
                </a:solidFill>
                <a:latin typeface="Malgun Gothic"/>
              </a:rPr>
              <a:t>   즉시 중단</a:t>
            </a:r>
          </a:p>
          <a:p>
            <a:pPr algn="l">
              <a:spcAft>
                <a:spcPts val="2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이전에 고친 증상이 다시 관측됨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553712"/>
            <a:ext cx="12801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공통 조치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97433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즉시 롤백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직전 태그 APK 로 되돌린다 — 현장 재설치 없이 배포된다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529437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선행 확인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전 단말 배포 전 1대에서 먼저 확인한다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61441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빌드 차단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골든 테스트가 실패하면 릴리스가 자동 차단된다 (동작 중)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497433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원인 귀속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단계를 단독 배포하므로 어느 변경 탓인지 특정된다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5294376"/>
            <a:ext cx="5394960" cy="301752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1C2833"/>
                </a:solidFill>
                <a:latin typeface="Malgun Gothic"/>
              </a:rPr>
              <a:t>재개 조건  —  </a:t>
            </a:r>
            <a:r>
              <a:rPr sz="1150" b="0" i="0">
                <a:solidFill>
                  <a:srgbClr val="5D6D7E"/>
                </a:solidFill>
                <a:latin typeface="Malgun Gothic"/>
              </a:rPr>
              <a:t>실패한 상황을 테스트로 고정한 뒤에만 다음 단계로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98464"/>
            <a:ext cx="76809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150" b="0" i="1">
                <a:solidFill>
                  <a:srgbClr val="5D6D7E"/>
                </a:solidFill>
                <a:latin typeface="Malgun Gothic"/>
              </a:rPr>
              <a:t>“멈출 기준을 먼저 정해 두는 것이, 멈추지 않고 밀어붙이는 것보다 빠릅니다.”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부록 E — 요청 사항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0058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요청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1051560"/>
            <a:ext cx="987552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C2833"/>
                </a:solidFill>
                <a:latin typeface="Malgun Gothic"/>
              </a:rPr>
              <a:t>SafeAlert 를 정식 과제로 등록하고, 유지 · 검증에 필요한 리소스를 배정해 주십시오.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8368" y="1572768"/>
          <a:ext cx="11064239" cy="252374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103120"/>
                <a:gridCol w="5212080"/>
                <a:gridCol w="374903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무엇을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왜 필요한가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없으면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정식 과제 등록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지금은 개인 작업물이다. 유지보수 주체가 지정돼 있지 않다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만든 사람이 빠지면 멈춘다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PDA 이식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개인 스마트폰 임시 설치를 업무 단말로 옮겨야 한다 (Phase 2)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개인 폰 의존이 계속된다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현장 검증 슬롯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실기 검증이 유일한 회귀 확인 수단 — 단계당 확인 항목 1건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검증 없이 배포하거나 배포가 멈춘다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보안 검토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릴리스 빌드 난독화 미적용 · 경보 이력 평문 저장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확산할수록 리스크가 커진다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40080" y="4498848"/>
            <a:ext cx="128016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지금 상태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937760"/>
            <a:ext cx="1088136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①  v1.1.70 이 현장에서 운영 중이다 — 결정이 늦어도 보호가 멈추지는 않는다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285232"/>
            <a:ext cx="10881360" cy="329184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②  다만 신뢰성 로드맵은 1 / 5 에서 멈춰 있고, 남은 네 단계가 재발 고리를 끊는 작업이다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797296"/>
            <a:ext cx="76809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150" b="0" i="1">
                <a:solidFill>
                  <a:srgbClr val="5D6D7E"/>
                </a:solidFill>
                <a:latin typeface="Malgun Gothic"/>
              </a:rPr>
              <a:t>“지금 필요한 것은 새 기능이 아니라, 이미 도는 것을 믿을 수 있게 만드는 시간입니다.”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titus xmlns="http://schemas.titus.com/TitusProperties/">
  <TitusGUID xmlns="">3327b2bf-19c0-4f57-9539-c91175161ccc</TitusGUID>
</titu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6a6179b-2f14-4671-ab0e-29dce86f04e9">
      <Terms xmlns="http://schemas.microsoft.com/office/infopath/2007/PartnerControls"/>
    </lcf76f155ced4ddcb4097134ff3c332f>
    <TaxCatchAll xmlns="7bd31d1b-6204-41d2-a069-7c433ba37a45" xsi:nil="true"/>
  </documentManagement>
</p:properti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2AE316ECD567BE44870EC877D106A6EF" ma:contentTypeVersion="14" ma:contentTypeDescription="새 문서를 만듭니다." ma:contentTypeScope="" ma:versionID="780609d91c8a00f892fa9cab9ca1e64a">
  <xsd:schema xmlns:xsd="http://www.w3.org/2001/XMLSchema" xmlns:xs="http://www.w3.org/2001/XMLSchema" xmlns:p="http://schemas.microsoft.com/office/2006/metadata/properties" xmlns:ns2="76a6179b-2f14-4671-ab0e-29dce86f04e9" xmlns:ns3="7bd31d1b-6204-41d2-a069-7c433ba37a45" targetNamespace="http://schemas.microsoft.com/office/2006/metadata/properties" ma:root="true" ma:fieldsID="3e1083bd13da805ebe2b366bd6eb46fa" ns2:_="" ns3:_="">
    <xsd:import namespace="76a6179b-2f14-4671-ab0e-29dce86f04e9"/>
    <xsd:import namespace="7bd31d1b-6204-41d2-a069-7c433ba37a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ServiceBillingMetadata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a6179b-2f14-4671-ab0e-29dce86f04e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이미지 태그" ma:readOnly="false" ma:fieldId="{5cf76f15-5ced-4ddc-b409-7134ff3c332f}" ma:taxonomyMulti="true" ma:sspId="0e116155-e74f-41f9-90e9-2cd01caac41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d31d1b-6204-41d2-a069-7c433ba37a45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c67ab031-a979-428a-b0e7-28811c5fe8b6}" ma:internalName="TaxCatchAll" ma:showField="CatchAllData" ma:web="7bd31d1b-6204-41d2-a069-7c433ba37a4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DBCB82D-E097-4D4E-9654-54D24CD87C57}">
  <ds:schemaRefs>
    <ds:schemaRef ds:uri="http://schemas.titus.com/TitusProperties/"/>
    <ds:schemaRef ds:uri=""/>
  </ds:schemaRefs>
</ds:datastoreItem>
</file>

<file path=customXml/itemProps2.xml><?xml version="1.0" encoding="utf-8"?>
<ds:datastoreItem xmlns:ds="http://schemas.openxmlformats.org/officeDocument/2006/customXml" ds:itemID="{06EE4A5A-CCD2-4A8A-94E7-4945C0E6EE0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7DAE5D2-9BE4-4564-B221-A6F0CD24B2E1}">
  <ds:schemaRefs>
    <ds:schemaRef ds:uri="http://schemas.openxmlformats.org/package/2006/metadata/core-properties"/>
    <ds:schemaRef ds:uri="http://schemas.microsoft.com/office/2006/documentManagement/types"/>
    <ds:schemaRef ds:uri="a95f480a-5fea-4514-b796-230b9c7e167c"/>
    <ds:schemaRef ds:uri="http://schemas.microsoft.com/office/2006/metadata/properties"/>
    <ds:schemaRef ds:uri="http://schemas.microsoft.com/office/infopath/2007/PartnerControls"/>
    <ds:schemaRef ds:uri="http://purl.org/dc/terms/"/>
    <ds:schemaRef ds:uri="http://purl.org/dc/elements/1.1/"/>
    <ds:schemaRef ds:uri="d6bd90c4-9ada-44e9-a6c9-d21ca0deef1f"/>
    <ds:schemaRef ds:uri="http://www.w3.org/XML/1998/namespace"/>
    <ds:schemaRef ds:uri="http://purl.org/dc/dcmitype/"/>
    <ds:schemaRef ds:uri="76a6179b-2f14-4671-ab0e-29dce86f04e9"/>
    <ds:schemaRef ds:uri="7bd31d1b-6204-41d2-a069-7c433ba37a45"/>
  </ds:schemaRefs>
</ds:datastoreItem>
</file>

<file path=customXml/itemProps4.xml><?xml version="1.0" encoding="utf-8"?>
<ds:datastoreItem xmlns:ds="http://schemas.openxmlformats.org/officeDocument/2006/customXml" ds:itemID="{529E5092-334A-4ED8-905D-FF9B7B54601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6a6179b-2f14-4671-ab0e-29dce86f04e9"/>
    <ds:schemaRef ds:uri="7bd31d1b-6204-41d2-a069-7c433ba37a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b2367e6a-aeaa-40b4-b419-96318dd766f8}" enabled="1" method="Standard" siteId="{9d9f74be-786b-48f6-8e18-83cf7a2eef7c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3888</TotalTime>
  <Words>1627</Words>
  <Application>Microsoft Office PowerPoint</Application>
  <PresentationFormat>와이드스크린</PresentationFormat>
  <Paragraphs>393</Paragraphs>
  <Slides>16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2" baseType="lpstr">
      <vt:lpstr>맑은 고딕</vt:lpstr>
      <vt:lpstr>에스코어 드림 5 Medium</vt:lpstr>
      <vt:lpstr>Aptos</vt:lpstr>
      <vt:lpstr>Arial</vt:lpstr>
      <vt:lpstr>Calibri</vt:lpstr>
      <vt:lpstr>Office 테마</vt:lpstr>
      <vt:lpstr>PowerPoint 프레젠테이션</vt:lpstr>
      <vt:lpstr>Content</vt:lpstr>
      <vt:lpstr>1. 도입배경</vt:lpstr>
      <vt:lpstr>1. 도입배경</vt:lpstr>
      <vt:lpstr>2. 각 지게차 별 평가 및 만족도 조사</vt:lpstr>
      <vt:lpstr>2. 각 지게차 별 평가 및 만족도 조사</vt:lpstr>
      <vt:lpstr>3. CLACK</vt:lpstr>
      <vt:lpstr>3. CLACK</vt:lpstr>
      <vt:lpstr>3. CLACK</vt:lpstr>
      <vt:lpstr>4. HANGCHA</vt:lpstr>
      <vt:lpstr>4. HANGCHA</vt:lpstr>
      <vt:lpstr>4. HANGCHA</vt:lpstr>
      <vt:lpstr>5. ANTON</vt:lpstr>
      <vt:lpstr>5. ANTON</vt:lpstr>
      <vt:lpstr>5. ANTON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Bari Choi [Flex Fulfillment WF09 OB Forklift];Road Sim [Flex Fulfillment WF02 OB Forklift]</dc:creator>
  <cp:lastModifiedBy>Mighty Lee [Flex Fulfillment Dynamic Ops WF North 2]</cp:lastModifiedBy>
  <cp:revision>264</cp:revision>
  <cp:lastPrinted>2024-02-02T05:13:21Z</cp:lastPrinted>
  <dcterms:created xsi:type="dcterms:W3CDTF">2020-04-28T08:01:34Z</dcterms:created>
  <dcterms:modified xsi:type="dcterms:W3CDTF">2026-08-28T07:30:49Z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0x0101002AE316ECD567BE44870EC877D106A6EF</vt:lpwstr>
  </property>
  <property fmtid="{D5CDD505-2E9C-101B-9397-08002B2CF9AE}" pid="3" name="TitusGUID">
    <vt:lpwstr>3327b2bf-19c0-4f57-9539-c91175161ccc</vt:lpwstr>
  </property>
  <property fmtid="{D5CDD505-2E9C-101B-9397-08002B2CF9AE}" pid="4" name="ClassificationContentMarkingFooterLocations">
    <vt:lpwstr>Office 테마:10</vt:lpwstr>
  </property>
  <property fmtid="{D5CDD505-2E9C-101B-9397-08002B2CF9AE}" pid="5" name="ClassificationContentMarkingFooterText">
    <vt:lpwstr>2026-08-27T10:59:36 / Internal</vt:lpwstr>
  </property>
  <property fmtid="{D5CDD505-2E9C-101B-9397-08002B2CF9AE}" pid="6" name="ClassificationContentMarkingHeaderLocations">
    <vt:lpwstr>Office 테마:9</vt:lpwstr>
  </property>
  <property fmtid="{D5CDD505-2E9C-101B-9397-08002B2CF9AE}" pid="7" name="ClassificationContentMarkingHeaderText">
    <vt:lpwstr>CoupangFS Business-Internal User Only</vt:lpwstr>
  </property>
</Properties>
</file>