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2"/>
  </p:notesMasterIdLst>
  <p:sldIdLst>
    <p:sldId id="256" r:id="rId6"/>
    <p:sldId id="342" r:id="rId7"/>
    <p:sldId id="394" r:id="rId9"/>
    <p:sldId id="404" r:id="rId37"/>
    <p:sldId id="403" r:id="rId36"/>
    <p:sldId id="402" r:id="rId35"/>
    <p:sldId id="401" r:id="rId34"/>
    <p:sldId id="400" r:id="rId33"/>
    <p:sldId id="399" r:id="rId32"/>
    <p:sldId id="398" r:id="rId31"/>
    <p:sldId id="397" r:id="rId30"/>
    <p:sldId id="396" r:id="rId29"/>
    <p:sldId id="395" r:id="rId2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377A61-D6DE-40FD-8AAE-D498C48F2E8F}" v="43" dt="2026-04-29T01:59:02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3228" autoAdjust="0"/>
  </p:normalViewPr>
  <p:slideViewPr>
    <p:cSldViewPr snapToGrid="0">
      <p:cViewPr varScale="1">
        <p:scale>
          <a:sx n="114" d="100"/>
          <a:sy n="114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openxmlformats.org/officeDocument/2006/relationships/slide" Target="slides/slide13.xml"/><Relationship Id="rId29" Type="http://schemas.openxmlformats.org/officeDocument/2006/relationships/slide" Target="slides/slide12.xml"/><Relationship Id="rId30" Type="http://schemas.openxmlformats.org/officeDocument/2006/relationships/slide" Target="slides/slide11.xml"/><Relationship Id="rId31" Type="http://schemas.openxmlformats.org/officeDocument/2006/relationships/slide" Target="slides/slide10.xml"/><Relationship Id="rId32" Type="http://schemas.openxmlformats.org/officeDocument/2006/relationships/slide" Target="slides/slide9.xml"/><Relationship Id="rId33" Type="http://schemas.openxmlformats.org/officeDocument/2006/relationships/slide" Target="slides/slide8.xml"/><Relationship Id="rId34" Type="http://schemas.openxmlformats.org/officeDocument/2006/relationships/slide" Target="slides/slide7.xml"/><Relationship Id="rId35" Type="http://schemas.openxmlformats.org/officeDocument/2006/relationships/slide" Target="slides/slide6.xml"/><Relationship Id="rId36" Type="http://schemas.openxmlformats.org/officeDocument/2006/relationships/slide" Target="slides/slide5.xml"/><Relationship Id="rId37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839CF-25B3-42E1-86CA-821A1CE64A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2088A-3BB4-440B-AF55-FD785B8FF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83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2088A-3BB4-440B-AF55-FD785B8FFB5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58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AAB1-F717-726C-DA71-F1F5E90A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AF3212-E942-9096-4B1A-57ED8B29D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0DE48-757C-851C-A48A-0D487C82F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2BBE0-A9B7-189E-561D-C46C642FE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2088A-3BB4-440B-AF55-FD785B8FFB5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3650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E18AE65-02B4-41D7-A8EA-65488B3A47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19C12E-FD8D-439E-9DC4-E0392245D044}"/>
              </a:ext>
            </a:extLst>
          </p:cNvPr>
          <p:cNvSpPr txBox="1"/>
          <p:nvPr userDrawn="1"/>
        </p:nvSpPr>
        <p:spPr>
          <a:xfrm>
            <a:off x="227901" y="255514"/>
            <a:ext cx="9334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kern="1200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</a:t>
            </a:r>
            <a:endParaRPr lang="en-US" altLang="ko-KR" sz="700" b="1" kern="1200" baseline="0">
              <a:solidFill>
                <a:schemeClr val="bg1">
                  <a:lumMod val="75000"/>
                </a:schemeClr>
              </a:solidFill>
              <a:effectLst/>
              <a:latin typeface="+mj-ea"/>
              <a:ea typeface="+mj-ea"/>
              <a:cs typeface="+mn-cs"/>
            </a:endParaRPr>
          </a:p>
          <a:p>
            <a:pPr algn="l"/>
            <a:endParaRPr lang="en-US" altLang="ko-KR" sz="900" b="1" kern="1200" baseline="0">
              <a:solidFill>
                <a:schemeClr val="bg1">
                  <a:lumMod val="75000"/>
                </a:schemeClr>
              </a:solidFill>
              <a:effectLst/>
              <a:latin typeface="+mj-ea"/>
              <a:ea typeface="+mj-ea"/>
              <a:cs typeface="+mn-cs"/>
            </a:endParaRPr>
          </a:p>
          <a:p>
            <a:pPr algn="l"/>
            <a:r>
              <a:rPr lang="ko-KR" altLang="en-US" sz="700" kern="1200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이 문서는 </a:t>
            </a:r>
            <a:r>
              <a:rPr lang="ko-KR" altLang="en-US" sz="700" kern="1200" err="1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쿠팡풀필먼트서비스의</a:t>
            </a:r>
            <a:r>
              <a:rPr lang="ko-KR" altLang="en-US" sz="700" kern="1200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 대외비이며 지적자산 입니다</a:t>
            </a:r>
            <a:endParaRPr lang="ko-KR" altLang="en-US" sz="400">
              <a:solidFill>
                <a:schemeClr val="bg1">
                  <a:lumMod val="7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6AF7CE-236C-428D-9955-08A423C085CB}"/>
              </a:ext>
            </a:extLst>
          </p:cNvPr>
          <p:cNvCxnSpPr/>
          <p:nvPr userDrawn="1"/>
        </p:nvCxnSpPr>
        <p:spPr>
          <a:xfrm>
            <a:off x="323850" y="476430"/>
            <a:ext cx="19089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836695-72E5-40B1-B1BD-5A34EF2CCFDF}"/>
              </a:ext>
            </a:extLst>
          </p:cNvPr>
          <p:cNvSpPr/>
          <p:nvPr userDrawn="1"/>
        </p:nvSpPr>
        <p:spPr>
          <a:xfrm flipV="1">
            <a:off x="10829130" y="166065"/>
            <a:ext cx="1173891" cy="6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D1E454-D0FA-65B7-39EA-43F4A96A6A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271" y="394685"/>
            <a:ext cx="2305750" cy="18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24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(로고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105634-23B1-4170-9633-9780F6A2E35E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25EB2F-7F96-49EF-8A88-09A6C440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16BC38-0538-4E75-B11C-C9B67AE67A13}"/>
              </a:ext>
            </a:extLst>
          </p:cNvPr>
          <p:cNvSpPr/>
          <p:nvPr userDrawn="1"/>
        </p:nvSpPr>
        <p:spPr>
          <a:xfrm>
            <a:off x="586215" y="665103"/>
            <a:ext cx="41563" cy="201673"/>
          </a:xfrm>
          <a:prstGeom prst="rect">
            <a:avLst/>
          </a:prstGeom>
          <a:solidFill>
            <a:srgbClr val="5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C3B9042-8183-48C7-9988-030D2543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342595" cy="338554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96CEC7CE-163E-8BAE-F388-A2FD43833B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715E97F-3B48-2A0D-19E6-C98D272F27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93" y="6092779"/>
            <a:ext cx="3519150" cy="2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7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없음(로고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30CA2E-E975-45EE-82F9-4D03E22676C9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4DE31CD-D181-41D0-8BC1-9C9C00E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90E8C301-BB43-E752-AF86-FB610DA7A6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F8D160-5F2E-17BA-922C-94EE002883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93" y="6092779"/>
            <a:ext cx="3519150" cy="2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86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(로고 없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16BC38-0538-4E75-B11C-C9B67AE67A13}"/>
              </a:ext>
            </a:extLst>
          </p:cNvPr>
          <p:cNvSpPr/>
          <p:nvPr userDrawn="1"/>
        </p:nvSpPr>
        <p:spPr>
          <a:xfrm>
            <a:off x="586215" y="665103"/>
            <a:ext cx="41563" cy="201673"/>
          </a:xfrm>
          <a:prstGeom prst="rect">
            <a:avLst/>
          </a:prstGeom>
          <a:solidFill>
            <a:srgbClr val="5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C3B9042-8183-48C7-9988-030D2543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342595" cy="338554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6883D2-A478-45A5-B029-08F19CE016DB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909009-EFA6-4514-9FF2-55D07CD1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D816EEA0-E5DD-BA80-1EB7-F04388F61E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70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없음(로고 없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8078C-09ED-4BA2-AD1C-388E6303C19D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E1411F3-C169-4D9C-8879-36125E05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96109F11-0706-59BF-85DC-6D26CB4487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33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(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E18AE65-02B4-41D7-A8EA-65488B3A47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4"/>
          <a:stretch/>
        </p:blipFill>
        <p:spPr>
          <a:xfrm>
            <a:off x="0" y="0"/>
            <a:ext cx="12192000" cy="637222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836695-72E5-40B1-B1BD-5A34EF2CCFDF}"/>
              </a:ext>
            </a:extLst>
          </p:cNvPr>
          <p:cNvSpPr/>
          <p:nvPr userDrawn="1"/>
        </p:nvSpPr>
        <p:spPr>
          <a:xfrm flipV="1">
            <a:off x="10829130" y="166065"/>
            <a:ext cx="1173891" cy="6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1CA27A-6328-3FE2-A8FD-1DE26AE2E9E2}"/>
              </a:ext>
            </a:extLst>
          </p:cNvPr>
          <p:cNvSpPr/>
          <p:nvPr userDrawn="1"/>
        </p:nvSpPr>
        <p:spPr>
          <a:xfrm>
            <a:off x="0" y="6680439"/>
            <a:ext cx="12192000" cy="177561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D7F3D-7374-E3BC-7B85-A92F93272001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455BF9-F253-7919-C71E-E4D962DE1A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496" y="6019800"/>
            <a:ext cx="4437047" cy="3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47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7A3D66-384D-4238-84A8-C9ADAAA3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B57DB5-9B87-4525-AE40-2C4F29C26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E690B-AE68-4537-94D0-5AA60177E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13BC88-6107-4282-8C5F-8E3D29B0A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E68FA-2D0A-407A-A9E0-7B2E60FAA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23B82-CB17-47C7-A891-F2264E11CE2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6A649-DA01-60A1-FA73-8E30486B07B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999038" y="63500"/>
            <a:ext cx="2219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CoupangFS Business-Internal User 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EED9E-7B7F-F187-B325-1C27D8B8BEE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49037" y="6642100"/>
            <a:ext cx="171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2026-08-27T10:59:36 / Internal</a:t>
            </a:r>
          </a:p>
        </p:txBody>
      </p:sp>
    </p:spTree>
    <p:extLst>
      <p:ext uri="{BB962C8B-B14F-4D97-AF65-F5344CB8AC3E}">
        <p14:creationId xmlns:p14="http://schemas.microsoft.com/office/powerpoint/2010/main" val="6744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4" r:id="rId3"/>
    <p:sldLayoutId id="2147483667" r:id="rId4"/>
    <p:sldLayoutId id="2147483666" r:id="rId5"/>
    <p:sldLayoutId id="2147483668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FA448-C63A-4C1D-BA52-17ED6FAABCA0}"/>
              </a:ext>
            </a:extLst>
          </p:cNvPr>
          <p:cNvSpPr txBox="1"/>
          <p:nvPr/>
        </p:nvSpPr>
        <p:spPr>
          <a:xfrm>
            <a:off x="1257300" y="2782458"/>
            <a:ext cx="96774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altLang="ko-KR" sz="4000" dirty="0">
                <a:solidFill>
                  <a:srgbClr val="56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SafeAlert  근접 경보 앱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56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91245-69E4-488F-8844-23FECF253B33}"/>
              </a:ext>
            </a:extLst>
          </p:cNvPr>
          <p:cNvSpPr txBox="1"/>
          <p:nvPr/>
        </p:nvSpPr>
        <p:spPr>
          <a:xfrm>
            <a:off x="4038283" y="3842017"/>
            <a:ext cx="4115434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>
                <a:solidFill>
                  <a:srgbClr val="56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 |  Flex Fulfillment Dynamic Ops  Waterflex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56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80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EEED56C-AE39-6B4E-F938-52DB2BED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50EB0F-1F76-5B38-1354-8D989895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F1F2D681-D8C7-91B5-92B5-1ECC1005BEE1}"/>
              </a:ext>
            </a:extLst>
          </p:cNvPr>
          <p:cNvSpPr txBox="1">
            <a:spLocks/>
          </p:cNvSpPr>
          <p:nvPr/>
        </p:nvSpPr>
        <p:spPr>
          <a:xfrm>
            <a:off x="636391" y="934240"/>
            <a:ext cx="11342595" cy="577081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en-US" altLang="ko-KR" dirty="0"/>
              <a:t xml:space="preserve">한 장 요약</a:t>
            </a:r>
            <a:endParaRPr lang="en-US" altLang="ko-KR" dirty="0"/>
          </a:p>
          <a:p>
            <a:r>
              <a:rPr lang="en-US" altLang="ko-KR" dirty="0"/>
              <a:t xml:space="preserve"> </a:t>
            </a:r>
            <a:endParaRPr lang="en-US" altLang="ko-KR" dirty="0"/>
          </a:p>
          <a:p>
            <a:r>
              <a:rPr lang="en-US" altLang="ko-KR" dirty="0"/>
              <a:t xml:space="preserve">1. 개발 배경</a:t>
            </a:r>
            <a:endParaRPr lang="en-US" altLang="ko-KR" dirty="0"/>
          </a:p>
          <a:p>
            <a:r>
              <a:rPr lang="en-US" altLang="ko-KR" sz="1400" b="0" dirty="0"/>
              <a:t xml:space="preserve">  1) 문제의 배경 · 현재 상황     2) 왜 앱으로 만들었나</a:t>
            </a:r>
          </a:p>
          <a:p>
            <a:r>
              <a:rPr lang="en-US" altLang="ko-KR" dirty="0"/>
              <a:t xml:space="preserve">2. 기대효과</a:t>
            </a:r>
            <a:endParaRPr lang="en-US" altLang="ko-KR" dirty="0"/>
          </a:p>
          <a:p>
            <a:r>
              <a:rPr lang="en-US" altLang="ko-KR" sz="1400" b="0" dirty="0"/>
              <a:t xml:space="preserve">  1) As-is / To-be</a:t>
            </a:r>
          </a:p>
          <a:p>
            <a:r>
              <a:rPr lang="en-US" altLang="ko-KR" dirty="0"/>
              <a:t xml:space="preserve">3. 비용</a:t>
            </a:r>
            <a:endParaRPr lang="en-US" altLang="ko-KR" dirty="0"/>
          </a:p>
          <a:p>
            <a:r>
              <a:rPr lang="en-US" altLang="ko-KR" sz="1400" b="0" dirty="0"/>
              <a:t xml:space="preserve">  1) I-PAS 대비 비교     2) 확산 규모 환산</a:t>
            </a:r>
          </a:p>
          <a:p>
            <a:r>
              <a:rPr lang="en-US" altLang="ko-KR" dirty="0"/>
              <a:t xml:space="preserve">4. 장단점</a:t>
            </a:r>
            <a:endParaRPr lang="en-US" altLang="ko-KR" dirty="0"/>
          </a:p>
          <a:p>
            <a:r>
              <a:rPr lang="en-US" altLang="ko-KR" sz="1400" b="0" dirty="0"/>
              <a:t xml:space="preserve">  1) Tradeoffs     2) 남는 한계</a:t>
            </a:r>
          </a:p>
          <a:p>
            <a:r>
              <a:rPr lang="en-US" altLang="ko-KR" dirty="0"/>
              <a:t xml:space="preserve">5. 사용자 피드백</a:t>
            </a:r>
            <a:endParaRPr lang="en-US" altLang="ko-KR" dirty="0"/>
          </a:p>
          <a:p>
            <a:r>
              <a:rPr lang="en-US" altLang="ko-KR" sz="1400" b="0" dirty="0"/>
              <a:t xml:space="preserve">  1) 오더십 리뷰 반영     2) 현장 요구 반영 (Before / After)</a:t>
            </a:r>
          </a:p>
          <a:p>
            <a:r>
              <a:rPr lang="en-US" altLang="ko-KR" dirty="0"/>
              <a:t xml:space="preserve">6. 시연</a:t>
            </a:r>
            <a:endParaRPr lang="en-US" altLang="ko-KR" dirty="0"/>
          </a:p>
          <a:p>
            <a:r>
              <a:rPr lang="en-US" altLang="ko-KR" sz="1400" b="0" dirty="0"/>
              <a:t xml:space="preserve">  1) 동작 화면 · 설정 화면     2) 시연 영상 · 판정 시뮬레이터</a:t>
            </a:r>
          </a:p>
          <a:p>
            <a:r>
              <a:rPr lang="en-US" altLang="ko-KR" dirty="0"/>
              <a:t xml:space="preserve">7. 진행 단계 (Phase 1 ~ 5)</a:t>
            </a:r>
            <a:endParaRPr lang="en-US" altLang="ko-KR" dirty="0"/>
          </a:p>
          <a:p>
            <a:r>
              <a:rPr lang="en-US" altLang="ko-KR" dirty="0"/>
              <a:t xml:space="preserve">8. Andon — 현장 · 배포 중 중단 기준</a:t>
            </a:r>
            <a:endParaRPr lang="en-US" altLang="ko-KR" dirty="0"/>
          </a:p>
          <a:p>
            <a:r>
              <a:rPr lang="en-US" altLang="ko-KR" dirty="0"/>
              <a:t xml:space="preserve"> </a:t>
            </a:r>
            <a:endParaRPr lang="en-US" altLang="ko-KR" dirty="0"/>
          </a:p>
          <a:p>
            <a:r>
              <a:rPr lang="en-US" altLang="ko-KR" dirty="0"/>
              <a:t xml:space="preserve">9. 요청 사항</a:t>
            </a:r>
            <a:endParaRPr lang="en-US" altLang="ko-KR" dirty="0"/>
          </a:p>
          <a:p>
            <a:r>
              <a:rPr lang="en-US" altLang="ko-KR" sz="1400" b="0" dirty="0"/>
              <a:t xml:space="preserve">  정식 과제 등록과 리소스 배정</a:t>
            </a:r>
          </a:p>
          <a:p>
            <a:r>
              <a:rPr lang="en-US" altLang="ko-KR" dirty="0"/>
              <a:t xml:space="preserve"> </a:t>
            </a:r>
            <a:endParaRPr lang="en-US" altLang="ko-KR" dirty="0"/>
          </a:p>
          <a:p>
            <a:r>
              <a:rPr lang="en-US" altLang="ko-KR" dirty="0"/>
              <a:t xml:space="preserve">부록 — 산출 근거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8359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장 요약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1024128"/>
            <a:ext cx="10908792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C2833"/>
                </a:solidFill>
                <a:latin typeface="Malgun Gothic"/>
              </a:rPr>
              <a:t>사각지대를 사람의 주의력에 맡기지 않는다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10908792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D6D7E"/>
                </a:solidFill>
                <a:latin typeface="Malgun Gothic"/>
              </a:rPr>
              <a:t>3m 렉 사이에서 서로 보이지 않는 구간을, 이미 지급된 단말끼리 신호를 주고받아 메운다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12848"/>
            <a:ext cx="2651760" cy="38404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Malgun Gothic"/>
              </a:rPr>
              <a:t>3개월 · 70회+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26517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현장에 배포하며 다듬은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212848"/>
            <a:ext cx="2651760" cy="38404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Malgun Gothic"/>
              </a:rPr>
              <a:t>추가 하드웨어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33472"/>
            <a:ext cx="26517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센터 1곳 태그 비용 331만원 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12848"/>
            <a:ext cx="2651760" cy="38404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Malgun Gothic"/>
              </a:rPr>
              <a:t>리뷰 3차 · 요구 4건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33472"/>
            <a:ext cx="26517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오더십과 현장 지적 반영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212848"/>
            <a:ext cx="2651760" cy="38404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Malgun Gothic"/>
              </a:rPr>
              <a:t>로드맵 1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633472"/>
            <a:ext cx="26517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신뢰성 확보 단계 · 전 단계 출하 가능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10128"/>
            <a:ext cx="10908792" cy="2395728"/>
          </a:xfrm>
          <a:prstGeom prst="rect">
            <a:avLst/>
          </a:prstGeom>
          <a:solidFill>
            <a:srgbClr val="F7F8F9"/>
          </a:solidFill>
          <a:ln w="12700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35478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Malgun Gothic"/>
              </a:rPr>
              <a:t>요청  — 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SafeAlert 를 정식 과제로 등록하고, 유지 · 검증에 필요한 리소스를 배정해 주십시오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69080"/>
            <a:ext cx="100584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①  유지보수 주체 지정 — 지금은 개인 작업물이라 승계 경로가 없다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16552"/>
            <a:ext cx="100584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②  개발 시간 배정 — Phase 2~5 는 기능 추가가 아니라 판정 재현성 확보다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64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③  현장 검증 슬롯 — 실기 검증이 유일한 회귀 확인 수단, 단계당 확인 1건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111496"/>
            <a:ext cx="100584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④  보안 검토 — 릴리스 난독화 미적용 · 경보 이력 평문 저장 (확산 전 선행)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870448"/>
            <a:ext cx="1024128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5D6D7E"/>
                </a:solidFill>
                <a:latin typeface="Malgun Gothic"/>
              </a:rPr>
              <a:t>결정이 필요한 시점 — Phase 2 착수 전.  그때까지는 현재 버전이 현장에서 그대로 운영된다.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개발 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13" name="Picture 12" descr="fig_ais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1024128"/>
            <a:ext cx="3913632" cy="24460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82127" y="3561588"/>
            <a:ext cx="3913632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D6D7E"/>
                </a:solidFill>
                <a:latin typeface="Malgun Gothic"/>
              </a:rPr>
              <a:t>3m 렉 사이 통로 — 교차 구간에서 서로 보이지 않는다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024128"/>
            <a:ext cx="141732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문제의 배경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99616"/>
            <a:ext cx="6858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2833"/>
                </a:solidFill>
                <a:latin typeface="Malgun Gothic"/>
              </a:rPr>
              <a:t>AS-IS : </a:t>
            </a:r>
            <a:r>
              <a:rPr sz="1200" b="0" i="0">
                <a:solidFill>
                  <a:srgbClr val="1C2833"/>
                </a:solidFill>
                <a:latin typeface="Malgun Gothic"/>
              </a:rPr>
              <a:t>3m 높이 철제 렉 사이 통로에서 지게차와 보행자가 서로를 볼 수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810512"/>
            <a:ext cx="6858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2833"/>
                </a:solidFill>
                <a:latin typeface="Malgun Gothic"/>
              </a:rPr>
              <a:t>Pain Point : </a:t>
            </a:r>
            <a:r>
              <a:rPr sz="1200" b="0" i="0">
                <a:solidFill>
                  <a:srgbClr val="1C2833"/>
                </a:solidFill>
                <a:latin typeface="Malgun Gothic"/>
              </a:rPr>
              <a:t>적재 파렛트가 2.4GHz 전파를 흡수하고, 장비 소음으로 경적 인지도 늦음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04288"/>
            <a:ext cx="141732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현재 상황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79776"/>
            <a:ext cx="6858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2833"/>
                </a:solidFill>
                <a:latin typeface="Malgun Gothic"/>
              </a:rPr>
              <a:t>Data : </a:t>
            </a:r>
            <a:r>
              <a:rPr sz="1200" b="0" i="0">
                <a:solidFill>
                  <a:srgbClr val="1C2833"/>
                </a:solidFill>
                <a:latin typeface="Malgun Gothic"/>
              </a:rPr>
              <a:t>지게차 · 리치 · EPJ · 보행자가 같은 통로를 공유. 렉 사이 단독 작업 구간도 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90672"/>
            <a:ext cx="6858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2833"/>
                </a:solidFill>
                <a:latin typeface="Malgun Gothic"/>
              </a:rPr>
              <a:t>Issue : </a:t>
            </a:r>
            <a:r>
              <a:rPr sz="1200" b="0" i="0">
                <a:solidFill>
                  <a:srgbClr val="1C2833"/>
                </a:solidFill>
                <a:latin typeface="Malgun Gothic"/>
              </a:rPr>
              <a:t>사각지대를 사람의 주의력에만 맡기고 있어, 보이지 않는 구간은 대책이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75887"/>
            <a:ext cx="1874519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왜 앱으로 만들었나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51376"/>
            <a:ext cx="108813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①  앵커 · 배선 · 서버 같은 고정 설비 없이 지급된 단말만으로 동작 — 센터 공사 불필요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71416"/>
            <a:ext cx="108813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②  움직이는 주체끼리 직접 감지 — 설치 대수가 늘수록 감지 범위도 함께 넓어짐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91456"/>
            <a:ext cx="108813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③  v1.0.1 부터 3개월간 70회 이상 배포하며 현장에서 계속 다듬음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30368"/>
            <a:ext cx="10908792" cy="38404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Malgun Gothic"/>
              </a:rPr>
              <a:t>1.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사각지대 해소      </a:t>
            </a:r>
            <a:r>
              <a:rPr sz="1500" b="1" i="0">
                <a:solidFill>
                  <a:srgbClr val="C0392B"/>
                </a:solidFill>
                <a:latin typeface="Malgun Gothic"/>
              </a:rPr>
              <a:t>2.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인프라 없는 확산      </a:t>
            </a:r>
            <a:r>
              <a:rPr sz="1500" b="1" i="0">
                <a:solidFill>
                  <a:srgbClr val="C0392B"/>
                </a:solidFill>
                <a:latin typeface="Malgun Gothic"/>
              </a:rPr>
              <a:t>3.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오경보 억제      </a:t>
            </a:r>
            <a:r>
              <a:rPr sz="1500" b="1" i="0">
                <a:solidFill>
                  <a:srgbClr val="C0392B"/>
                </a:solidFill>
                <a:latin typeface="Malgun Gothic"/>
              </a:rPr>
              <a:t>4.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조용한 실패 제거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79008"/>
            <a:ext cx="10908792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/>
            <a:r>
              <a:rPr sz="1150" b="0" i="1">
                <a:solidFill>
                  <a:srgbClr val="5D6D7E"/>
                </a:solidFill>
                <a:latin typeface="Malgun Gothic"/>
              </a:rPr>
              <a:t>“현장 안전은 아직 ‘보고 나서 피하기’에 기대고 있고, 보이지 않는 구간을 메우는 장치가 없습니다.”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기대효과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60020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As-is / To-be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" y="1463040"/>
          <a:ext cx="11064240" cy="33467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17320"/>
                <a:gridCol w="4434840"/>
                <a:gridCol w="52120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As-is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To-be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감지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사람의 주의력에만 의존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소리 · 진동 · 화면 3중 경보로 보완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도입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안전 설비를 깔려면 센터 공사가 필요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앱 설치만으로 즉시 적용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확산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장비를 늘려도 감지 범위는 그대로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단말이 늘수록 감지쌍이 배로 (3대 3쌍 → 10대 45쌍)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센터 차이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센터마다 다른 조건에 대응 못 함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판정 반경 · 신호 임계를 설정으로 조정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후진 · 하역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접근을 육안으로만 확인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거리와 무관하게 즉시 최고 등급으로 경보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경보 피로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잦으면 작업자가 꺼버림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세이프존 · 자동 음소거로 울릴 곳에서만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fig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4864608"/>
            <a:ext cx="3657600" cy="139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비용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28016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비교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051560"/>
            <a:ext cx="96012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D7E"/>
                </a:solidFill>
                <a:latin typeface="Malgun Gothic"/>
              </a:rPr>
              <a:t>I-PAS 는 3m 에서 장비를 세운다. SafeAlert 는 그 전에 사람에게 알린다 — 대체가 아니라 앞단이다.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1444752"/>
          <a:ext cx="11064240" cy="261518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37360"/>
                <a:gridCol w="4846320"/>
                <a:gridCol w="44805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I-PAS (현행)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SafeAlert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하드웨어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차량 태그 52.5만 + EOD 22만 (PIT 전량) · 보행자 태그 11만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없음 — 지급된 단말에 앱 설치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동작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3m 내 감지 시 자동 셧다운 — 최후 개입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15m 경고 · 8m 위험 경보. 장비 정지는 못 한다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덮는 대상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태그를 단 장비와 사람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앱을 넣은 모든 단말 (보행자끼리 · EPJ 포함)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대상 확대 시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사람 · 장비가 늘면 태그를 그만큼 더 산다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0 — 앱 설치만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유지보수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하드웨어 고장 · 배터리 교체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앱 업데이트 (자동 배포)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58368" y="4187952"/>
            <a:ext cx="11064240" cy="603504"/>
          </a:xfrm>
          <a:prstGeom prst="rect">
            <a:avLst/>
          </a:prstGeom>
          <a:solidFill>
            <a:srgbClr val="F7F8F9"/>
          </a:solidFill>
          <a:ln w="12700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4334256"/>
            <a:ext cx="1060704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C2833"/>
                </a:solidFill>
                <a:latin typeface="Malgun Gothic"/>
              </a:rPr>
              <a:t>일반 WF 센터 1곳 — PIT 4대 × (52.5만 + EOD 22만) + 상시 3명 × 11만 =  </a:t>
            </a:r>
            <a:r>
              <a:rPr sz="1600" b="1" i="0">
                <a:solidFill>
                  <a:srgbClr val="C0392B"/>
                </a:solidFill>
                <a:latin typeface="Malgun Gothic"/>
              </a:rPr>
              <a:t>331만원</a:t>
            </a:r>
            <a:r>
              <a:rPr sz="1200" b="0" i="0">
                <a:solidFill>
                  <a:srgbClr val="5D6D7E"/>
                </a:solidFill>
                <a:latin typeface="Malgun Gothic"/>
              </a:rPr>
              <a:t>    (인원 5명 센터는 353만원)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56048"/>
            <a:ext cx="12344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확산 환산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937760"/>
            <a:ext cx="292608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D7E"/>
                </a:solidFill>
                <a:latin typeface="Malgun Gothic"/>
              </a:rPr>
              <a:t>5개 센터   </a:t>
            </a:r>
            <a:r>
              <a:rPr sz="1800" b="1" i="0">
                <a:solidFill>
                  <a:srgbClr val="C0392B"/>
                </a:solidFill>
                <a:latin typeface="Malgun Gothic"/>
              </a:rPr>
              <a:t>1,655만원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937760"/>
            <a:ext cx="292608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D7E"/>
                </a:solidFill>
                <a:latin typeface="Malgun Gothic"/>
              </a:rPr>
              <a:t>10개 센터   </a:t>
            </a:r>
            <a:r>
              <a:rPr sz="1800" b="1" i="0">
                <a:solidFill>
                  <a:srgbClr val="C0392B"/>
                </a:solidFill>
                <a:latin typeface="Malgun Gothic"/>
              </a:rPr>
              <a:t>3,310만원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937760"/>
            <a:ext cx="292608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D7E"/>
                </a:solidFill>
                <a:latin typeface="Malgun Gothic"/>
              </a:rPr>
              <a:t>15개 센터   </a:t>
            </a:r>
            <a:r>
              <a:rPr sz="1800" b="1" i="0">
                <a:solidFill>
                  <a:srgbClr val="C0392B"/>
                </a:solidFill>
                <a:latin typeface="Malgun Gothic"/>
              </a:rPr>
              <a:t>4,965만원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68112"/>
            <a:ext cx="7955279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·  자동 셧다운은 SafeAlert 가 못 한다. I-PAS 를 걷어내자는 이야기가 아니다.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33288"/>
            <a:ext cx="7955279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·  단가는 사용자 제공 기준. 절감액이 아니라 같은 범위를 하드웨어로 덮을 때의 금액이다.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98464"/>
            <a:ext cx="7955279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·  앱이 0원인 것은 단말이 이미 지급돼 있기 때문이다 (미지급 인원은 BLE 태그 필요).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장단점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2344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Tradeoffs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05156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D7E"/>
                </a:solidFill>
                <a:latin typeface="Malgun Gothic"/>
              </a:rPr>
              <a:t>넷 다 의도한 선택이다. 무엇을 얻으려고 무엇을 내줬는지로 적는다.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389888"/>
            <a:ext cx="438912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고정 설비 vs. 앱만으로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Malgun Gothic"/>
              </a:rPr>
              <a:t>앱 설치만으로 동작 → 즉시 적용 우선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66944" y="1499616"/>
            <a:ext cx="713232" cy="329184"/>
          </a:xfrm>
          <a:prstGeom prst="rightArrow">
            <a:avLst/>
          </a:prstGeom>
          <a:solidFill>
            <a:srgbClr val="C7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408176"/>
            <a:ext cx="562356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앵커 · 배선 · 서버가 없어 센터 공사 없이 시작한다.
대신 정밀 측위는 포기하고 신호 세기 추정을 받아들였다.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231136"/>
            <a:ext cx="438912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정밀도 vs. 어디서나 동작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Malgun Gothic"/>
              </a:rPr>
              <a:t>BLE 신호 세기 主 판정 → 현장 적용성 우선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66944" y="2340864"/>
            <a:ext cx="713232" cy="329184"/>
          </a:xfrm>
          <a:prstGeom prst="rightArrow">
            <a:avLst/>
          </a:prstGeom>
          <a:solidFill>
            <a:srgbClr val="C7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2249424"/>
            <a:ext cx="562356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적재물 · 차체가 전파를 가리면 거리 오차가 난다. 센터별 보정값으로
완화하되 완전 제거는 불가. UWB 는 지원 단말에서 보조로만 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72384"/>
            <a:ext cx="438912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민감한 경보 vs. 경보 피로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Malgun Gothic"/>
              </a:rPr>
              <a:t>억제 장치를 넣음 → 끄지 않게 만드는 것 우선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266944" y="3182112"/>
            <a:ext cx="713232" cy="329184"/>
          </a:xfrm>
          <a:prstGeom prst="rightArrow">
            <a:avLst/>
          </a:prstGeom>
          <a:solidFill>
            <a:srgbClr val="C7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090672"/>
            <a:ext cx="562356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세이프존 · 5초 체류 자동 음소거를 둔다. 억제 구간에서 놓칠 위험은
화면 표시와 기록을 그대로 유지해 상쇄한다.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13632"/>
            <a:ext cx="438912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전 기종 지원 vs. 백그라운드 상시 동작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Malgun Gothic"/>
              </a:rPr>
              <a:t>안드로이드 전용 → 화면이 꺼져도 도는 쪽 우선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266944" y="4023360"/>
            <a:ext cx="713232" cy="329184"/>
          </a:xfrm>
          <a:prstGeom prst="rightArrow">
            <a:avLst/>
          </a:prstGeom>
          <a:solidFill>
            <a:srgbClr val="C7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3931920"/>
            <a:ext cx="562356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iOS 는 백그라운드에서 역할 · 상태를 실은 광고를 보내지 못한다.
대응 — iOS 인원에게 BLE 태그를 지급한다. 등록 비콘 스캔 경로가 이미 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12344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남는 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66944"/>
            <a:ext cx="722376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C2833"/>
                </a:solidFill>
                <a:latin typeface="Malgun Gothic"/>
              </a:rPr>
              <a:t>①  경보만 한다 — 장비를 세우지 못한다. I-PAS EOD 의 3m 자동 셧다운은 대체 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77840"/>
            <a:ext cx="722376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C2833"/>
                </a:solidFill>
                <a:latin typeface="Malgun Gothic"/>
              </a:rPr>
              <a:t>②  앱이 설치된 기기끼리만 감지 — 미설치 인원 · 장비는 보이지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88736"/>
            <a:ext cx="722376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C2833"/>
                </a:solidFill>
                <a:latin typeface="Malgun Gothic"/>
              </a:rPr>
              <a:t>③  기기가 밀집하면 화면 반응이 느려짐 (20대 이상). 안드로이드 8.0 이상 전용</a:t>
            </a:r>
          </a:p>
        </p:txBody>
      </p:sp>
      <p:pic>
        <p:nvPicPr>
          <p:cNvPr id="31" name="Picture 30" descr="fig_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535424"/>
            <a:ext cx="2468880" cy="136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사용자 피드백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82880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오더십 리뷰 반영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" y="1463040"/>
          <a:ext cx="7589519" cy="20299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777240"/>
                <a:gridCol w="3977639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차수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반영 내용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833"/>
                          </a:solidFill>
                          <a:latin typeface="Malgun Gothic"/>
                        </a:rPr>
                        <a:t>1차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2833"/>
                          </a:solidFill>
                          <a:latin typeface="Malgun Gothic"/>
                        </a:rPr>
                        <a:t>역할 전환 버튼 추가 · EPJ 역할 버튼 숨김 · 스플래시 교체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2833"/>
                          </a:solidFill>
                          <a:latin typeface="Malgun Gothic"/>
                        </a:rPr>
                        <a:t>앱 재설치 없이 화면에서 역할 전환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833"/>
                          </a:solidFill>
                          <a:latin typeface="Malgun Gothic"/>
                        </a:rPr>
                        <a:t>2차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2833"/>
                          </a:solidFill>
                          <a:latin typeface="Malgun Gothic"/>
                        </a:rPr>
                        <a:t>같은 기기 · 같은 등급에 5초 이상 머물면 소리 · 진동 자동 음소거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2833"/>
                          </a:solidFill>
                          <a:latin typeface="Malgun Gothic"/>
                        </a:rPr>
                        <a:t>표시 · 기록은 유지, 등급 오르면 즉시 재발령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833"/>
                          </a:solidFill>
                          <a:latin typeface="Malgun Gothic"/>
                        </a:rPr>
                        <a:t>3차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2833"/>
                          </a:solidFill>
                          <a:latin typeface="Malgun Gothic"/>
                        </a:rPr>
                        <a:t>세이프존 — 휴게실 · 충전 구역에 비콘을 두면 경보 억제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2833"/>
                          </a:solidFill>
                          <a:latin typeface="Malgun Gothic"/>
                        </a:rPr>
                        <a:t>존 안의 기기는 상대에게도 안전으로 인식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fig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1389888"/>
            <a:ext cx="3182112" cy="137192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3675887"/>
            <a:ext cx="16916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현장 요구 반영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4114800"/>
          <a:ext cx="11064240" cy="193852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00200"/>
                <a:gridCol w="4251960"/>
                <a:gridCol w="52120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보호 상태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끊겨도 작업자가 알 수 없음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감지가 멈추면 상시 알림에 이상 표시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이탈 후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멀어졌는데 다시 울림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경고 범위 재발령 억제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알림 끄기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단계가 번거로움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알림 본문을 누르면 즉시 무음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경보 화면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눈에 잘 들어오지 않음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화면 가장자리에 붙는 사이드바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시연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932688"/>
            <a:ext cx="111556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/>
            <a:r>
              <a:rPr sz="1400" b="1" i="0">
                <a:solidFill>
                  <a:srgbClr val="1C2833"/>
                </a:solidFill>
                <a:latin typeface="Malgun Gothic"/>
              </a:rPr>
              <a:t>신호 수신</a:t>
            </a:r>
            <a:r>
              <a:rPr sz="1400" b="1" i="0">
                <a:solidFill>
                  <a:srgbClr val="8A949E"/>
                </a:solidFill>
                <a:latin typeface="Malgun Gothic"/>
              </a:rPr>
              <a:t>  →  </a:t>
            </a:r>
            <a:r>
              <a:rPr sz="1400" b="1" i="0">
                <a:solidFill>
                  <a:srgbClr val="1C2833"/>
                </a:solidFill>
                <a:latin typeface="Malgun Gothic"/>
              </a:rPr>
              <a:t>거리 추정</a:t>
            </a:r>
            <a:r>
              <a:rPr sz="1400" b="1" i="0">
                <a:solidFill>
                  <a:srgbClr val="8A949E"/>
                </a:solidFill>
                <a:latin typeface="Malgun Gothic"/>
              </a:rPr>
              <a:t>  →  </a:t>
            </a:r>
            <a:r>
              <a:rPr sz="1400" b="1" i="0">
                <a:solidFill>
                  <a:srgbClr val="1C2833"/>
                </a:solidFill>
                <a:latin typeface="Malgun Gothic"/>
              </a:rPr>
              <a:t>등급 판정</a:t>
            </a:r>
            <a:r>
              <a:rPr sz="1400" b="1" i="0">
                <a:solidFill>
                  <a:srgbClr val="8A949E"/>
                </a:solidFill>
                <a:latin typeface="Malgun Gothic"/>
              </a:rPr>
              <a:t>  →  </a:t>
            </a:r>
            <a:r>
              <a:rPr sz="1400" b="1" i="0">
                <a:solidFill>
                  <a:srgbClr val="1C2833"/>
                </a:solidFill>
                <a:latin typeface="Malgun Gothic"/>
              </a:rPr>
              <a:t>3중 경보</a:t>
            </a:r>
          </a:p>
          <a:p>
            <a:pPr algn="ctr"/>
            <a:r>
              <a:rPr sz="1050" b="0" i="1">
                <a:solidFill>
                  <a:srgbClr val="8A949E"/>
                </a:solidFill>
                <a:latin typeface="Malgun Gothic"/>
              </a:rPr>
              <a:t>BLE 광고</a:t>
            </a:r>
            <a:r>
              <a:rPr sz="1050" b="0" i="1">
                <a:solidFill>
                  <a:srgbClr val="8A949E"/>
                </a:solidFill>
                <a:latin typeface="Malgun Gothic"/>
              </a:rPr>
              <a:t>   →   </a:t>
            </a:r>
            <a:r>
              <a:rPr sz="1050" b="0" i="1">
                <a:solidFill>
                  <a:srgbClr val="8A949E"/>
                </a:solidFill>
                <a:latin typeface="Malgun Gothic"/>
              </a:rPr>
              <a:t>3단 필터</a:t>
            </a:r>
            <a:r>
              <a:rPr sz="1050" b="0" i="1">
                <a:solidFill>
                  <a:srgbClr val="8A949E"/>
                </a:solidFill>
                <a:latin typeface="Malgun Gothic"/>
              </a:rPr>
              <a:t>   →   </a:t>
            </a:r>
            <a:r>
              <a:rPr sz="1050" b="0" i="1">
                <a:solidFill>
                  <a:srgbClr val="8A949E"/>
                </a:solidFill>
                <a:latin typeface="Malgun Gothic"/>
              </a:rPr>
              <a:t>상태머신</a:t>
            </a:r>
            <a:r>
              <a:rPr sz="1050" b="0" i="1">
                <a:solidFill>
                  <a:srgbClr val="8A949E"/>
                </a:solidFill>
                <a:latin typeface="Malgun Gothic"/>
              </a:rPr>
              <a:t>   →   </a:t>
            </a:r>
            <a:r>
              <a:rPr sz="1050" b="0" i="1">
                <a:solidFill>
                  <a:srgbClr val="8A949E"/>
                </a:solidFill>
                <a:latin typeface="Malgun Gothic"/>
              </a:rPr>
              <a:t>소리 · 진동 ·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938528"/>
            <a:ext cx="2127738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C2833"/>
                </a:solidFill>
                <a:latin typeface="Malgun Gothic"/>
              </a:rPr>
              <a:t>동작 화면</a:t>
            </a:r>
          </a:p>
        </p:txBody>
      </p:sp>
      <p:pic>
        <p:nvPicPr>
          <p:cNvPr id="15" name="Picture 14" descr="screen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67712"/>
            <a:ext cx="1670538" cy="3474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50698" y="1938528"/>
            <a:ext cx="2127738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C2833"/>
                </a:solidFill>
                <a:latin typeface="Malgun Gothic"/>
              </a:rPr>
              <a:t>설정 화면</a:t>
            </a:r>
          </a:p>
        </p:txBody>
      </p:sp>
      <p:pic>
        <p:nvPicPr>
          <p:cNvPr id="17" name="Picture 16" descr="scree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298" y="2267712"/>
            <a:ext cx="1670538" cy="3474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448" y="1773936"/>
            <a:ext cx="580644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C2833"/>
                </a:solidFill>
                <a:latin typeface="Malgun Gothic"/>
              </a:rPr>
              <a:t>시연 영상 — 슬라이드쇼에서 재생 (경보음 포함)</a:t>
            </a:r>
          </a:p>
        </p:txBody>
      </p:sp>
      <p:pic>
        <p:nvPicPr>
          <p:cNvPr id="19" name="safealert-sim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70448" y="2121408"/>
            <a:ext cx="5806440" cy="32642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70448" y="5550242"/>
            <a:ext cx="580644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D7E"/>
                </a:solidFill>
                <a:latin typeface="Malgun Gothic"/>
              </a:rPr>
              <a:t>판정 시뮬레이터 — web/safealert-simulator.html 에서 직접 조작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7. 진행 단계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4630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Phase 1 ~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051560"/>
            <a:ext cx="932688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D7E"/>
                </a:solidFill>
                <a:latin typeface="Malgun Gothic"/>
              </a:rPr>
              <a:t>새 기능을 붙이는 작업이 아니다. 판정이 흔들리는 구조적 원인을 걷어낸다.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1481328"/>
          <a:ext cx="11064240" cy="270662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685800"/>
                <a:gridCol w="3794760"/>
                <a:gridCol w="539496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무엇을 하는가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출하 시 현장에서 확인할 것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테스트 하네스와 CI 회귀 게이트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설치 · 경보 동작이 이전과 같은가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안전 크리티컬 경로 골든 테스트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천천히 접근하는 지게차에 경고가 뜨는가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예정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BleService 분해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달라진 게 없는가 (동작 보존)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예정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기기 상태 단일화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2시간 이상 구동 후에도 느려지지 않는가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예정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판정 워커 분리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20대 이상에서 화면이 끊기지 않는가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예정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" y="4315968"/>
            <a:ext cx="14630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이 순서인 이유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73168"/>
            <a:ext cx="1088136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C2833"/>
                </a:solidFill>
                <a:latin typeface="Malgun Gothic"/>
              </a:rPr>
              <a:t>①  측정 수단이 먼저다 — 테스트 0건 상태에서 안전 로직을 분해하면, 회귀를 현장에서 발견하는 방식이 그대로 남는다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57216"/>
            <a:ext cx="1088136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C2833"/>
                </a:solidFill>
                <a:latin typeface="Malgun Gothic"/>
              </a:rPr>
              <a:t>②  단계마다 단독 배포한다 — 변경을 섞어 내보내면 현장에서 회귀가 나도 어느 변경 탓인지 특정할 수 없다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87568"/>
            <a:ext cx="10908792" cy="38404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Malgun Gothic"/>
              </a:rPr>
              <a:t>1.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완료 1 / 5      </a:t>
            </a:r>
            <a:r>
              <a:rPr sz="1500" b="1" i="0">
                <a:solidFill>
                  <a:srgbClr val="C0392B"/>
                </a:solidFill>
                <a:latin typeface="Malgun Gothic"/>
              </a:rPr>
              <a:t>2.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전 단계 출하 가능      </a:t>
            </a:r>
            <a:r>
              <a:rPr sz="1500" b="1" i="0">
                <a:solidFill>
                  <a:srgbClr val="C0392B"/>
                </a:solidFill>
                <a:latin typeface="Malgun Gothic"/>
              </a:rPr>
              <a:t>3. </a:t>
            </a:r>
            <a:r>
              <a:rPr sz="1500" b="1" i="0">
                <a:solidFill>
                  <a:srgbClr val="1C2833"/>
                </a:solidFill>
                <a:latin typeface="Malgun Gothic"/>
              </a:rPr>
              <a:t>현장 확인은 단계당 1건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8. Andon — 이럴 때 멈춘다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50876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현장 운영 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024128"/>
            <a:ext cx="196596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업데이트 · 수정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481328"/>
            <a:ext cx="502920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Malgun Gothic"/>
              </a:rPr>
              <a:t>미발령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즉시 중단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접근했는데 경보가 뜨지 않은 사례 1건이라도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481328"/>
            <a:ext cx="512064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Malgun Gothic"/>
              </a:rPr>
              <a:t>버전 혼재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즉시 중단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구버전 단말이 신버전을 감지하지 못함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249424"/>
            <a:ext cx="502920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Malgun Gothic"/>
              </a:rPr>
              <a:t>오발령 지속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즉시 중단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정지 중 계속 울림 · 이탈 후 다시 울림이 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49424"/>
            <a:ext cx="512064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보호 공백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관측 시 판단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작업 시간 중 일괄 업데이트 금지 — 교대 전환 때만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17520"/>
            <a:ext cx="502920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감지 중단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관측 시 판단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상시 알림이 ‘이상’ 으로 바뀌거나 사라짐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17520"/>
            <a:ext cx="512064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서비스 미기동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관측 시 판단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업데이트 · 역할 전환 후 백그라운드 실행 미복구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85616"/>
            <a:ext cx="502920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833"/>
                </a:solidFill>
                <a:latin typeface="Malgun Gothic"/>
              </a:rPr>
              <a:t>경보 피로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관측 시 판단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무음으로 두거나 앱을 꺼 둔 단말이 늘어남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85616"/>
            <a:ext cx="5120640" cy="7132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Malgun Gothic"/>
              </a:rPr>
              <a:t>회귀 재발</a:t>
            </a:r>
            <a:r>
              <a:rPr sz="1000" b="0" i="0">
                <a:solidFill>
                  <a:srgbClr val="8A949E"/>
                </a:solidFill>
                <a:latin typeface="Malgun Gothic"/>
              </a:rPr>
              <a:t>   즉시 중단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Malgun Gothic"/>
              </a:rPr>
              <a:t>이전에 고친 증상이 다시 관측됨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53712"/>
            <a:ext cx="128016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공통 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74336"/>
            <a:ext cx="5394960" cy="30175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C2833"/>
                </a:solidFill>
                <a:latin typeface="Malgun Gothic"/>
              </a:rPr>
              <a:t>즉시 롤백  —  </a:t>
            </a:r>
            <a:r>
              <a:rPr sz="1150" b="0" i="0">
                <a:solidFill>
                  <a:srgbClr val="5D6D7E"/>
                </a:solidFill>
                <a:latin typeface="Malgun Gothic"/>
              </a:rPr>
              <a:t>직전 태그 APK 로 되돌린다 — 현장 재설치 없이 배포된다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94376"/>
            <a:ext cx="5394960" cy="30175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C2833"/>
                </a:solidFill>
                <a:latin typeface="Malgun Gothic"/>
              </a:rPr>
              <a:t>선행 확인  —  </a:t>
            </a:r>
            <a:r>
              <a:rPr sz="1150" b="0" i="0">
                <a:solidFill>
                  <a:srgbClr val="5D6D7E"/>
                </a:solidFill>
                <a:latin typeface="Malgun Gothic"/>
              </a:rPr>
              <a:t>전 단말 배포 전 1대에서 먼저 확인한다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14416"/>
            <a:ext cx="5394960" cy="30175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C2833"/>
                </a:solidFill>
                <a:latin typeface="Malgun Gothic"/>
              </a:rPr>
              <a:t>빌드 차단  —  </a:t>
            </a:r>
            <a:r>
              <a:rPr sz="1150" b="0" i="0">
                <a:solidFill>
                  <a:srgbClr val="5D6D7E"/>
                </a:solidFill>
                <a:latin typeface="Malgun Gothic"/>
              </a:rPr>
              <a:t>골든 테스트가 실패하면 릴리스가 자동 차단된다 (동작 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74336"/>
            <a:ext cx="5394960" cy="30175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C2833"/>
                </a:solidFill>
                <a:latin typeface="Malgun Gothic"/>
              </a:rPr>
              <a:t>원인 귀속  —  </a:t>
            </a:r>
            <a:r>
              <a:rPr sz="1150" b="0" i="0">
                <a:solidFill>
                  <a:srgbClr val="5D6D7E"/>
                </a:solidFill>
                <a:latin typeface="Malgun Gothic"/>
              </a:rPr>
              <a:t>단계를 단독 배포하므로 어느 변경 탓인지 특정된다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94376"/>
            <a:ext cx="5394960" cy="30175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C2833"/>
                </a:solidFill>
                <a:latin typeface="Malgun Gothic"/>
              </a:rPr>
              <a:t>재개 조건  —  </a:t>
            </a:r>
            <a:r>
              <a:rPr sz="1150" b="0" i="0">
                <a:solidFill>
                  <a:srgbClr val="5D6D7E"/>
                </a:solidFill>
                <a:latin typeface="Malgun Gothic"/>
              </a:rPr>
              <a:t>실패한 상황을 테스트로 고정한 뒤에만 다음 단계로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98464"/>
            <a:ext cx="768096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/>
            <a:r>
              <a:rPr sz="1150" b="0" i="1">
                <a:solidFill>
                  <a:srgbClr val="5D6D7E"/>
                </a:solidFill>
                <a:latin typeface="Malgun Gothic"/>
              </a:rPr>
              <a:t>“멈출 기준을 먼저 정해 두는 것이, 멈추지 않고 밀어붙이는 것보다 빠릅니다.”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9. 요청 사항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0058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051560"/>
            <a:ext cx="987552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2833"/>
                </a:solidFill>
                <a:latin typeface="Malgun Gothic"/>
              </a:rPr>
              <a:t>SafeAlert 를 정식 과제로 등록하고, 유지 · 검증에 필요한 리소스를 배정해 주십시오.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1572768"/>
          <a:ext cx="11064239" cy="252374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03120"/>
                <a:gridCol w="5212080"/>
                <a:gridCol w="3749039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무엇을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왜 필요한가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없으면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정식 과제 등록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지금은 개인 작업물이다. 유지보수 주체가 지정돼 있지 않다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만든 사람이 빠지면 멈춘다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개발 시간 배정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Phase 2~5 는 기능 추가가 아니라 판정 재현성 확보다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고친 증상이 다시 돌아온다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현장 검증 슬롯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실기 검증이 유일한 회귀 확인 수단 — 단계당 확인 항목 1건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검증 없이 배포하거나 배포가 멈춘다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보안 검토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릴리스 빌드 난독화 미적용 · 경보 이력 평문 저장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확산할수록 리스크가 커진다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" y="4498848"/>
            <a:ext cx="128016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지금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88136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①  v1.1.70 이 현장에서 운영 중이다 — 결정이 늦어도 보호가 멈추지는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1088136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②  다만 신뢰성 로드맵은 1 / 5 에서 멈춰 있고, 남은 네 단계가 재발 고리를 끊는 작업이다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97296"/>
            <a:ext cx="768096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/>
            <a:r>
              <a:rPr sz="1150" b="0" i="1">
                <a:solidFill>
                  <a:srgbClr val="5D6D7E"/>
                </a:solidFill>
                <a:latin typeface="Malgun Gothic"/>
              </a:rPr>
              <a:t>“지금 필요한 것은 새 기능이 아니라, 이미 도는 것을 믿을 수 있게 만드는 시간입니다.”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 — 산출 근거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0080" y="1024128"/>
            <a:ext cx="160020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센터 1곳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051560"/>
            <a:ext cx="932688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D7E"/>
                </a:solidFill>
                <a:latin typeface="Malgun Gothic"/>
              </a:rPr>
              <a:t>일반 WF 센터 · PIT 장비 4대 · 상시 근무 3명 기준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1463040"/>
          <a:ext cx="11064240" cy="215798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17520"/>
                <a:gridCol w="2560320"/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단가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수량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금액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차량 태그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525,000원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PIT 4대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2,100,000원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EOD (3m 자동 셧다운)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220,000원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PIT 4대 전량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880,000원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보행자 태그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110,000원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상시 3명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330,000원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합계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3,310,000원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68680" y="3712463"/>
            <a:ext cx="1088136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상시 인원 5명 센터 — 2,100,000 + 880,000 + 550,000 = </a:t>
            </a:r>
            <a:r>
              <a:rPr sz="1200" b="1" i="0">
                <a:solidFill>
                  <a:srgbClr val="C0392B"/>
                </a:solidFill>
                <a:latin typeface="Malgun Gothic"/>
              </a:rPr>
              <a:t>3,530,000원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69663"/>
            <a:ext cx="1234440" cy="3017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확산 환산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" y="4608576"/>
          <a:ext cx="11064240" cy="78638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31920"/>
                <a:gridCol w="2377440"/>
                <a:gridCol w="237744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센터 수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5개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10개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</a:rPr>
                        <a:t>15개 (FFWF 전체)</a:t>
                      </a:r>
                    </a:p>
                  </a:txBody>
                  <a:tcPr marL="73152" marR="73152" marT="0" marB="0" anchor="ctr">
                    <a:lnB w="9525" cap="flat" cmpd="sng" algn="ctr">
                      <a:solidFill>
                        <a:srgbClr val="333B45"/>
                      </a:solidFill>
                    </a:lnB>
                    <a:lnT w="9525" cap="flat" cmpd="sng" algn="ctr">
                      <a:solidFill>
                        <a:srgbClr val="333B45"/>
                      </a:solidFill>
                    </a:lnT>
                    <a:lnR w="9525" cap="flat" cmpd="sng" algn="ctr">
                      <a:solidFill>
                        <a:srgbClr val="333B45"/>
                      </a:solidFill>
                    </a:lnR>
                    <a:lnL w="9525" cap="flat" cmpd="sng" algn="ctr">
                      <a:solidFill>
                        <a:srgbClr val="333B45"/>
                      </a:solidFill>
                    </a:lnL>
                    <a:solidFill>
                      <a:srgbClr val="333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2833"/>
                          </a:solidFill>
                          <a:latin typeface="Malgun Gothic"/>
                        </a:rPr>
                        <a:t>같은 범위를 하드웨어로 덮을 때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16,550,000원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33,100,000원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2833"/>
                          </a:solidFill>
                          <a:latin typeface="Malgun Gothic"/>
                        </a:rPr>
                        <a:t>49,650,000원</a:t>
                      </a:r>
                    </a:p>
                  </a:txBody>
                  <a:tcPr marL="73152" marR="73152" marT="18288" marB="18288" anchor="ctr">
                    <a:lnB w="9525" cap="flat" cmpd="sng" algn="ctr">
                      <a:solidFill>
                        <a:srgbClr val="D5DBDB"/>
                      </a:solidFill>
                    </a:lnB>
                    <a:lnT w="9525" cap="flat" cmpd="sng" algn="ctr">
                      <a:solidFill>
                        <a:srgbClr val="FFFFFF"/>
                      </a:solidFill>
                    </a:lnT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8680" y="5541264"/>
            <a:ext cx="804672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Malgun Gothic"/>
              </a:rPr>
              <a:t>·  단가는 사용자 제공 (2026.08 기준). 계약 조건에 따라 달라질 수 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804672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Malgun Gothic"/>
              </a:rPr>
              <a:t>·  SafeAlert 는 같은 대상(PIT 4대 + 상시 인원)을 이미 지급된 단말에 앱을 넣어 덮는다. 추가 하드웨어 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71616"/>
            <a:ext cx="804672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Malgun Gothic"/>
              </a:rPr>
              <a:t>·  다만 EOD 의 3m 자동 셧다운은 SafeAlert 가 대신하지 못한다 — 금액 비교는 감지 · 경보 범위에 한한다.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27648"/>
            <a:ext cx="768096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/>
            <a:r>
              <a:rPr sz="1150" b="0" i="1">
                <a:solidFill>
                  <a:srgbClr val="5D6D7E"/>
                </a:solidFill>
                <a:latin typeface="Malgun Gothic"/>
              </a:rPr>
              <a:t>“실제 절감액이 아니라, 같은 범위를 하드웨어로 덮을 때의 금액 규모입니다.”</a:t>
            </a:r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3327b2bf-19c0-4f57-9539-c91175161ccc</TitusGUID>
</titu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6a6179b-2f14-4671-ab0e-29dce86f04e9">
      <Terms xmlns="http://schemas.microsoft.com/office/infopath/2007/PartnerControls"/>
    </lcf76f155ced4ddcb4097134ff3c332f>
    <TaxCatchAll xmlns="7bd31d1b-6204-41d2-a069-7c433ba37a45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AE316ECD567BE44870EC877D106A6EF" ma:contentTypeVersion="14" ma:contentTypeDescription="새 문서를 만듭니다." ma:contentTypeScope="" ma:versionID="780609d91c8a00f892fa9cab9ca1e64a">
  <xsd:schema xmlns:xsd="http://www.w3.org/2001/XMLSchema" xmlns:xs="http://www.w3.org/2001/XMLSchema" xmlns:p="http://schemas.microsoft.com/office/2006/metadata/properties" xmlns:ns2="76a6179b-2f14-4671-ab0e-29dce86f04e9" xmlns:ns3="7bd31d1b-6204-41d2-a069-7c433ba37a45" targetNamespace="http://schemas.microsoft.com/office/2006/metadata/properties" ma:root="true" ma:fieldsID="3e1083bd13da805ebe2b366bd6eb46fa" ns2:_="" ns3:_="">
    <xsd:import namespace="76a6179b-2f14-4671-ab0e-29dce86f04e9"/>
    <xsd:import namespace="7bd31d1b-6204-41d2-a069-7c433ba37a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6179b-2f14-4671-ab0e-29dce86f04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e116155-e74f-41f9-90e9-2cd01caac4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31d1b-6204-41d2-a069-7c433ba37a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67ab031-a979-428a-b0e7-28811c5fe8b6}" ma:internalName="TaxCatchAll" ma:showField="CatchAllData" ma:web="7bd31d1b-6204-41d2-a069-7c433ba37a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BCB82D-E097-4D4E-9654-54D24CD87C57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06EE4A5A-CCD2-4A8A-94E7-4945C0E6EE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DAE5D2-9BE4-4564-B221-A6F0CD24B2E1}">
  <ds:schemaRefs>
    <ds:schemaRef ds:uri="http://schemas.openxmlformats.org/package/2006/metadata/core-properties"/>
    <ds:schemaRef ds:uri="http://schemas.microsoft.com/office/2006/documentManagement/types"/>
    <ds:schemaRef ds:uri="a95f480a-5fea-4514-b796-230b9c7e167c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d6bd90c4-9ada-44e9-a6c9-d21ca0deef1f"/>
    <ds:schemaRef ds:uri="http://www.w3.org/XML/1998/namespace"/>
    <ds:schemaRef ds:uri="http://purl.org/dc/dcmitype/"/>
    <ds:schemaRef ds:uri="76a6179b-2f14-4671-ab0e-29dce86f04e9"/>
    <ds:schemaRef ds:uri="7bd31d1b-6204-41d2-a069-7c433ba37a45"/>
  </ds:schemaRefs>
</ds:datastoreItem>
</file>

<file path=customXml/itemProps4.xml><?xml version="1.0" encoding="utf-8"?>
<ds:datastoreItem xmlns:ds="http://schemas.openxmlformats.org/officeDocument/2006/customXml" ds:itemID="{529E5092-334A-4ED8-905D-FF9B7B5460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a6179b-2f14-4671-ab0e-29dce86f04e9"/>
    <ds:schemaRef ds:uri="7bd31d1b-6204-41d2-a069-7c433ba37a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2367e6a-aeaa-40b4-b419-96318dd766f8}" enabled="1" method="Standard" siteId="{9d9f74be-786b-48f6-8e18-83cf7a2eef7c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3888</TotalTime>
  <Words>1627</Words>
  <Application>Microsoft Office PowerPoint</Application>
  <PresentationFormat>와이드스크린</PresentationFormat>
  <Paragraphs>393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에스코어 드림 5 Medium</vt:lpstr>
      <vt:lpstr>Aptos</vt:lpstr>
      <vt:lpstr>Arial</vt:lpstr>
      <vt:lpstr>Calibri</vt:lpstr>
      <vt:lpstr>Office 테마</vt:lpstr>
      <vt:lpstr>PowerPoint 프레젠테이션</vt:lpstr>
      <vt:lpstr>Content</vt:lpstr>
      <vt:lpstr>1. 도입배경</vt:lpstr>
      <vt:lpstr>1. 도입배경</vt:lpstr>
      <vt:lpstr>2. 각 지게차 별 평가 및 만족도 조사</vt:lpstr>
      <vt:lpstr>2. 각 지게차 별 평가 및 만족도 조사</vt:lpstr>
      <vt:lpstr>3. CLACK</vt:lpstr>
      <vt:lpstr>3. CLACK</vt:lpstr>
      <vt:lpstr>3. CLACK</vt:lpstr>
      <vt:lpstr>4. HANGCHA</vt:lpstr>
      <vt:lpstr>4. HANGCHA</vt:lpstr>
      <vt:lpstr>4. HANGCHA</vt:lpstr>
      <vt:lpstr>5. ANTON</vt:lpstr>
      <vt:lpstr>5. ANTON</vt:lpstr>
      <vt:lpstr>5. ANTON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Bari Choi [Flex Fulfillment WF09 OB Forklift];Road Sim [Flex Fulfillment WF02 OB Forklift]</dc:creator>
  <cp:lastModifiedBy>Mighty Lee [Flex Fulfillment Dynamic Ops WF North 2]</cp:lastModifiedBy>
  <cp:revision>264</cp:revision>
  <cp:lastPrinted>2024-02-02T05:13:21Z</cp:lastPrinted>
  <dcterms:created xsi:type="dcterms:W3CDTF">2020-04-28T08:01:34Z</dcterms:created>
  <dcterms:modified xsi:type="dcterms:W3CDTF">2026-08-28T07:30:49Z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0x0101002AE316ECD567BE44870EC877D106A6EF</vt:lpwstr>
  </property>
  <property fmtid="{D5CDD505-2E9C-101B-9397-08002B2CF9AE}" pid="3" name="TitusGUID">
    <vt:lpwstr>3327b2bf-19c0-4f57-9539-c91175161ccc</vt:lpwstr>
  </property>
  <property fmtid="{D5CDD505-2E9C-101B-9397-08002B2CF9AE}" pid="4" name="ClassificationContentMarkingFooterLocations">
    <vt:lpwstr>Office 테마:10</vt:lpwstr>
  </property>
  <property fmtid="{D5CDD505-2E9C-101B-9397-08002B2CF9AE}" pid="5" name="ClassificationContentMarkingFooterText">
    <vt:lpwstr>2026-08-27T10:59:36 / Internal</vt:lpwstr>
  </property>
  <property fmtid="{D5CDD505-2E9C-101B-9397-08002B2CF9AE}" pid="6" name="ClassificationContentMarkingHeaderLocations">
    <vt:lpwstr>Office 테마:9</vt:lpwstr>
  </property>
  <property fmtid="{D5CDD505-2E9C-101B-9397-08002B2CF9AE}" pid="7" name="ClassificationContentMarkingHeaderText">
    <vt:lpwstr>CoupangFS Business-Internal User Only</vt:lpwstr>
  </property>
</Properties>
</file>