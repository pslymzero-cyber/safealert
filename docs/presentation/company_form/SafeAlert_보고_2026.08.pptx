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6" r:id="rId6"/>
    <p:sldId id="342" r:id="rId7"/>
    <p:sldId id="394" r:id="rId9"/>
    <p:sldId id="404" r:id="rId37"/>
    <p:sldId id="403" r:id="rId36"/>
    <p:sldId id="402" r:id="rId35"/>
    <p:sldId id="401" r:id="rId34"/>
    <p:sldId id="400" r:id="rId33"/>
    <p:sldId id="399" r:id="rId32"/>
    <p:sldId id="398" r:id="rId31"/>
    <p:sldId id="397" r:id="rId30"/>
    <p:sldId id="396" r:id="rId29"/>
    <p:sldId id="395" r:id="rId28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DDD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377A61-D6DE-40FD-8AAE-D498C48F2E8F}" v="43" dt="2026-04-29T01:59:02.0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51" autoAdjust="0"/>
    <p:restoredTop sz="93228" autoAdjust="0"/>
  </p:normalViewPr>
  <p:slideViewPr>
    <p:cSldViewPr snapToGrid="0">
      <p:cViewPr varScale="1">
        <p:scale>
          <a:sx n="114" d="100"/>
          <a:sy n="114" d="100"/>
        </p:scale>
        <p:origin x="1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9" Type="http://schemas.openxmlformats.org/officeDocument/2006/relationships/slide" Target="slides/slide3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13.xml"/><Relationship Id="rId29" Type="http://schemas.openxmlformats.org/officeDocument/2006/relationships/slide" Target="slides/slide12.xml"/><Relationship Id="rId30" Type="http://schemas.openxmlformats.org/officeDocument/2006/relationships/slide" Target="slides/slide11.xml"/><Relationship Id="rId31" Type="http://schemas.openxmlformats.org/officeDocument/2006/relationships/slide" Target="slides/slide10.xml"/><Relationship Id="rId32" Type="http://schemas.openxmlformats.org/officeDocument/2006/relationships/slide" Target="slides/slide9.xml"/><Relationship Id="rId33" Type="http://schemas.openxmlformats.org/officeDocument/2006/relationships/slide" Target="slides/slide8.xml"/><Relationship Id="rId34" Type="http://schemas.openxmlformats.org/officeDocument/2006/relationships/slide" Target="slides/slide7.xml"/><Relationship Id="rId35" Type="http://schemas.openxmlformats.org/officeDocument/2006/relationships/slide" Target="slides/slide6.xml"/><Relationship Id="rId36" Type="http://schemas.openxmlformats.org/officeDocument/2006/relationships/slide" Target="slides/slide5.xml"/><Relationship Id="rId37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F839CF-25B3-42E1-86CA-821A1CE64A45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22088A-3BB4-440B-AF55-FD785B8FFB5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838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585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AAB1-F717-726C-DA71-F1F5E90A7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F3212-E942-9096-4B1A-57ED8B29D3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90DE48-757C-851C-A48A-0D487C82F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2BBE0-A9B7-189E-561D-C46C642FE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3650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19C12E-FD8D-439E-9DC4-E0392245D044}"/>
              </a:ext>
            </a:extLst>
          </p:cNvPr>
          <p:cNvSpPr txBox="1"/>
          <p:nvPr userDrawn="1"/>
        </p:nvSpPr>
        <p:spPr>
          <a:xfrm>
            <a:off x="227901" y="255514"/>
            <a:ext cx="9334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b="1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</a:t>
            </a:r>
            <a:endParaRPr lang="en-US" altLang="ko-KR" sz="7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endParaRPr lang="en-US" altLang="ko-KR" sz="9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이 문서는 </a:t>
            </a:r>
            <a:r>
              <a:rPr lang="ko-KR" altLang="en-US" sz="700" kern="1200" err="1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쿠팡풀필먼트서비스의</a:t>
            </a:r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 대외비이며 지적자산 입니다</a:t>
            </a:r>
            <a:endParaRPr lang="ko-KR" altLang="en-US" sz="4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96AF7CE-236C-428D-9955-08A423C085CB}"/>
              </a:ext>
            </a:extLst>
          </p:cNvPr>
          <p:cNvCxnSpPr/>
          <p:nvPr userDrawn="1"/>
        </p:nvCxnSpPr>
        <p:spPr>
          <a:xfrm>
            <a:off x="323850" y="476430"/>
            <a:ext cx="190891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4D1E454-D0FA-65B7-39EA-43F4A96A6A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7271" y="394685"/>
            <a:ext cx="2305750" cy="18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424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105634-23B1-4170-9633-9780F6A2E35E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A25EB2F-7F96-49EF-8A88-09A6C440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CEC7CE-163E-8BAE-F388-A2FD43833B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715E97F-3B48-2A0D-19E6-C98D272F27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47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30CA2E-E975-45EE-82F9-4D03E22676C9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C4DE31CD-D181-41D0-8BC1-9C9C00E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0E8C301-BB43-E752-AF86-FB610DA7A6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F8D160-5F2E-17BA-922C-94EE002883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86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883D2-A478-45A5-B029-08F19CE016DB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45909009-EFA6-4514-9FF2-55D07CD14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D816EEA0-E5DD-BA80-1EB7-F04388F61E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702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B8078C-09ED-4BA2-AD1C-388E6303C19D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E1411F3-C169-4D9C-8879-36125E050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109F11-0706-59BF-85DC-6D26CB4487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5337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(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84"/>
          <a:stretch/>
        </p:blipFill>
        <p:spPr>
          <a:xfrm>
            <a:off x="0" y="0"/>
            <a:ext cx="12192000" cy="637222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81CA27A-6328-3FE2-A8FD-1DE26AE2E9E2}"/>
              </a:ext>
            </a:extLst>
          </p:cNvPr>
          <p:cNvSpPr/>
          <p:nvPr userDrawn="1"/>
        </p:nvSpPr>
        <p:spPr>
          <a:xfrm>
            <a:off x="0" y="6680439"/>
            <a:ext cx="12192000" cy="177561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D7F3D-7374-E3BC-7B85-A92F93272001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0455BF9-F253-7919-C71E-E4D962DE1A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496" y="6019800"/>
            <a:ext cx="4437047" cy="3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3471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7A3D66-384D-4238-84A8-C9ADAAA3A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B57DB5-9B87-4525-AE40-2C4F29C26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2E690B-AE68-4537-94D0-5AA60177E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13BC88-6107-4282-8C5F-8E3D29B0A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4E68FA-2D0A-407A-A9E0-7B2E60FAA5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23B82-CB17-47C7-A891-F2264E11CE2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A6A649-DA01-60A1-FA73-8E30486B07B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999038" y="63500"/>
            <a:ext cx="22193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CoupangFS Business-Internal User Only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EED9E-7B7F-F187-B325-1C27D8B8BEE1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249037" y="6642100"/>
            <a:ext cx="17192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2026-08-27T10:59:36 / Internal</a:t>
            </a:r>
          </a:p>
        </p:txBody>
      </p:sp>
    </p:spTree>
    <p:extLst>
      <p:ext uri="{BB962C8B-B14F-4D97-AF65-F5344CB8AC3E}">
        <p14:creationId xmlns:p14="http://schemas.microsoft.com/office/powerpoint/2010/main" val="67444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64" r:id="rId3"/>
    <p:sldLayoutId id="2147483667" r:id="rId4"/>
    <p:sldLayoutId id="2147483666" r:id="rId5"/>
    <p:sldLayoutId id="2147483668" r:id="rId6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8FA448-C63A-4C1D-BA52-17ED6FAABCA0}"/>
              </a:ext>
            </a:extLst>
          </p:cNvPr>
          <p:cNvSpPr txBox="1"/>
          <p:nvPr/>
        </p:nvSpPr>
        <p:spPr>
          <a:xfrm>
            <a:off x="1257300" y="2782458"/>
            <a:ext cx="96774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altLang="ko-KR" sz="40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SafeAlert  근접 경보 앱</a:t>
            </a:r>
            <a:endParaRPr kumimoji="0" lang="en-US" altLang="ko-KR" sz="40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791245-69E4-488F-8844-23FECF253B33}"/>
              </a:ext>
            </a:extLst>
          </p:cNvPr>
          <p:cNvSpPr txBox="1"/>
          <p:nvPr/>
        </p:nvSpPr>
        <p:spPr>
          <a:xfrm>
            <a:off x="4038283" y="3842017"/>
            <a:ext cx="4115434" cy="29238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2026.08 |  Flex Fulfillment Dynamic Ops  Waterflex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8806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EEED56C-AE39-6B4E-F938-52DB2BEDA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50EB0F-1F76-5B38-1354-8D989895C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F1F2D681-D8C7-91B5-92B5-1ECC1005BEE1}"/>
              </a:ext>
            </a:extLst>
          </p:cNvPr>
          <p:cNvSpPr txBox="1">
            <a:spLocks/>
          </p:cNvSpPr>
          <p:nvPr/>
        </p:nvSpPr>
        <p:spPr>
          <a:xfrm>
            <a:off x="636391" y="934240"/>
            <a:ext cx="11342595" cy="5770811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r>
              <a:rPr lang="en-US" altLang="ko-KR" dirty="0"/>
              <a:t xml:space="preserve">한 장 요약</a:t>
            </a:r>
            <a:endParaRPr lang="en-US" altLang="ko-KR" dirty="0"/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1. 개발 배경</a:t>
            </a:r>
            <a:endParaRPr lang="en-US" altLang="ko-KR" dirty="0"/>
          </a:p>
          <a:p>
            <a:r>
              <a:rPr lang="en-US" altLang="ko-KR" sz="1400" b="0" dirty="0"/>
              <a:t xml:space="preserve">  1) 문제의 배경 · 현재 상황     2) 왜 앱으로 만들었나</a:t>
            </a:r>
          </a:p>
          <a:p>
            <a:r>
              <a:rPr lang="en-US" altLang="ko-KR" dirty="0"/>
              <a:t xml:space="preserve">2. 기대효과</a:t>
            </a:r>
            <a:endParaRPr lang="en-US" altLang="ko-KR" dirty="0"/>
          </a:p>
          <a:p>
            <a:r>
              <a:rPr lang="en-US" altLang="ko-KR" sz="1400" b="0" dirty="0"/>
              <a:t xml:space="preserve">  1) As-is / To-be</a:t>
            </a:r>
          </a:p>
          <a:p>
            <a:r>
              <a:rPr lang="en-US" altLang="ko-KR" dirty="0"/>
              <a:t xml:space="preserve">3. 비용</a:t>
            </a:r>
            <a:endParaRPr lang="en-US" altLang="ko-KR" dirty="0"/>
          </a:p>
          <a:p>
            <a:r>
              <a:rPr lang="en-US" altLang="ko-KR" sz="1400" b="0" dirty="0"/>
              <a:t xml:space="preserve">  1) I-PAS 대비 비교     2) 확산 규모 환산</a:t>
            </a:r>
          </a:p>
          <a:p>
            <a:r>
              <a:rPr lang="en-US" altLang="ko-KR" dirty="0"/>
              <a:t xml:space="preserve">4. 장단점</a:t>
            </a:r>
            <a:endParaRPr lang="en-US" altLang="ko-KR" dirty="0"/>
          </a:p>
          <a:p>
            <a:r>
              <a:rPr lang="en-US" altLang="ko-KR" sz="1400" b="0" dirty="0"/>
              <a:t xml:space="preserve">  1) Tradeoffs     2) 남는 한계</a:t>
            </a:r>
          </a:p>
          <a:p>
            <a:r>
              <a:rPr lang="en-US" altLang="ko-KR" dirty="0"/>
              <a:t xml:space="preserve">5. 사용자 피드백</a:t>
            </a:r>
            <a:endParaRPr lang="en-US" altLang="ko-KR" dirty="0"/>
          </a:p>
          <a:p>
            <a:r>
              <a:rPr lang="en-US" altLang="ko-KR" sz="1400" b="0" dirty="0"/>
              <a:t xml:space="preserve">  1) 오더십 리뷰 반영     2) 현장 요구 반영 (Before / After)</a:t>
            </a:r>
          </a:p>
          <a:p>
            <a:r>
              <a:rPr lang="en-US" altLang="ko-KR" dirty="0"/>
              <a:t xml:space="preserve">6. 시연</a:t>
            </a:r>
            <a:endParaRPr lang="en-US" altLang="ko-KR" dirty="0"/>
          </a:p>
          <a:p>
            <a:r>
              <a:rPr lang="en-US" altLang="ko-KR" sz="1400" b="0" dirty="0"/>
              <a:t xml:space="preserve">  1) 동작 화면 · 설정 화면     2) 시연 영상 · 판정 시뮬레이터</a:t>
            </a:r>
          </a:p>
          <a:p>
            <a:r>
              <a:rPr lang="en-US" altLang="ko-KR" dirty="0"/>
              <a:t xml:space="preserve">7. 진행 단계 (Phase 1 ~ 5)</a:t>
            </a:r>
            <a:endParaRPr lang="en-US" altLang="ko-KR" dirty="0"/>
          </a:p>
          <a:p>
            <a:r>
              <a:rPr lang="en-US" altLang="ko-KR" dirty="0"/>
              <a:t xml:space="preserve">8. Andon — 현장 · 배포 중 중단 기준</a:t>
            </a:r>
            <a:endParaRPr lang="en-US" altLang="ko-KR" dirty="0"/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9. 요청 사항</a:t>
            </a:r>
            <a:endParaRPr lang="en-US" altLang="ko-KR" dirty="0"/>
          </a:p>
          <a:p>
            <a:r>
              <a:rPr lang="en-US" altLang="ko-KR" sz="1400" b="0" dirty="0"/>
              <a:t xml:space="preserve">  정식 과제 등록과 리소스 배정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부록 — 산출 근거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83590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장 요약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" y="1024128"/>
            <a:ext cx="10908792" cy="5486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C2833"/>
                </a:solidFill>
                <a:latin typeface="Malgun Gothic"/>
              </a:rPr>
              <a:t>사각지대를 사람의 주의력에 맡기지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645920"/>
            <a:ext cx="10908792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D6D7E"/>
                </a:solidFill>
                <a:latin typeface="Malgun Gothic"/>
              </a:rPr>
              <a:t>3m 렉 사이에서 서로 보이지 않는 구간을, 이미 지급된 단말끼리 신호를 주고받아 메운다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3개월 · 70회+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현장에 배포하며 다듬은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추가 하드웨어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I-PAS 1세트 약 54만원 대비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리뷰 3차 · 요구 4건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오더십과 현장 지적 반영 완료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로드맵 1 /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신뢰성 확보 단계 · 전 단계 출하 가능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310128"/>
            <a:ext cx="10908792" cy="2395728"/>
          </a:xfrm>
          <a:prstGeom prst="rect">
            <a:avLst/>
          </a:prstGeom>
          <a:solidFill>
            <a:srgbClr val="F7F8F9"/>
          </a:solidFill>
          <a:ln w="12700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0120" y="3547872"/>
            <a:ext cx="1024128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요청  — 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SafeAlert 를 정식 과제로 등록하고, 유지 · 검증에 필요한 리소스를 배정해 주십시오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069080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유지보수 주체 지정 — 지금은 개인 작업물이라 승계 경로가 없다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416552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개발 시간 배정 — Phase 2~5 는 기능 추가가 아니라 판정 재현성 확보다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764024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③  현장 검증 슬롯 — 실기 검증이 유일한 회귀 확인 수단, 단계당 확인 1건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111496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④  보안 검토 — 릴리스 난독화 미적용 · 경보 이력 평문 저장 (확산 전 선행)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870448"/>
            <a:ext cx="1024128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1">
                <a:solidFill>
                  <a:srgbClr val="5D6D7E"/>
                </a:solidFill>
                <a:latin typeface="Malgun Gothic"/>
              </a:rPr>
              <a:t>결정이 필요한 시점 — Phase 2 착수 전.  그때까지는 현재 버전이 현장에서 그대로 운영된다.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개발 배경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13" name="Picture 12" descr="fig_ais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1024128"/>
            <a:ext cx="3913632" cy="24460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2127" y="3561588"/>
            <a:ext cx="3913632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D6D7E"/>
                </a:solidFill>
                <a:latin typeface="Malgun Gothic"/>
              </a:rPr>
              <a:t>3m 렉 사이 통로 — 교차 구간에서 서로 보이지 않는다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02412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문제의 배경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49961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AS-IS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3m 높이 철제 렉 사이 통로에서 지게차와 보행자가 서로를 볼 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181051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Pain Point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적재 파렛트가 2.4GHz 전파를 흡수하고, 장비 소음으로 경적 인지도 늦음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30428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현재 상황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77977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Data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지게차 · 리치 · EPJ · 보행자가 같은 통로를 공유. 렉 사이 단독 작업 구간도 있음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09067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Issue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사각지대를 사람의 주의력에만 맡기고 있어, 보이지 않는 구간은 대책이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75887"/>
            <a:ext cx="1874519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왜 앱으로 만들었나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15137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앵커 · 배선 · 서버 같은 고정 설비 없이 지급된 단말만으로 동작 — 센터 공사 불필요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7141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움직이는 주체끼리 직접 감지 — 설치 대수가 늘수록 감지 범위도 함께 넓어짐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79145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③  v1.0.1 부터 3개월간 70회 이상 배포하며 현장에서 계속 다듬음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303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사각지대 해소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인프라 없는 확산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오경보 억제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4.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조용한 실패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79008"/>
            <a:ext cx="10908792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“현장 안전은 아직 ‘보고 나서 피하기’에 기대고 있고, 보이지 않는 구간을 메우는 장치가 없습니다.”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2. 기대효과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6002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As-is / To-be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11064240" cy="33467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443484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As-is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To-be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감지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사람의 주의력에만 의존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소리 · 진동 · 화면 3중 경보로 보완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도입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설비를 깔려면 센터 공사가 필요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설치만으로 즉시 적용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확산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장비를 늘려도 감지 범위는 그대로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단말이 늘수록 감지쌍이 배로 (3대 3쌍 → 10대 45쌍)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센터 차이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센터마다 다른 조건에 대응 못 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반경 · 신호 임계를 설정으로 조정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후진 · 하역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접근을 육안으로만 확인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거리와 무관하게 즉시 최고 등급으로 경보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피로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잦으면 작업자가 꺼버림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· 자동 음소거로 울릴 곳에서만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p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4864608"/>
            <a:ext cx="3657600" cy="1396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 비용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비교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1051560"/>
            <a:ext cx="960120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지금 요청은 대체가 아니다. I-PAS 가 덮지 않는 구간을 추가 하드웨어 없이 덮는 값이다.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44752"/>
          <a:ext cx="11064240" cy="261518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37360"/>
                <a:gridCol w="4846320"/>
                <a:gridCol w="44805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I-PAS (현행)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SafeAlert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하드웨어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차량 태그 52.5만 · 보행자 태그 11만 · EOD 22만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없음 — 지급된 단말에 앱 설치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설치 · 거치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장비별 장착과 거치대 작업 필요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대상 확대 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사람 · 장비가 늘면 태그를 그만큼 더 산다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0 — 앱 설치만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덮는 대상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태그를 단 장비와 사람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앱을 넣은 모든 단말 (보행자 · EPJ 포함)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유지보수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하드웨어 고장 · 배터리 교체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업데이트 (자동 배포)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58368" y="4187952"/>
            <a:ext cx="11064240" cy="603504"/>
          </a:xfrm>
          <a:prstGeom prst="rect">
            <a:avLst/>
          </a:prstGeom>
          <a:solidFill>
            <a:srgbClr val="F7F8F9"/>
          </a:solidFill>
          <a:ln w="12700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334256"/>
            <a:ext cx="1060704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C2833"/>
                </a:solidFill>
                <a:latin typeface="Malgun Gothic"/>
              </a:rPr>
              <a:t>일반 WF 센터 1곳 — PIT 4대 × 52.5만 + 상시 3명 × 11만 =  </a:t>
            </a:r>
            <a:r>
              <a:rPr sz="1600" b="1" i="0">
                <a:solidFill>
                  <a:srgbClr val="C0392B"/>
                </a:solidFill>
                <a:latin typeface="Malgun Gothic"/>
              </a:rPr>
              <a:t>243만원</a:t>
            </a:r>
            <a:r>
              <a:rPr sz="1200" b="0" i="0">
                <a:solidFill>
                  <a:srgbClr val="5D6D7E"/>
                </a:solidFill>
                <a:latin typeface="Malgun Gothic"/>
              </a:rPr>
              <a:t>    (EOD 별도 · 인원 5명 센터는 265만원)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56048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확산 환산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4937760"/>
            <a:ext cx="2926080" cy="34747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5개 센터   </a:t>
            </a:r>
            <a:r>
              <a:rPr sz="1800" b="1" i="0">
                <a:solidFill>
                  <a:srgbClr val="C0392B"/>
                </a:solidFill>
                <a:latin typeface="Malgun Gothic"/>
              </a:rPr>
              <a:t>1,215만원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937760"/>
            <a:ext cx="2926080" cy="34747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10개 센터   </a:t>
            </a:r>
            <a:r>
              <a:rPr sz="1800" b="1" i="0">
                <a:solidFill>
                  <a:srgbClr val="C0392B"/>
                </a:solidFill>
                <a:latin typeface="Malgun Gothic"/>
              </a:rPr>
              <a:t>2,430만원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37760"/>
            <a:ext cx="2926080" cy="34747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15개 센터   </a:t>
            </a:r>
            <a:r>
              <a:rPr sz="1800" b="1" i="0">
                <a:solidFill>
                  <a:srgbClr val="C0392B"/>
                </a:solidFill>
                <a:latin typeface="Malgun Gothic"/>
              </a:rPr>
              <a:t>3,645만원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68112"/>
            <a:ext cx="7955279" cy="2560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·  단가는 사용자 제공 기준. 절감액이 아니라 같은 범위를 하드웨어로 덮을 때의 금액이다.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733288"/>
            <a:ext cx="7955279" cy="2560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·  앱이 0원인 것은 단말이 이미 지급돼 있기 때문이다 (미지급 인원은 BLE 태그 필요).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998464"/>
            <a:ext cx="7955279" cy="2560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·  대체 여부는 이번 요청 범위 밖 — 로드맵 완료와 현장 데이터 확보 후 재논의한다.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장단점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Tradeoffs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1051560"/>
            <a:ext cx="950976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넷 다 의도한 선택이다. 무엇을 얻으려고 무엇을 내줬는지로 적는다.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389888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고정 설비 vs. 앱만으로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앱 설치만으로 동작 → 즉시 적용 우선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266944" y="1499616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4768" y="1408176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앵커 · 배선 · 서버가 없어 센터 공사 없이 시작한다.
대신 정밀 측위는 포기하고 신호 세기 추정을 받아들였다.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231136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정밀도 vs. 어디서나 동작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BLE 신호 세기 主 판정 → 현장 적용성 우선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66944" y="2340864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44768" y="2249424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적재물 · 차체가 전파를 가리면 거리 오차가 난다. 센터별 보정값으로
완화하되 완전 제거는 불가. UWB 는 지원 단말에서 보조로만 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072384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민감한 경보 vs. 경보 피로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억제 장치를 넣음 → 끄지 않게 만드는 것 우선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266944" y="3182112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44768" y="3090672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세이프존 · 5초 체류 자동 음소거를 둔다. 억제 구간에서 놓칠 위험은
화면 표시와 기록을 그대로 유지해 상쇄한다.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913632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전 기종 지원 vs. 백그라운드 상시 동작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안드로이드 전용 → 화면이 꺼져도 도는 쪽 우선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266944" y="4023360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4768" y="3931920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iOS 는 백그라운드에서 역할 · 상태를 실은 광고를 보내지 못한다.
대응 — iOS 인원에게 BLE 태그를 지급한다. 등록 비콘 스캔 경로가 이미 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846320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남는 한계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266944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앱이 설치된 기기끼리만 감지 — 미설치 인원 · 장비는 보이지 않음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577840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기기가 밀집하면 화면 반응이 느려짐 (20대 이상)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888736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③  안드로이드 8.0 이상에서만 설치된다</a:t>
            </a:r>
          </a:p>
        </p:txBody>
      </p:sp>
      <p:pic>
        <p:nvPicPr>
          <p:cNvPr id="31" name="Picture 30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4535424"/>
            <a:ext cx="2468880" cy="136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5. 사용자 피드백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8288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오더십 리뷰 반영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7589519" cy="202996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777240"/>
                <a:gridCol w="3977639"/>
                <a:gridCol w="28346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차수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반영 내용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1차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역할 전환 버튼 추가 · EPJ 역할 버튼 숨김 · 스플래시 교체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재설치 없이 화면에서 역할 전환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2차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같은 기기 · 같은 등급에 5초 이상 머물면 소리 · 진동 자동 음소거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표시 · 기록은 유지, 등급 오르면 즉시 재발령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3차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— 휴게실 · 충전 구역에 비콘을 두면 경보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존 안의 기기는 상대에게도 안전으로 인식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1389888"/>
            <a:ext cx="3182112" cy="137192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40080" y="3675887"/>
            <a:ext cx="16916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요구 반영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58368" y="4114800"/>
          <a:ext cx="11064240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00200"/>
                <a:gridCol w="425196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보호 상태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끊겨도 작업자가 알 수 없음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감지가 멈추면 상시 알림에 이상 표시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이탈 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멀어졌는데 다시 울림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경고 범위 재발령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알림 끄기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단계가 번거로움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알림 본문을 누르면 즉시 무음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화면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눈에 잘 들어오지 않음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화면 가장자리에 붙는 사이드바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6. 시연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" y="932688"/>
            <a:ext cx="11155680" cy="64008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400" b="1" i="0">
                <a:solidFill>
                  <a:srgbClr val="1C2833"/>
                </a:solidFill>
                <a:latin typeface="Malgun Gothic"/>
              </a:rPr>
              <a:t>신호 수신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거리 추정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등급 판정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3중 경보</a:t>
            </a:r>
          </a:p>
          <a:p>
            <a:pPr algn="ctr"/>
            <a:r>
              <a:rPr sz="1050" b="0" i="1">
                <a:solidFill>
                  <a:srgbClr val="8A949E"/>
                </a:solidFill>
                <a:latin typeface="Malgun Gothic"/>
              </a:rPr>
              <a:t>BLE 광고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3단 필터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상태머신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소리 · 진동 · 화면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동작 화면</a:t>
            </a:r>
          </a:p>
        </p:txBody>
      </p:sp>
      <p:pic>
        <p:nvPicPr>
          <p:cNvPr id="15" name="Picture 14" descr="screen_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267712"/>
            <a:ext cx="1670538" cy="3474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50698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설정 화면</a:t>
            </a:r>
          </a:p>
        </p:txBody>
      </p:sp>
      <p:pic>
        <p:nvPicPr>
          <p:cNvPr id="17" name="Picture 16" descr="screen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9298" y="2267712"/>
            <a:ext cx="1670538" cy="3474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448" y="1773936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시연 영상 — 슬라이드쇼에서 재생 (경보음 포함)</a:t>
            </a:r>
          </a:p>
        </p:txBody>
      </p:sp>
      <p:pic>
        <p:nvPicPr>
          <p:cNvPr id="19" name="safealert-sim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70448" y="2121408"/>
            <a:ext cx="5806440" cy="32642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70448" y="5550242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판정 시뮬레이터 — web/safealert-simulator.html 에서 직접 조작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7. 진행 단계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Phase 1 ~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051560"/>
            <a:ext cx="932688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새 기능을 붙이는 작업이 아니다. 판정이 흔들리는 구조적 원인을 걷어낸다.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81328"/>
          <a:ext cx="11064240" cy="270662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85800"/>
                <a:gridCol w="3794760"/>
                <a:gridCol w="539496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무엇을 하는가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출하 시 현장에서 확인할 것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테스트 하네스와 CI 회귀 게이트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설치 · 경보 동작이 이전과 같은가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완료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크리티컬 경로 골든 테스트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천천히 접근하는 지게차에 경고가 뜨는가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BleService 분해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달라진 게 없는가 (동작 보존)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기기 상태 단일화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2시간 이상 구동 후에도 느려지지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워커 분리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20대 이상에서 화면이 끊기지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431596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이 순서인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73168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측정 수단이 먼저다 — 테스트 0건 상태에서 안전 로직을 분해하면, 회귀를 현장에서 발견하는 방식이 그대로 남는다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157216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단계마다 단독 배포한다 — 변경을 섞어 내보내면 현장에서 회귀가 나도 어느 변경 탓인지 특정할 수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875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완료 1 / 5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전 단계 출하 가능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현장 확인은 단계당 1건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8. Andon — 이럴 때 멈춘다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5087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운영 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024128"/>
            <a:ext cx="19659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업데이트 · 수정 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481328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미발령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접근했는데 경보가 뜨지 않은 사례 1건이라도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481328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버전 혼재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구버전 단말이 신버전을 감지하지 못함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249424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오발령 지속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정지 중 계속 울림 · 이탈 후 다시 울림이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249424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보호 공백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작업 시간 중 일괄 업데이트 금지 — 교대 전환 때만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17520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감지 중단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상시 알림이 ‘이상’ 으로 바뀌거나 사라짐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017520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서비스 미기동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업데이트 · 역할 전환 후 백그라운드 실행 미복구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785616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경보 피로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무음으로 두거나 앱을 꺼 둔 단말이 늘어남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785616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회귀 재발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이전에 고친 증상이 다시 관측됨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53712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공통 조치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97433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즉시 롤백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직전 태그 APK 로 되돌린다 — 현장 재설치 없이 배포된다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9437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선행 확인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전 단말 배포 전 1대에서 먼저 확인한다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61441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빌드 차단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골든 테스트가 실패하면 릴리스가 자동 차단된다 (동작 중)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97433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원인 귀속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단계를 단독 배포하므로 어느 변경 탓인지 특정된다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29437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재개 조건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실패한 상황을 테스트로 고정한 뒤에만 다음 단계로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98464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“멈출 기준을 먼저 정해 두는 것이, 멈추지 않고 밀어붙이는 것보다 빠릅니다.”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9. 요청 사항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0058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1051560"/>
            <a:ext cx="987552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C2833"/>
                </a:solidFill>
                <a:latin typeface="Malgun Gothic"/>
              </a:rPr>
              <a:t>SafeAlert 를 정식 과제로 등록하고, 유지 · 검증에 필요한 리소스를 배정해 주십시오.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572768"/>
          <a:ext cx="11064239" cy="252374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03120"/>
                <a:gridCol w="5212080"/>
                <a:gridCol w="374903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무엇을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왜 필요한가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없으면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정식 과제 등록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지금은 개인 작업물이다. 유지보수 주체가 지정돼 있지 않다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만든 사람이 빠지면 멈춘다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개발 시간 배정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Phase 2~5 는 기능 추가가 아니라 판정 재현성 확보다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고친 증상이 다시 돌아온다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현장 검증 슬롯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실기 검증이 유일한 회귀 확인 수단 — 단계당 확인 항목 1건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검증 없이 배포하거나 배포가 멈춘다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보안 검토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릴리스 빌드 난독화 미적용 · 경보 이력 평문 저장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확산할수록 리스크가 커진다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4498848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지금 상태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37760"/>
            <a:ext cx="1088136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v1.1.70 이 현장에서 운영 중이다 — 결정이 늦어도 보호가 멈추지는 않는다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85232"/>
            <a:ext cx="1088136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다만 신뢰성 로드맵은 1 / 5 에서 멈춰 있고, 남은 네 단계가 재발 고리를 끊는 작업이다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97296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“지금 필요한 것은 새 기능이 아니라, 이미 도는 것을 믿을 수 있게 만드는 시간입니다.”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 — 산출 근거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6002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센터 1곳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051560"/>
            <a:ext cx="932688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일반 WF 센터 · PIT 장비 4대 · 상시 근무 3명 기준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63040"/>
          <a:ext cx="11064240" cy="215798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017520"/>
                <a:gridCol w="2560320"/>
                <a:gridCol w="2743200"/>
                <a:gridCol w="27432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수량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금액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차량 태그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525,000원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PIT 4대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2,100,000원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보행자 태그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110,000원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상시 3명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330,000원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EOD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220,000원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수량 미확정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별도 산정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합계 (EOD 제외)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2,430,000원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68680" y="3712463"/>
            <a:ext cx="108813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상시 인원 5명 센터 — 2,100,000 + 550,000 = </a:t>
            </a:r>
            <a:r>
              <a:rPr sz="1200" b="1" i="0">
                <a:solidFill>
                  <a:srgbClr val="C0392B"/>
                </a:solidFill>
                <a:latin typeface="Malgun Gothic"/>
              </a:rPr>
              <a:t>2,650,000원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69663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확산 환산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8368" y="4608576"/>
          <a:ext cx="11064240" cy="78638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931920"/>
                <a:gridCol w="2377440"/>
                <a:gridCol w="2377440"/>
                <a:gridCol w="23774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센터 수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5개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10개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15개 (FFWF 전체)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같은 범위를 하드웨어로 덮을 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12,150,000원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24,300,000원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36,450,000원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68680" y="5541264"/>
            <a:ext cx="10058400" cy="2560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·  단가는 사용자 제공 (2026.08 기준). 계약 조건에 따라 달라질 수 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806440"/>
            <a:ext cx="10058400" cy="2560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·  SafeAlert 는 같은 대상(PIT 4대 + 상시 인원)을 이미 지급된 단말에 앱을 넣어 덮는다. 추가 하드웨어 0.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6071616"/>
            <a:ext cx="10058400" cy="2560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·  EOD 는 수량 기준이 확인되지 않아 합계에서 뺐다. 포함하면 금액은 더 커진다.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27648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“실제 절감액이 아니라, 같은 범위를 하드웨어로 덮을 때의 금액 규모입니다.”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itus xmlns="http://schemas.titus.com/TitusProperties/">
  <TitusGUID xmlns="">3327b2bf-19c0-4f57-9539-c91175161ccc</TitusGUID>
</titu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6a6179b-2f14-4671-ab0e-29dce86f04e9">
      <Terms xmlns="http://schemas.microsoft.com/office/infopath/2007/PartnerControls"/>
    </lcf76f155ced4ddcb4097134ff3c332f>
    <TaxCatchAll xmlns="7bd31d1b-6204-41d2-a069-7c433ba37a45" xsi:nil="true"/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2AE316ECD567BE44870EC877D106A6EF" ma:contentTypeVersion="14" ma:contentTypeDescription="새 문서를 만듭니다." ma:contentTypeScope="" ma:versionID="780609d91c8a00f892fa9cab9ca1e64a">
  <xsd:schema xmlns:xsd="http://www.w3.org/2001/XMLSchema" xmlns:xs="http://www.w3.org/2001/XMLSchema" xmlns:p="http://schemas.microsoft.com/office/2006/metadata/properties" xmlns:ns2="76a6179b-2f14-4671-ab0e-29dce86f04e9" xmlns:ns3="7bd31d1b-6204-41d2-a069-7c433ba37a45" targetNamespace="http://schemas.microsoft.com/office/2006/metadata/properties" ma:root="true" ma:fieldsID="3e1083bd13da805ebe2b366bd6eb46fa" ns2:_="" ns3:_="">
    <xsd:import namespace="76a6179b-2f14-4671-ab0e-29dce86f04e9"/>
    <xsd:import namespace="7bd31d1b-6204-41d2-a069-7c433ba37a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a6179b-2f14-4671-ab0e-29dce86f04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이미지 태그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d31d1b-6204-41d2-a069-7c433ba37a4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67ab031-a979-428a-b0e7-28811c5fe8b6}" ma:internalName="TaxCatchAll" ma:showField="CatchAllData" ma:web="7bd31d1b-6204-41d2-a069-7c433ba37a4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BCB82D-E097-4D4E-9654-54D24CD87C57}">
  <ds:schemaRefs>
    <ds:schemaRef ds:uri="http://schemas.titus.com/TitusProperties/"/>
    <ds:schemaRef ds:uri=""/>
  </ds:schemaRefs>
</ds:datastoreItem>
</file>

<file path=customXml/itemProps2.xml><?xml version="1.0" encoding="utf-8"?>
<ds:datastoreItem xmlns:ds="http://schemas.openxmlformats.org/officeDocument/2006/customXml" ds:itemID="{06EE4A5A-CCD2-4A8A-94E7-4945C0E6EE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7DAE5D2-9BE4-4564-B221-A6F0CD24B2E1}">
  <ds:schemaRefs>
    <ds:schemaRef ds:uri="http://schemas.openxmlformats.org/package/2006/metadata/core-properties"/>
    <ds:schemaRef ds:uri="http://schemas.microsoft.com/office/2006/documentManagement/types"/>
    <ds:schemaRef ds:uri="a95f480a-5fea-4514-b796-230b9c7e167c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d6bd90c4-9ada-44e9-a6c9-d21ca0deef1f"/>
    <ds:schemaRef ds:uri="http://www.w3.org/XML/1998/namespace"/>
    <ds:schemaRef ds:uri="http://purl.org/dc/dcmitype/"/>
    <ds:schemaRef ds:uri="76a6179b-2f14-4671-ab0e-29dce86f04e9"/>
    <ds:schemaRef ds:uri="7bd31d1b-6204-41d2-a069-7c433ba37a45"/>
  </ds:schemaRefs>
</ds:datastoreItem>
</file>

<file path=customXml/itemProps4.xml><?xml version="1.0" encoding="utf-8"?>
<ds:datastoreItem xmlns:ds="http://schemas.openxmlformats.org/officeDocument/2006/customXml" ds:itemID="{529E5092-334A-4ED8-905D-FF9B7B5460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a6179b-2f14-4671-ab0e-29dce86f04e9"/>
    <ds:schemaRef ds:uri="7bd31d1b-6204-41d2-a069-7c433ba37a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2367e6a-aeaa-40b4-b419-96318dd766f8}" enabled="1" method="Standard" siteId="{9d9f74be-786b-48f6-8e18-83cf7a2eef7c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3888</TotalTime>
  <Words>1627</Words>
  <Application>Microsoft Office PowerPoint</Application>
  <PresentationFormat>와이드스크린</PresentationFormat>
  <Paragraphs>393</Paragraphs>
  <Slides>16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맑은 고딕</vt:lpstr>
      <vt:lpstr>에스코어 드림 5 Medium</vt:lpstr>
      <vt:lpstr>Aptos</vt:lpstr>
      <vt:lpstr>Arial</vt:lpstr>
      <vt:lpstr>Calibri</vt:lpstr>
      <vt:lpstr>Office 테마</vt:lpstr>
      <vt:lpstr>PowerPoint 프레젠테이션</vt:lpstr>
      <vt:lpstr>Content</vt:lpstr>
      <vt:lpstr>1. 도입배경</vt:lpstr>
      <vt:lpstr>1. 도입배경</vt:lpstr>
      <vt:lpstr>2. 각 지게차 별 평가 및 만족도 조사</vt:lpstr>
      <vt:lpstr>2. 각 지게차 별 평가 및 만족도 조사</vt:lpstr>
      <vt:lpstr>3. CLACK</vt:lpstr>
      <vt:lpstr>3. CLACK</vt:lpstr>
      <vt:lpstr>3. CLACK</vt:lpstr>
      <vt:lpstr>4. HANGCHA</vt:lpstr>
      <vt:lpstr>4. HANGCHA</vt:lpstr>
      <vt:lpstr>4. HANGCHA</vt:lpstr>
      <vt:lpstr>5. ANTON</vt:lpstr>
      <vt:lpstr>5. ANTON</vt:lpstr>
      <vt:lpstr>5. ANTON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Bari Choi [Flex Fulfillment WF09 OB Forklift];Road Sim [Flex Fulfillment WF02 OB Forklift]</dc:creator>
  <cp:lastModifiedBy>Mighty Lee [Flex Fulfillment Dynamic Ops WF North 2]</cp:lastModifiedBy>
  <cp:revision>264</cp:revision>
  <cp:lastPrinted>2024-02-02T05:13:21Z</cp:lastPrinted>
  <dcterms:created xsi:type="dcterms:W3CDTF">2020-04-28T08:01:34Z</dcterms:created>
  <dcterms:modified xsi:type="dcterms:W3CDTF">2026-08-28T07:30:49Z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0x0101002AE316ECD567BE44870EC877D106A6EF</vt:lpwstr>
  </property>
  <property fmtid="{D5CDD505-2E9C-101B-9397-08002B2CF9AE}" pid="3" name="TitusGUID">
    <vt:lpwstr>3327b2bf-19c0-4f57-9539-c91175161ccc</vt:lpwstr>
  </property>
  <property fmtid="{D5CDD505-2E9C-101B-9397-08002B2CF9AE}" pid="4" name="ClassificationContentMarkingFooterLocations">
    <vt:lpwstr>Office 테마:10</vt:lpwstr>
  </property>
  <property fmtid="{D5CDD505-2E9C-101B-9397-08002B2CF9AE}" pid="5" name="ClassificationContentMarkingFooterText">
    <vt:lpwstr>2026-08-27T10:59:36 / Internal</vt:lpwstr>
  </property>
  <property fmtid="{D5CDD505-2E9C-101B-9397-08002B2CF9AE}" pid="6" name="ClassificationContentMarkingHeaderLocations">
    <vt:lpwstr>Office 테마:9</vt:lpwstr>
  </property>
  <property fmtid="{D5CDD505-2E9C-101B-9397-08002B2CF9AE}" pid="7" name="ClassificationContentMarkingHeaderText">
    <vt:lpwstr>CoupangFS Business-Internal User Only</vt:lpwstr>
  </property>
</Properties>
</file>