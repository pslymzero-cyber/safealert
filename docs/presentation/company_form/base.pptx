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22"/>
  </p:notesMasterIdLst>
  <p:sldIdLst>
    <p:sldId id="256" r:id="rId6"/>
    <p:sldId id="342" r:id="rId7"/>
    <p:sldId id="394" r:id="rId9"/>
    <p:sldId id="406" r:id="rId39"/>
    <p:sldId id="405" r:id="rId38"/>
    <p:sldId id="404" r:id="rId37"/>
    <p:sldId id="403" r:id="rId36"/>
    <p:sldId id="402" r:id="rId35"/>
    <p:sldId id="401" r:id="rId34"/>
    <p:sldId id="400" r:id="rId33"/>
    <p:sldId id="399" r:id="rId32"/>
    <p:sldId id="398" r:id="rId31"/>
    <p:sldId id="397" r:id="rId30"/>
    <p:sldId id="396" r:id="rId29"/>
    <p:sldId id="395" r:id="rId28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377A61-D6DE-40FD-8AAE-D498C48F2E8F}" v="43" dt="2026-04-29T01:59:02.0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51" autoAdjust="0"/>
    <p:restoredTop sz="93228" autoAdjust="0"/>
  </p:normalViewPr>
  <p:slideViewPr>
    <p:cSldViewPr snapToGrid="0">
      <p:cViewPr varScale="1">
        <p:scale>
          <a:sx n="114" d="100"/>
          <a:sy n="114" d="100"/>
        </p:scale>
        <p:origin x="1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23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  <Relationship Id="rId28" Type="http://schemas.openxmlformats.org/officeDocument/2006/relationships/slide" Target="slides/slide17.xml"/>
  <Relationship Id="rId29" Type="http://schemas.openxmlformats.org/officeDocument/2006/relationships/slide" Target="slides/slide18.xml"/>
  <Relationship Id="rId30" Type="http://schemas.openxmlformats.org/officeDocument/2006/relationships/slide" Target="slides/slide19.xml"/>
  <Relationship Id="rId31" Type="http://schemas.openxmlformats.org/officeDocument/2006/relationships/slide" Target="slides/slide20.xml"/>
  <Relationship Id="rId32" Type="http://schemas.openxmlformats.org/officeDocument/2006/relationships/slide" Target="slides/slide21.xml"/>
  <Relationship Id="rId33" Type="http://schemas.openxmlformats.org/officeDocument/2006/relationships/slide" Target="slides/slide22.xml"/>
  <Relationship Id="rId34" Type="http://schemas.openxmlformats.org/officeDocument/2006/relationships/slide" Target="slides/slide23.xml"/>
  <Relationship Id="rId35" Type="http://schemas.openxmlformats.org/officeDocument/2006/relationships/slide" Target="slides/slide24.xml"/>
  <Relationship Id="rId36" Type="http://schemas.openxmlformats.org/officeDocument/2006/relationships/slide" Target="slides/slide25.xml"/>
  <Relationship Id="rId37" Type="http://schemas.openxmlformats.org/officeDocument/2006/relationships/slide" Target="slides/slide26.xml"/>
  <Relationship Id="rId38" Type="http://schemas.openxmlformats.org/officeDocument/2006/relationships/slide" Target="slides/slide27.xml"/>
  <Relationship Id="rId39" Type="http://schemas.openxmlformats.org/officeDocument/2006/relationships/slide" Target="slides/slide2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F839CF-25B3-42E1-86CA-821A1CE64A45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22088A-3BB4-440B-AF55-FD785B8FFB5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838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22088A-3BB4-440B-AF55-FD785B8FFB5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585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2AAB1-F717-726C-DA71-F1F5E90A7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AF3212-E942-9096-4B1A-57ED8B29D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90DE48-757C-851C-A48A-0D487C82F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32BBE0-A9B7-189E-561D-C46C642FE8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22088A-3BB4-440B-AF55-FD785B8FFB5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365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E18AE65-02B4-41D7-A8EA-65488B3A47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419C12E-FD8D-439E-9DC4-E0392245D044}"/>
              </a:ext>
            </a:extLst>
          </p:cNvPr>
          <p:cNvSpPr txBox="1"/>
          <p:nvPr userDrawn="1"/>
        </p:nvSpPr>
        <p:spPr>
          <a:xfrm>
            <a:off x="227901" y="255514"/>
            <a:ext cx="93344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b="1" kern="1200">
                <a:solidFill>
                  <a:schemeClr val="bg1">
                    <a:lumMod val="75000"/>
                  </a:schemeClr>
                </a:solidFill>
                <a:effectLst/>
                <a:latin typeface="+mj-ea"/>
                <a:ea typeface="+mj-ea"/>
                <a:cs typeface="+mn-cs"/>
              </a:rPr>
              <a:t>Coupang Fulfillment Services Confidential and Proprietary</a:t>
            </a:r>
            <a:endParaRPr lang="en-US" altLang="ko-KR" sz="700" b="1" kern="1200" baseline="0">
              <a:solidFill>
                <a:schemeClr val="bg1">
                  <a:lumMod val="75000"/>
                </a:schemeClr>
              </a:solidFill>
              <a:effectLst/>
              <a:latin typeface="+mj-ea"/>
              <a:ea typeface="+mj-ea"/>
              <a:cs typeface="+mn-cs"/>
            </a:endParaRPr>
          </a:p>
          <a:p>
            <a:pPr algn="l"/>
            <a:endParaRPr lang="en-US" altLang="ko-KR" sz="900" b="1" kern="1200" baseline="0">
              <a:solidFill>
                <a:schemeClr val="bg1">
                  <a:lumMod val="75000"/>
                </a:schemeClr>
              </a:solidFill>
              <a:effectLst/>
              <a:latin typeface="+mj-ea"/>
              <a:ea typeface="+mj-ea"/>
              <a:cs typeface="+mn-cs"/>
            </a:endParaRPr>
          </a:p>
          <a:p>
            <a:pPr algn="l"/>
            <a:r>
              <a:rPr lang="ko-KR" altLang="en-US" sz="700" kern="1200">
                <a:solidFill>
                  <a:schemeClr val="bg1">
                    <a:lumMod val="75000"/>
                  </a:schemeClr>
                </a:solidFill>
                <a:effectLst/>
                <a:latin typeface="+mj-ea"/>
                <a:ea typeface="+mj-ea"/>
                <a:cs typeface="+mn-cs"/>
              </a:rPr>
              <a:t>이 문서는 </a:t>
            </a:r>
            <a:r>
              <a:rPr lang="ko-KR" altLang="en-US" sz="700" kern="1200" err="1">
                <a:solidFill>
                  <a:schemeClr val="bg1">
                    <a:lumMod val="75000"/>
                  </a:schemeClr>
                </a:solidFill>
                <a:effectLst/>
                <a:latin typeface="+mj-ea"/>
                <a:ea typeface="+mj-ea"/>
                <a:cs typeface="+mn-cs"/>
              </a:rPr>
              <a:t>쿠팡풀필먼트서비스의</a:t>
            </a:r>
            <a:r>
              <a:rPr lang="ko-KR" altLang="en-US" sz="700" kern="1200">
                <a:solidFill>
                  <a:schemeClr val="bg1">
                    <a:lumMod val="75000"/>
                  </a:schemeClr>
                </a:solidFill>
                <a:effectLst/>
                <a:latin typeface="+mj-ea"/>
                <a:ea typeface="+mj-ea"/>
                <a:cs typeface="+mn-cs"/>
              </a:rPr>
              <a:t> 대외비이며 지적자산 입니다</a:t>
            </a:r>
            <a:endParaRPr lang="ko-KR" altLang="en-US" sz="400">
              <a:solidFill>
                <a:schemeClr val="bg1">
                  <a:lumMod val="7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96AF7CE-236C-428D-9955-08A423C085CB}"/>
              </a:ext>
            </a:extLst>
          </p:cNvPr>
          <p:cNvCxnSpPr/>
          <p:nvPr userDrawn="1"/>
        </p:nvCxnSpPr>
        <p:spPr>
          <a:xfrm>
            <a:off x="323850" y="476430"/>
            <a:ext cx="190891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6836695-72E5-40B1-B1BD-5A34EF2CCFDF}"/>
              </a:ext>
            </a:extLst>
          </p:cNvPr>
          <p:cNvSpPr/>
          <p:nvPr userDrawn="1"/>
        </p:nvSpPr>
        <p:spPr>
          <a:xfrm flipV="1">
            <a:off x="10829130" y="166065"/>
            <a:ext cx="1173891" cy="6438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4D1E454-D0FA-65B7-39EA-43F4A96A6A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271" y="394685"/>
            <a:ext cx="2305750" cy="183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4245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(로고 포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DAB53E1-6EEB-46F6-B392-AEC477E607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0"/>
            <a:ext cx="12192000" cy="68558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B045E8-B213-45A2-AB75-9F07EC8AB46A}"/>
              </a:ext>
            </a:extLst>
          </p:cNvPr>
          <p:cNvSpPr txBox="1"/>
          <p:nvPr userDrawn="1"/>
        </p:nvSpPr>
        <p:spPr>
          <a:xfrm>
            <a:off x="4763" y="6670913"/>
            <a:ext cx="419185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kern="1200">
                <a:solidFill>
                  <a:srgbClr val="5F5F5F"/>
                </a:solidFill>
                <a:effectLst/>
                <a:latin typeface="+mj-ea"/>
                <a:ea typeface="+mj-ea"/>
                <a:cs typeface="+mn-cs"/>
              </a:rPr>
              <a:t>Coupang Fulfillment Services Confidential and Proprietary </a:t>
            </a:r>
            <a:endParaRPr lang="ko-KR" altLang="en-US" sz="400">
              <a:solidFill>
                <a:srgbClr val="5F5F5F"/>
              </a:solidFill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2DD29C6-9BA0-4CC4-95A0-67F9EEB813B1}"/>
              </a:ext>
            </a:extLst>
          </p:cNvPr>
          <p:cNvSpPr/>
          <p:nvPr userDrawn="1"/>
        </p:nvSpPr>
        <p:spPr>
          <a:xfrm>
            <a:off x="8400980" y="5196838"/>
            <a:ext cx="3369563" cy="12570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105634-23B1-4170-9633-9780F6A2E35E}"/>
              </a:ext>
            </a:extLst>
          </p:cNvPr>
          <p:cNvSpPr txBox="1"/>
          <p:nvPr userDrawn="1"/>
        </p:nvSpPr>
        <p:spPr>
          <a:xfrm>
            <a:off x="10804458" y="6583979"/>
            <a:ext cx="48339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+mj-ea"/>
                <a:ea typeface="+mj-ea"/>
              </a:rPr>
              <a:t>CFS</a:t>
            </a:r>
            <a:endParaRPr lang="ko-KR" altLang="en-US" sz="1000" b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A25EB2F-7F96-49EF-8A88-09A6C440C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0942" y="6576285"/>
            <a:ext cx="429602" cy="261610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A2CF8A37-2FCE-495B-9275-FE23C56C2D3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116BC38-0538-4E75-B11C-C9B67AE67A13}"/>
              </a:ext>
            </a:extLst>
          </p:cNvPr>
          <p:cNvSpPr/>
          <p:nvPr userDrawn="1"/>
        </p:nvSpPr>
        <p:spPr>
          <a:xfrm>
            <a:off x="586215" y="665103"/>
            <a:ext cx="41563" cy="201673"/>
          </a:xfrm>
          <a:prstGeom prst="rect">
            <a:avLst/>
          </a:prstGeom>
          <a:solidFill>
            <a:srgbClr val="5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C3B9042-8183-48C7-9988-030D25438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342595" cy="338554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/>
            <a:r>
              <a:rPr lang="ko-KR" altLang="en-US"/>
              <a:t>마스터 제목 스타일 편집</a:t>
            </a:r>
            <a:endParaRPr lang="en-US"/>
          </a:p>
        </p:txBody>
      </p:sp>
      <p:pic>
        <p:nvPicPr>
          <p:cNvPr id="2" name="그림 1" descr="폰트, 그래픽, 텍스트, 그래픽 디자인이(가) 표시된 사진&#10;&#10;자동 생성된 설명">
            <a:extLst>
              <a:ext uri="{FF2B5EF4-FFF2-40B4-BE49-F238E27FC236}">
                <a16:creationId xmlns:a16="http://schemas.microsoft.com/office/drawing/2014/main" id="{96CEC7CE-163E-8BAE-F388-A2FD43833B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208" y="317305"/>
            <a:ext cx="1247813" cy="33808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715E97F-3B48-2A0D-19E6-C98D272F27E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393" y="6092779"/>
            <a:ext cx="3519150" cy="27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0477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없음(로고 포함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DAB53E1-6EEB-46F6-B392-AEC477E607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0"/>
            <a:ext cx="12192000" cy="68558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B045E8-B213-45A2-AB75-9F07EC8AB46A}"/>
              </a:ext>
            </a:extLst>
          </p:cNvPr>
          <p:cNvSpPr txBox="1"/>
          <p:nvPr userDrawn="1"/>
        </p:nvSpPr>
        <p:spPr>
          <a:xfrm>
            <a:off x="4763" y="6670913"/>
            <a:ext cx="419185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kern="1200">
                <a:solidFill>
                  <a:srgbClr val="5F5F5F"/>
                </a:solidFill>
                <a:effectLst/>
                <a:latin typeface="+mj-ea"/>
                <a:ea typeface="+mj-ea"/>
                <a:cs typeface="+mn-cs"/>
              </a:rPr>
              <a:t>Coupang Fulfillment Services Confidential and Proprietary </a:t>
            </a:r>
            <a:endParaRPr lang="ko-KR" altLang="en-US" sz="400">
              <a:solidFill>
                <a:srgbClr val="5F5F5F"/>
              </a:solidFill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2DD29C6-9BA0-4CC4-95A0-67F9EEB813B1}"/>
              </a:ext>
            </a:extLst>
          </p:cNvPr>
          <p:cNvSpPr/>
          <p:nvPr userDrawn="1"/>
        </p:nvSpPr>
        <p:spPr>
          <a:xfrm>
            <a:off x="8400980" y="5196838"/>
            <a:ext cx="3369563" cy="12570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30CA2E-E975-45EE-82F9-4D03E22676C9}"/>
              </a:ext>
            </a:extLst>
          </p:cNvPr>
          <p:cNvSpPr txBox="1"/>
          <p:nvPr userDrawn="1"/>
        </p:nvSpPr>
        <p:spPr>
          <a:xfrm>
            <a:off x="10804458" y="6583979"/>
            <a:ext cx="48339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+mj-ea"/>
                <a:ea typeface="+mj-ea"/>
              </a:rPr>
              <a:t>CFS</a:t>
            </a:r>
            <a:endParaRPr lang="ko-KR" altLang="en-US" sz="1000" b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C4DE31CD-D181-41D0-8BC1-9C9C00E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0942" y="6576285"/>
            <a:ext cx="429602" cy="261610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A2CF8A37-2FCE-495B-9275-FE23C56C2D3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" name="그림 1" descr="폰트, 그래픽, 텍스트, 그래픽 디자인이(가) 표시된 사진&#10;&#10;자동 생성된 설명">
            <a:extLst>
              <a:ext uri="{FF2B5EF4-FFF2-40B4-BE49-F238E27FC236}">
                <a16:creationId xmlns:a16="http://schemas.microsoft.com/office/drawing/2014/main" id="{90E8C301-BB43-E752-AF86-FB610DA7A6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208" y="317305"/>
            <a:ext cx="1247813" cy="33808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BF8D160-5F2E-17BA-922C-94EE002883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393" y="6092779"/>
            <a:ext cx="3519150" cy="27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086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(로고 없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DAB53E1-6EEB-46F6-B392-AEC477E607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0"/>
            <a:ext cx="12192000" cy="68558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B045E8-B213-45A2-AB75-9F07EC8AB46A}"/>
              </a:ext>
            </a:extLst>
          </p:cNvPr>
          <p:cNvSpPr txBox="1"/>
          <p:nvPr userDrawn="1"/>
        </p:nvSpPr>
        <p:spPr>
          <a:xfrm>
            <a:off x="4763" y="6670913"/>
            <a:ext cx="419185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kern="1200">
                <a:solidFill>
                  <a:srgbClr val="5F5F5F"/>
                </a:solidFill>
                <a:effectLst/>
                <a:latin typeface="+mj-ea"/>
                <a:ea typeface="+mj-ea"/>
                <a:cs typeface="+mn-cs"/>
              </a:rPr>
              <a:t>Coupang Fulfillment Services Confidential and Proprietary </a:t>
            </a:r>
            <a:endParaRPr lang="ko-KR" altLang="en-US" sz="400">
              <a:solidFill>
                <a:srgbClr val="5F5F5F"/>
              </a:solidFill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2DD29C6-9BA0-4CC4-95A0-67F9EEB813B1}"/>
              </a:ext>
            </a:extLst>
          </p:cNvPr>
          <p:cNvSpPr/>
          <p:nvPr userDrawn="1"/>
        </p:nvSpPr>
        <p:spPr>
          <a:xfrm>
            <a:off x="8400980" y="5196838"/>
            <a:ext cx="3369563" cy="12570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116BC38-0538-4E75-B11C-C9B67AE67A13}"/>
              </a:ext>
            </a:extLst>
          </p:cNvPr>
          <p:cNvSpPr/>
          <p:nvPr userDrawn="1"/>
        </p:nvSpPr>
        <p:spPr>
          <a:xfrm>
            <a:off x="586215" y="665103"/>
            <a:ext cx="41563" cy="201673"/>
          </a:xfrm>
          <a:prstGeom prst="rect">
            <a:avLst/>
          </a:prstGeom>
          <a:solidFill>
            <a:srgbClr val="5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j-ea"/>
              <a:ea typeface="+mj-ea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C3B9042-8183-48C7-9988-030D25438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342595" cy="338554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/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6883D2-A478-45A5-B029-08F19CE016DB}"/>
              </a:ext>
            </a:extLst>
          </p:cNvPr>
          <p:cNvSpPr txBox="1"/>
          <p:nvPr userDrawn="1"/>
        </p:nvSpPr>
        <p:spPr>
          <a:xfrm>
            <a:off x="10804458" y="6583979"/>
            <a:ext cx="48339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+mj-ea"/>
                <a:ea typeface="+mj-ea"/>
              </a:rPr>
              <a:t>CFS</a:t>
            </a:r>
            <a:endParaRPr lang="ko-KR" altLang="en-US" sz="1000" b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5909009-EFA6-4514-9FF2-55D07CD14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0942" y="6576285"/>
            <a:ext cx="429602" cy="261610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A2CF8A37-2FCE-495B-9275-FE23C56C2D3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" name="그림 1" descr="폰트, 그래픽, 텍스트, 그래픽 디자인이(가) 표시된 사진&#10;&#10;자동 생성된 설명">
            <a:extLst>
              <a:ext uri="{FF2B5EF4-FFF2-40B4-BE49-F238E27FC236}">
                <a16:creationId xmlns:a16="http://schemas.microsoft.com/office/drawing/2014/main" id="{D816EEA0-E5DD-BA80-1EB7-F04388F61E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208" y="317305"/>
            <a:ext cx="1247813" cy="33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702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없음(로고 없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DAB53E1-6EEB-46F6-B392-AEC477E607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0"/>
            <a:ext cx="12192000" cy="68558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B045E8-B213-45A2-AB75-9F07EC8AB46A}"/>
              </a:ext>
            </a:extLst>
          </p:cNvPr>
          <p:cNvSpPr txBox="1"/>
          <p:nvPr userDrawn="1"/>
        </p:nvSpPr>
        <p:spPr>
          <a:xfrm>
            <a:off x="4763" y="6670913"/>
            <a:ext cx="419185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kern="1200">
                <a:solidFill>
                  <a:srgbClr val="5F5F5F"/>
                </a:solidFill>
                <a:effectLst/>
                <a:latin typeface="+mj-ea"/>
                <a:ea typeface="+mj-ea"/>
                <a:cs typeface="+mn-cs"/>
              </a:rPr>
              <a:t>Coupang Fulfillment Services Confidential and Proprietary </a:t>
            </a:r>
            <a:endParaRPr lang="ko-KR" altLang="en-US" sz="400">
              <a:solidFill>
                <a:srgbClr val="5F5F5F"/>
              </a:solidFill>
              <a:latin typeface="+mj-ea"/>
              <a:ea typeface="+mj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2DD29C6-9BA0-4CC4-95A0-67F9EEB813B1}"/>
              </a:ext>
            </a:extLst>
          </p:cNvPr>
          <p:cNvSpPr/>
          <p:nvPr userDrawn="1"/>
        </p:nvSpPr>
        <p:spPr>
          <a:xfrm>
            <a:off x="8400980" y="5196838"/>
            <a:ext cx="3369563" cy="12570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B8078C-09ED-4BA2-AD1C-388E6303C19D}"/>
              </a:ext>
            </a:extLst>
          </p:cNvPr>
          <p:cNvSpPr txBox="1"/>
          <p:nvPr userDrawn="1"/>
        </p:nvSpPr>
        <p:spPr>
          <a:xfrm>
            <a:off x="10804458" y="6583979"/>
            <a:ext cx="483394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000" b="0">
                <a:solidFill>
                  <a:schemeClr val="bg1"/>
                </a:solidFill>
                <a:latin typeface="+mj-ea"/>
                <a:ea typeface="+mj-ea"/>
              </a:rPr>
              <a:t>CFS</a:t>
            </a:r>
            <a:endParaRPr lang="ko-KR" altLang="en-US" sz="1000" b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4E1411F3-C169-4D9C-8879-36125E050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0942" y="6576285"/>
            <a:ext cx="429602" cy="261610"/>
          </a:xfrm>
        </p:spPr>
        <p:txBody>
          <a:bodyPr/>
          <a:lstStyle>
            <a:lvl1pPr>
              <a:defRPr sz="10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A2CF8A37-2FCE-495B-9275-FE23C56C2D3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" name="그림 1" descr="폰트, 그래픽, 텍스트, 그래픽 디자인이(가) 표시된 사진&#10;&#10;자동 생성된 설명">
            <a:extLst>
              <a:ext uri="{FF2B5EF4-FFF2-40B4-BE49-F238E27FC236}">
                <a16:creationId xmlns:a16="http://schemas.microsoft.com/office/drawing/2014/main" id="{96109F11-0706-59BF-85DC-6D26CB44870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208" y="317305"/>
            <a:ext cx="1247813" cy="33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5337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(후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E18AE65-02B4-41D7-A8EA-65488B3A47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84"/>
          <a:stretch/>
        </p:blipFill>
        <p:spPr>
          <a:xfrm>
            <a:off x="0" y="0"/>
            <a:ext cx="12192000" cy="637222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46836695-72E5-40B1-B1BD-5A34EF2CCFDF}"/>
              </a:ext>
            </a:extLst>
          </p:cNvPr>
          <p:cNvSpPr/>
          <p:nvPr userDrawn="1"/>
        </p:nvSpPr>
        <p:spPr>
          <a:xfrm flipV="1">
            <a:off x="10829130" y="166065"/>
            <a:ext cx="1173891" cy="6438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81CA27A-6328-3FE2-A8FD-1DE26AE2E9E2}"/>
              </a:ext>
            </a:extLst>
          </p:cNvPr>
          <p:cNvSpPr/>
          <p:nvPr userDrawn="1"/>
        </p:nvSpPr>
        <p:spPr>
          <a:xfrm>
            <a:off x="0" y="6680439"/>
            <a:ext cx="12192000" cy="177561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1D7F3D-7374-E3BC-7B85-A92F93272001}"/>
              </a:ext>
            </a:extLst>
          </p:cNvPr>
          <p:cNvSpPr txBox="1"/>
          <p:nvPr userDrawn="1"/>
        </p:nvSpPr>
        <p:spPr>
          <a:xfrm>
            <a:off x="4763" y="6670913"/>
            <a:ext cx="419185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700" kern="1200">
                <a:solidFill>
                  <a:srgbClr val="5F5F5F"/>
                </a:solidFill>
                <a:effectLst/>
                <a:latin typeface="+mj-ea"/>
                <a:ea typeface="+mj-ea"/>
                <a:cs typeface="+mn-cs"/>
              </a:rPr>
              <a:t>Coupang Fulfillment Services Confidential and Proprietary </a:t>
            </a:r>
            <a:endParaRPr lang="ko-KR" altLang="en-US" sz="400">
              <a:solidFill>
                <a:srgbClr val="5F5F5F"/>
              </a:solidFill>
              <a:latin typeface="+mj-ea"/>
              <a:ea typeface="+mj-ea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0455BF9-F253-7919-C71E-E4D962DE1A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3496" y="6019800"/>
            <a:ext cx="4437047" cy="3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3471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E7A3D66-384D-4238-84A8-C9ADAAA3A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B57DB5-9B87-4525-AE40-2C4F29C26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2E690B-AE68-4537-94D0-5AA60177E2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13BC88-6107-4282-8C5F-8E3D29B0A1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4E68FA-2D0A-407A-A9E0-7B2E60FAA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23B82-CB17-47C7-A891-F2264E11CE2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6A649-DA01-60A1-FA73-8E30486B07B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999038" y="63500"/>
            <a:ext cx="22193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CoupangFS Business-Internal User Only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EEED9E-7B7F-F187-B325-1C27D8B8BEE1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249037" y="6642100"/>
            <a:ext cx="17192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2026-08-27T10:59:36 / Internal</a:t>
            </a:r>
          </a:p>
        </p:txBody>
      </p:sp>
    </p:spTree>
    <p:extLst>
      <p:ext uri="{BB962C8B-B14F-4D97-AF65-F5344CB8AC3E}">
        <p14:creationId xmlns:p14="http://schemas.microsoft.com/office/powerpoint/2010/main" val="674449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4" r:id="rId3"/>
    <p:sldLayoutId id="2147483667" r:id="rId4"/>
    <p:sldLayoutId id="2147483666" r:id="rId5"/>
    <p:sldLayoutId id="2147483668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8FA448-C63A-4C1D-BA52-17ED6FAABCA0}"/>
              </a:ext>
            </a:extLst>
          </p:cNvPr>
          <p:cNvSpPr txBox="1"/>
          <p:nvPr/>
        </p:nvSpPr>
        <p:spPr>
          <a:xfrm>
            <a:off x="1257300" y="2782458"/>
            <a:ext cx="9677400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en-US" altLang="ko-KR" sz="4000" dirty="0">
                <a:solidFill>
                  <a:srgbClr val="56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LFP </a:t>
            </a:r>
            <a:r>
              <a:rPr lang="ko-KR" altLang="en-US" sz="4000" dirty="0">
                <a:solidFill>
                  <a:srgbClr val="56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지게차</a:t>
            </a:r>
            <a:endParaRPr kumimoji="0" lang="en-US" altLang="ko-KR" sz="4000" b="0" i="0" u="none" strike="noStrike" kern="1200" cap="none" spc="0" normalizeH="0" baseline="0" noProof="0" dirty="0">
              <a:ln>
                <a:noFill/>
              </a:ln>
              <a:solidFill>
                <a:srgbClr val="56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791245-69E4-488F-8844-23FECF253B33}"/>
              </a:ext>
            </a:extLst>
          </p:cNvPr>
          <p:cNvSpPr txBox="1"/>
          <p:nvPr/>
        </p:nvSpPr>
        <p:spPr>
          <a:xfrm>
            <a:off x="4038283" y="3842017"/>
            <a:ext cx="4115434" cy="292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dirty="0">
                <a:solidFill>
                  <a:srgbClr val="56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2026.08</a:t>
            </a:r>
            <a:r>
              <a:rPr lang="ko-KR" altLang="en-US" sz="1300" dirty="0">
                <a:solidFill>
                  <a:srgbClr val="56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56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|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56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srgbClr val="56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Flex Fulfillment Dynamic Ops Waterflex</a:t>
            </a:r>
            <a:r>
              <a:rPr lang="en-US" altLang="ko-KR" sz="1300" dirty="0">
                <a:solidFill>
                  <a:srgbClr val="56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kumimoji="0" lang="ko-KR" altLang="en-US" sz="1300" b="0" i="0" u="none" strike="noStrike" kern="1200" cap="none" spc="0" normalizeH="0" baseline="0" noProof="0" dirty="0">
              <a:ln>
                <a:noFill/>
              </a:ln>
              <a:solidFill>
                <a:srgbClr val="56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8806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2EEED56C-AE39-6B4E-F938-52DB2BEDA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</a:t>
            </a:r>
            <a:endParaRPr lang="ko-KR" altLang="en-US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350EB0F-1F76-5B38-1354-8D989895C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" name="제목 3">
            <a:extLst>
              <a:ext uri="{FF2B5EF4-FFF2-40B4-BE49-F238E27FC236}">
                <a16:creationId xmlns:a16="http://schemas.microsoft.com/office/drawing/2014/main" id="{F1F2D681-D8C7-91B5-92B5-1ECC1005BEE1}"/>
              </a:ext>
            </a:extLst>
          </p:cNvPr>
          <p:cNvSpPr txBox="1">
            <a:spLocks/>
          </p:cNvSpPr>
          <p:nvPr/>
        </p:nvSpPr>
        <p:spPr>
          <a:xfrm>
            <a:off x="636391" y="934240"/>
            <a:ext cx="11342595" cy="577081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r>
              <a:rPr lang="en-US" altLang="ko-KR" dirty="0"/>
              <a:t>1. </a:t>
            </a:r>
            <a:r>
              <a:rPr lang="ko-KR" altLang="en-US" dirty="0"/>
              <a:t>도입배경</a:t>
            </a:r>
            <a:endParaRPr lang="en-US" altLang="ko-KR" dirty="0"/>
          </a:p>
          <a:p>
            <a:r>
              <a:rPr lang="en-US" altLang="ko-KR" sz="1400" b="0" dirty="0"/>
              <a:t>  1) LFP </a:t>
            </a:r>
            <a:r>
              <a:rPr lang="ko-KR" altLang="en-US" sz="1400" b="0" dirty="0"/>
              <a:t>및 </a:t>
            </a:r>
            <a:r>
              <a:rPr lang="en-US" altLang="ko-KR" sz="1400" b="0" dirty="0"/>
              <a:t>NCM </a:t>
            </a:r>
            <a:r>
              <a:rPr lang="ko-KR" altLang="en-US" sz="1400" b="0" dirty="0"/>
              <a:t>비교</a:t>
            </a:r>
          </a:p>
          <a:p>
            <a:r>
              <a:rPr lang="en-US" altLang="ko-KR" sz="1400" b="0" dirty="0"/>
              <a:t>  2) </a:t>
            </a:r>
            <a:r>
              <a:rPr lang="ko-KR" altLang="en-US" sz="1400" b="0" dirty="0"/>
              <a:t>기대효과</a:t>
            </a:r>
          </a:p>
          <a:p>
            <a:endParaRPr lang="en-US" altLang="ko-KR" sz="600" dirty="0"/>
          </a:p>
          <a:p>
            <a:r>
              <a:rPr lang="en-US" altLang="ko-KR" dirty="0"/>
              <a:t>2. </a:t>
            </a:r>
            <a:r>
              <a:rPr lang="ko-KR" altLang="en-US" dirty="0"/>
              <a:t>각 지게차 별 평가 및 만족도 조사</a:t>
            </a:r>
            <a:endParaRPr lang="en-US" altLang="ko-KR" dirty="0"/>
          </a:p>
          <a:p>
            <a:r>
              <a:rPr lang="en-US" altLang="ko-KR" sz="1400" b="0" dirty="0"/>
              <a:t>  1) 3</a:t>
            </a:r>
            <a:r>
              <a:rPr lang="ko-KR" altLang="en-US" sz="1400" b="0" dirty="0"/>
              <a:t>개 </a:t>
            </a:r>
            <a:r>
              <a:rPr lang="en-US" altLang="ko-KR" sz="1400" b="0" dirty="0"/>
              <a:t>LFP </a:t>
            </a:r>
            <a:r>
              <a:rPr lang="ko-KR" altLang="en-US" sz="1400" b="0" dirty="0"/>
              <a:t>지게차의 평가 실시</a:t>
            </a:r>
          </a:p>
          <a:p>
            <a:r>
              <a:rPr lang="en-US" altLang="ko-KR" sz="1400" b="0" dirty="0"/>
              <a:t>  2) 3</a:t>
            </a:r>
            <a:r>
              <a:rPr lang="ko-KR" altLang="en-US" sz="1400" b="0" dirty="0"/>
              <a:t>개 </a:t>
            </a:r>
            <a:r>
              <a:rPr lang="en-US" altLang="ko-KR" sz="1400" b="0" dirty="0"/>
              <a:t>LFP </a:t>
            </a:r>
            <a:r>
              <a:rPr lang="ko-KR" altLang="en-US" sz="1400" b="0" dirty="0"/>
              <a:t>지게차의 만족도 순위</a:t>
            </a:r>
          </a:p>
          <a:p>
            <a:endParaRPr lang="en-US" altLang="ko-KR" sz="600" b="1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r>
              <a:rPr lang="en-US" altLang="ko-KR" dirty="0"/>
              <a:t>3. CLACK</a:t>
            </a:r>
          </a:p>
          <a:p>
            <a:r>
              <a:rPr lang="en-US" altLang="ko-KR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 1) </a:t>
            </a:r>
            <a:r>
              <a:rPr lang="ko-KR" altLang="en-US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장점</a:t>
            </a:r>
          </a:p>
          <a:p>
            <a:r>
              <a:rPr lang="en-US" altLang="ko-KR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 2) </a:t>
            </a:r>
            <a:r>
              <a:rPr lang="ko-KR" altLang="en-US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단점</a:t>
            </a:r>
          </a:p>
          <a:p>
            <a:r>
              <a:rPr lang="en-US" altLang="ko-KR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 3) </a:t>
            </a:r>
            <a:r>
              <a:rPr lang="ko-KR" altLang="en-US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지게차 최대 탑승 가능시간 </a:t>
            </a:r>
            <a:endParaRPr lang="en-US" altLang="ko-KR" sz="1400" b="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r>
              <a:rPr lang="en-US" altLang="ko-KR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 4) </a:t>
            </a:r>
            <a:r>
              <a:rPr lang="ko-KR" altLang="en-US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지게차 완충시간</a:t>
            </a:r>
            <a:endParaRPr lang="en-US" altLang="ko-KR" sz="1400" b="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r>
              <a:rPr lang="en-US" altLang="ko-KR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 5) </a:t>
            </a:r>
            <a:r>
              <a:rPr lang="ko-KR" altLang="en-US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사용자 피드백</a:t>
            </a:r>
          </a:p>
          <a:p>
            <a:endParaRPr lang="en-US" altLang="ko-KR" sz="50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r>
              <a:rPr lang="en-US" altLang="ko-KR" dirty="0"/>
              <a:t>4. HANGCHA</a:t>
            </a:r>
          </a:p>
          <a:p>
            <a:r>
              <a:rPr lang="en-US" altLang="ko-KR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 1) </a:t>
            </a:r>
            <a:r>
              <a:rPr lang="ko-KR" altLang="en-US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장점</a:t>
            </a:r>
          </a:p>
          <a:p>
            <a:r>
              <a:rPr lang="en-US" altLang="ko-KR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 2) </a:t>
            </a:r>
            <a:r>
              <a:rPr lang="ko-KR" altLang="en-US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단점</a:t>
            </a:r>
          </a:p>
          <a:p>
            <a:r>
              <a:rPr lang="en-US" altLang="ko-KR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 3) </a:t>
            </a:r>
            <a:r>
              <a:rPr lang="ko-KR" altLang="en-US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지게차 최대 탑승 가능시간 </a:t>
            </a:r>
            <a:endParaRPr lang="en-US" altLang="ko-KR" sz="1400" b="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r>
              <a:rPr lang="en-US" altLang="ko-KR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 4) </a:t>
            </a:r>
            <a:r>
              <a:rPr lang="ko-KR" altLang="en-US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지게차 완충시간</a:t>
            </a:r>
            <a:endParaRPr lang="en-US" altLang="ko-KR" sz="1400" b="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r>
              <a:rPr lang="en-US" altLang="ko-KR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 5) </a:t>
            </a:r>
            <a:r>
              <a:rPr lang="ko-KR" altLang="en-US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사용자 피드백</a:t>
            </a:r>
          </a:p>
          <a:p>
            <a:endParaRPr lang="en-US" altLang="ko-KR" sz="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dirty="0"/>
              <a:t>5. ANTON</a:t>
            </a:r>
          </a:p>
          <a:p>
            <a:r>
              <a:rPr lang="en-US" altLang="ko-KR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 1) </a:t>
            </a:r>
            <a:r>
              <a:rPr lang="ko-KR" altLang="en-US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장점</a:t>
            </a:r>
          </a:p>
          <a:p>
            <a:r>
              <a:rPr lang="en-US" altLang="ko-KR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 2) </a:t>
            </a:r>
            <a:r>
              <a:rPr lang="ko-KR" altLang="en-US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단점</a:t>
            </a:r>
          </a:p>
          <a:p>
            <a:r>
              <a:rPr lang="en-US" altLang="ko-KR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 3) </a:t>
            </a:r>
            <a:r>
              <a:rPr lang="ko-KR" altLang="en-US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지게차 최대 탑승 가능시간 </a:t>
            </a:r>
            <a:endParaRPr lang="en-US" altLang="ko-KR" sz="1400" b="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r>
              <a:rPr lang="en-US" altLang="ko-KR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 4) </a:t>
            </a:r>
            <a:r>
              <a:rPr lang="ko-KR" altLang="en-US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지게차 완충시간</a:t>
            </a:r>
            <a:endParaRPr lang="en-US" altLang="ko-KR" sz="1400" b="0" dirty="0">
              <a:latin typeface="에스코어 드림 5 Medium" panose="020B0503030302020204" pitchFamily="34" charset="-127"/>
              <a:ea typeface="에스코어 드림 5 Medium" panose="020B0503030302020204" pitchFamily="34" charset="-127"/>
            </a:endParaRPr>
          </a:p>
          <a:p>
            <a:r>
              <a:rPr lang="en-US" altLang="ko-KR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  5) </a:t>
            </a:r>
            <a:r>
              <a:rPr lang="ko-KR" altLang="en-US" sz="1400" b="0" dirty="0">
                <a:latin typeface="에스코어 드림 5 Medium" panose="020B0503030302020204" pitchFamily="34" charset="-127"/>
                <a:ea typeface="에스코어 드림 5 Medium" panose="020B0503030302020204" pitchFamily="34" charset="-127"/>
              </a:rPr>
              <a:t>사용자 피드백</a:t>
            </a:r>
          </a:p>
        </p:txBody>
      </p:sp>
    </p:spTree>
    <p:extLst>
      <p:ext uri="{BB962C8B-B14F-4D97-AF65-F5344CB8AC3E}">
        <p14:creationId xmlns:p14="http://schemas.microsoft.com/office/powerpoint/2010/main" val="3883590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6F4-EBDD-9AC2-DC28-2DDF0C04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462F1EA-748D-175E-1C14-5E9984552716}"/>
              </a:ext>
            </a:extLst>
          </p:cNvPr>
          <p:cNvSpPr txBox="1">
            <a:spLocks/>
          </p:cNvSpPr>
          <p:nvPr/>
        </p:nvSpPr>
        <p:spPr>
          <a:xfrm>
            <a:off x="636390" y="928122"/>
            <a:ext cx="11342595" cy="3980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2)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 기대효과</a:t>
            </a: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①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교체 대기 기간 불필요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   → 현재 배터리 교체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주 대기 필요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②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짧은 시간 충전으로 가동 시간 확보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점심시간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휴게시간 등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③ 1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회 충전 가동 시간 상승으로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PIT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감축 가능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24% ~ 36%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이상 감축 가능 예상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④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장비 감축으로 인한 임대료 절감 가능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CFS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전체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876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&gt;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613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감축 가능 예상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월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126,766,000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원 절감 예상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⑤ LFP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적용에 따른 안전성 향상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화재 위험에 낮고 고온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저온 환경 대응력 향상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⑥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에어컨 기본 적용에 따른 작업환경 개선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혹서기 기간 </a:t>
            </a:r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온열질환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예방 효과 기대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5B938-7AFE-1302-EB19-024D633A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293263" cy="33855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도입배경</a:t>
            </a:r>
            <a:endParaRPr lang="ko-KR" altLang="en-US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7184ABC-D9FC-E120-072A-5615A956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7384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6F4-EBDD-9AC2-DC28-2DDF0C04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462F1EA-748D-175E-1C14-5E9984552716}"/>
              </a:ext>
            </a:extLst>
          </p:cNvPr>
          <p:cNvSpPr txBox="1">
            <a:spLocks/>
          </p:cNvSpPr>
          <p:nvPr/>
        </p:nvSpPr>
        <p:spPr>
          <a:xfrm>
            <a:off x="636390" y="928122"/>
            <a:ext cx="11342595" cy="3980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2)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 기대효과</a:t>
            </a: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①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교체 대기 기간 불필요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   → 현재 배터리 교체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주 대기 필요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②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짧은 시간 충전으로 가동 시간 확보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점심시간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휴게시간 등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③ 1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회 충전 가동 시간 상승으로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PIT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감축 가능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24% ~ 36%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이상 감축 가능 예상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④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장비 감축으로 인한 임대료 절감 가능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CFS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전체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876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&gt;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613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감축 가능 예상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월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126,766,000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원 절감 예상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⑤ LFP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적용에 따른 안전성 향상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화재 위험에 낮고 고온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저온 환경 대응력 향상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⑥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에어컨 기본 적용에 따른 작업환경 개선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혹서기 기간 </a:t>
            </a:r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온열질환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예방 효과 기대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5B938-7AFE-1302-EB19-024D633A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293263" cy="33855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도입배경</a:t>
            </a:r>
            <a:endParaRPr lang="ko-KR" altLang="en-US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7184ABC-D9FC-E120-072A-5615A956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7384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6F4-EBDD-9AC2-DC28-2DDF0C04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462F1EA-748D-175E-1C14-5E9984552716}"/>
              </a:ext>
            </a:extLst>
          </p:cNvPr>
          <p:cNvSpPr txBox="1">
            <a:spLocks/>
          </p:cNvSpPr>
          <p:nvPr/>
        </p:nvSpPr>
        <p:spPr>
          <a:xfrm>
            <a:off x="636390" y="928122"/>
            <a:ext cx="11342595" cy="3980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2)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 기대효과</a:t>
            </a: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①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교체 대기 기간 불필요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   → 현재 배터리 교체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주 대기 필요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②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짧은 시간 충전으로 가동 시간 확보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점심시간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휴게시간 등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③ 1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회 충전 가동 시간 상승으로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PIT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감축 가능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24% ~ 36%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이상 감축 가능 예상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④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장비 감축으로 인한 임대료 절감 가능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CFS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전체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876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&gt;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613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감축 가능 예상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월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126,766,000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원 절감 예상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⑤ LFP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적용에 따른 안전성 향상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화재 위험에 낮고 고온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저온 환경 대응력 향상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⑥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에어컨 기본 적용에 따른 작업환경 개선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혹서기 기간 </a:t>
            </a:r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온열질환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예방 효과 기대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5B938-7AFE-1302-EB19-024D633A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293263" cy="33855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도입배경</a:t>
            </a:r>
            <a:endParaRPr lang="ko-KR" altLang="en-US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7184ABC-D9FC-E120-072A-5615A956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7384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6F4-EBDD-9AC2-DC28-2DDF0C04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462F1EA-748D-175E-1C14-5E9984552716}"/>
              </a:ext>
            </a:extLst>
          </p:cNvPr>
          <p:cNvSpPr txBox="1">
            <a:spLocks/>
          </p:cNvSpPr>
          <p:nvPr/>
        </p:nvSpPr>
        <p:spPr>
          <a:xfrm>
            <a:off x="636390" y="928122"/>
            <a:ext cx="11342595" cy="3980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2)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 기대효과</a:t>
            </a: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①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교체 대기 기간 불필요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   → 현재 배터리 교체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주 대기 필요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②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짧은 시간 충전으로 가동 시간 확보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점심시간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휴게시간 등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③ 1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회 충전 가동 시간 상승으로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PIT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감축 가능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24% ~ 36%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이상 감축 가능 예상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④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장비 감축으로 인한 임대료 절감 가능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CFS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전체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876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&gt;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613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감축 가능 예상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월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126,766,000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원 절감 예상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⑤ LFP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적용에 따른 안전성 향상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화재 위험에 낮고 고온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저온 환경 대응력 향상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⑥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에어컨 기본 적용에 따른 작업환경 개선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혹서기 기간 </a:t>
            </a:r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온열질환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예방 효과 기대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5B938-7AFE-1302-EB19-024D633A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293263" cy="33855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도입배경</a:t>
            </a:r>
            <a:endParaRPr lang="ko-KR" altLang="en-US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7184ABC-D9FC-E120-072A-5615A956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7384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6F4-EBDD-9AC2-DC28-2DDF0C04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462F1EA-748D-175E-1C14-5E9984552716}"/>
              </a:ext>
            </a:extLst>
          </p:cNvPr>
          <p:cNvSpPr txBox="1">
            <a:spLocks/>
          </p:cNvSpPr>
          <p:nvPr/>
        </p:nvSpPr>
        <p:spPr>
          <a:xfrm>
            <a:off x="636390" y="928122"/>
            <a:ext cx="11342595" cy="3980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2)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 기대효과</a:t>
            </a: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①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교체 대기 기간 불필요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   → 현재 배터리 교체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주 대기 필요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②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짧은 시간 충전으로 가동 시간 확보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점심시간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휴게시간 등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③ 1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회 충전 가동 시간 상승으로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PIT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감축 가능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24% ~ 36%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이상 감축 가능 예상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④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장비 감축으로 인한 임대료 절감 가능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CFS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전체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876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&gt;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613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감축 가능 예상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월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126,766,000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원 절감 예상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⑤ LFP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적용에 따른 안전성 향상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화재 위험에 낮고 고온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저온 환경 대응력 향상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⑥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에어컨 기본 적용에 따른 작업환경 개선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혹서기 기간 </a:t>
            </a:r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온열질환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예방 효과 기대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5B938-7AFE-1302-EB19-024D633A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293263" cy="33855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도입배경</a:t>
            </a:r>
            <a:endParaRPr lang="ko-KR" altLang="en-US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7184ABC-D9FC-E120-072A-5615A956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7384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6F4-EBDD-9AC2-DC28-2DDF0C04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462F1EA-748D-175E-1C14-5E9984552716}"/>
              </a:ext>
            </a:extLst>
          </p:cNvPr>
          <p:cNvSpPr txBox="1">
            <a:spLocks/>
          </p:cNvSpPr>
          <p:nvPr/>
        </p:nvSpPr>
        <p:spPr>
          <a:xfrm>
            <a:off x="636390" y="928122"/>
            <a:ext cx="11342595" cy="3980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2)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 기대효과</a:t>
            </a: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①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교체 대기 기간 불필요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   → 현재 배터리 교체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주 대기 필요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②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짧은 시간 충전으로 가동 시간 확보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점심시간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휴게시간 등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③ 1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회 충전 가동 시간 상승으로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PIT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감축 가능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24% ~ 36%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이상 감축 가능 예상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④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장비 감축으로 인한 임대료 절감 가능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CFS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전체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876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&gt;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613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감축 가능 예상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월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126,766,000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원 절감 예상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⑤ LFP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적용에 따른 안전성 향상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화재 위험에 낮고 고온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저온 환경 대응력 향상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⑥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에어컨 기본 적용에 따른 작업환경 개선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혹서기 기간 </a:t>
            </a:r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온열질환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예방 효과 기대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5B938-7AFE-1302-EB19-024D633A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293263" cy="33855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도입배경</a:t>
            </a:r>
            <a:endParaRPr lang="ko-KR" altLang="en-US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7184ABC-D9FC-E120-072A-5615A956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7384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6F4-EBDD-9AC2-DC28-2DDF0C04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462F1EA-748D-175E-1C14-5E9984552716}"/>
              </a:ext>
            </a:extLst>
          </p:cNvPr>
          <p:cNvSpPr txBox="1">
            <a:spLocks/>
          </p:cNvSpPr>
          <p:nvPr/>
        </p:nvSpPr>
        <p:spPr>
          <a:xfrm>
            <a:off x="636390" y="928122"/>
            <a:ext cx="11342595" cy="3980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2)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 기대효과</a:t>
            </a: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①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교체 대기 기간 불필요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   → 현재 배터리 교체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주 대기 필요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②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짧은 시간 충전으로 가동 시간 확보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점심시간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휴게시간 등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③ 1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회 충전 가동 시간 상승으로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PIT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감축 가능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24% ~ 36%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이상 감축 가능 예상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④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장비 감축으로 인한 임대료 절감 가능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CFS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전체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876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&gt;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613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감축 가능 예상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월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126,766,000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원 절감 예상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⑤ LFP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적용에 따른 안전성 향상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화재 위험에 낮고 고온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저온 환경 대응력 향상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⑥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에어컨 기본 적용에 따른 작업환경 개선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혹서기 기간 </a:t>
            </a:r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온열질환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예방 효과 기대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5B938-7AFE-1302-EB19-024D633A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293263" cy="33855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도입배경</a:t>
            </a:r>
            <a:endParaRPr lang="ko-KR" altLang="en-US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7184ABC-D9FC-E120-072A-5615A956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73847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6F4-EBDD-9AC2-DC28-2DDF0C04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462F1EA-748D-175E-1C14-5E9984552716}"/>
              </a:ext>
            </a:extLst>
          </p:cNvPr>
          <p:cNvSpPr txBox="1">
            <a:spLocks/>
          </p:cNvSpPr>
          <p:nvPr/>
        </p:nvSpPr>
        <p:spPr>
          <a:xfrm>
            <a:off x="636390" y="928122"/>
            <a:ext cx="11342595" cy="3980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2)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 기대효과</a:t>
            </a: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①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교체 대기 기간 불필요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   → 현재 배터리 교체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주 대기 필요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②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짧은 시간 충전으로 가동 시간 확보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점심시간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휴게시간 등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③ 1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회 충전 가동 시간 상승으로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PIT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감축 가능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24% ~ 36%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이상 감축 가능 예상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④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장비 감축으로 인한 임대료 절감 가능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CFS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전체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876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&gt;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613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감축 가능 예상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월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126,766,000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원 절감 예상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⑤ LFP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적용에 따른 안전성 향상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화재 위험에 낮고 고온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저온 환경 대응력 향상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⑥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에어컨 기본 적용에 따른 작업환경 개선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혹서기 기간 </a:t>
            </a:r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온열질환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예방 효과 기대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5B938-7AFE-1302-EB19-024D633A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293263" cy="33855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도입배경</a:t>
            </a:r>
            <a:endParaRPr lang="ko-KR" altLang="en-US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7184ABC-D9FC-E120-072A-5615A956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7384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6F4-EBDD-9AC2-DC28-2DDF0C04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462F1EA-748D-175E-1C14-5E9984552716}"/>
              </a:ext>
            </a:extLst>
          </p:cNvPr>
          <p:cNvSpPr txBox="1">
            <a:spLocks/>
          </p:cNvSpPr>
          <p:nvPr/>
        </p:nvSpPr>
        <p:spPr>
          <a:xfrm>
            <a:off x="636390" y="928122"/>
            <a:ext cx="11342595" cy="3980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2)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 기대효과</a:t>
            </a: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①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교체 대기 기간 불필요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   → 현재 배터리 교체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주 대기 필요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②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짧은 시간 충전으로 가동 시간 확보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점심시간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휴게시간 등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③ 1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회 충전 가동 시간 상승으로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PIT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감축 가능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24% ~ 36%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이상 감축 가능 예상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④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장비 감축으로 인한 임대료 절감 가능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CFS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전체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876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&gt;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613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감축 가능 예상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월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126,766,000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원 절감 예상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⑤ LFP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적용에 따른 안전성 향상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화재 위험에 낮고 고온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저온 환경 대응력 향상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⑥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에어컨 기본 적용에 따른 작업환경 개선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혹서기 기간 </a:t>
            </a:r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온열질환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예방 효과 기대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5B938-7AFE-1302-EB19-024D633A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293263" cy="33855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도입배경</a:t>
            </a:r>
            <a:endParaRPr lang="ko-KR" altLang="en-US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7184ABC-D9FC-E120-072A-5615A956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73847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6F4-EBDD-9AC2-DC28-2DDF0C04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462F1EA-748D-175E-1C14-5E9984552716}"/>
              </a:ext>
            </a:extLst>
          </p:cNvPr>
          <p:cNvSpPr txBox="1">
            <a:spLocks/>
          </p:cNvSpPr>
          <p:nvPr/>
        </p:nvSpPr>
        <p:spPr>
          <a:xfrm>
            <a:off x="636390" y="928122"/>
            <a:ext cx="11342595" cy="3980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2)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 기대효과</a:t>
            </a: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①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교체 대기 기간 불필요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   → 현재 배터리 교체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주 대기 필요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②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짧은 시간 충전으로 가동 시간 확보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점심시간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휴게시간 등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③ 1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회 충전 가동 시간 상승으로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PIT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감축 가능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24% ~ 36%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이상 감축 가능 예상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④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장비 감축으로 인한 임대료 절감 가능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CFS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전체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876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&gt;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613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감축 가능 예상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월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126,766,000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원 절감 예상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⑤ LFP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적용에 따른 안전성 향상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화재 위험에 낮고 고온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저온 환경 대응력 향상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⑥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에어컨 기본 적용에 따른 작업환경 개선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혹서기 기간 </a:t>
            </a:r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온열질환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예방 효과 기대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5B938-7AFE-1302-EB19-024D633A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293263" cy="33855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도입배경</a:t>
            </a:r>
            <a:endParaRPr lang="ko-KR" altLang="en-US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7184ABC-D9FC-E120-072A-5615A956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7384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6F4-EBDD-9AC2-DC28-2DDF0C04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462F1EA-748D-175E-1C14-5E9984552716}"/>
              </a:ext>
            </a:extLst>
          </p:cNvPr>
          <p:cNvSpPr txBox="1">
            <a:spLocks/>
          </p:cNvSpPr>
          <p:nvPr/>
        </p:nvSpPr>
        <p:spPr>
          <a:xfrm>
            <a:off x="636390" y="928122"/>
            <a:ext cx="11342595" cy="3980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2)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 기대효과</a:t>
            </a: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①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교체 대기 기간 불필요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   → 현재 배터리 교체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주 대기 필요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②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짧은 시간 충전으로 가동 시간 확보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점심시간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휴게시간 등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③ 1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회 충전 가동 시간 상승으로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PIT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감축 가능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24% ~ 36%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이상 감축 가능 예상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④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장비 감축으로 인한 임대료 절감 가능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CFS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전체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876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&gt;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613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감축 가능 예상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월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126,766,000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원 절감 예상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⑤ LFP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적용에 따른 안전성 향상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화재 위험에 낮고 고온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저온 환경 대응력 향상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⑥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에어컨 기본 적용에 따른 작업환경 개선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혹서기 기간 </a:t>
            </a:r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온열질환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예방 효과 기대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5B938-7AFE-1302-EB19-024D633A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293263" cy="33855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도입배경</a:t>
            </a:r>
            <a:endParaRPr lang="ko-KR" altLang="en-US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7184ABC-D9FC-E120-072A-5615A956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73847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6F4-EBDD-9AC2-DC28-2DDF0C04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462F1EA-748D-175E-1C14-5E9984552716}"/>
              </a:ext>
            </a:extLst>
          </p:cNvPr>
          <p:cNvSpPr txBox="1">
            <a:spLocks/>
          </p:cNvSpPr>
          <p:nvPr/>
        </p:nvSpPr>
        <p:spPr>
          <a:xfrm>
            <a:off x="636390" y="928122"/>
            <a:ext cx="11342595" cy="3980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2)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 기대효과</a:t>
            </a: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①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교체 대기 기간 불필요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   → 현재 배터리 교체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주 대기 필요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②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짧은 시간 충전으로 가동 시간 확보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점심시간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휴게시간 등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③ 1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회 충전 가동 시간 상승으로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PIT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감축 가능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24% ~ 36%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이상 감축 가능 예상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④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장비 감축으로 인한 임대료 절감 가능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CFS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전체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876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&gt;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613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감축 가능 예상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월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126,766,000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원 절감 예상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⑤ LFP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적용에 따른 안전성 향상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화재 위험에 낮고 고온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저온 환경 대응력 향상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⑥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에어컨 기본 적용에 따른 작업환경 개선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혹서기 기간 </a:t>
            </a:r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온열질환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예방 효과 기대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5B938-7AFE-1302-EB19-024D633A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293263" cy="33855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도입배경</a:t>
            </a:r>
            <a:endParaRPr lang="ko-KR" altLang="en-US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7184ABC-D9FC-E120-072A-5615A956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73847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D6F4-EBDD-9AC2-DC28-2DDF0C04A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3462F1EA-748D-175E-1C14-5E9984552716}"/>
              </a:ext>
            </a:extLst>
          </p:cNvPr>
          <p:cNvSpPr txBox="1">
            <a:spLocks/>
          </p:cNvSpPr>
          <p:nvPr/>
        </p:nvSpPr>
        <p:spPr>
          <a:xfrm>
            <a:off x="636390" y="928122"/>
            <a:ext cx="11342595" cy="398077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1600" b="1" kern="1200" dirty="0">
                <a:solidFill>
                  <a:srgbClr val="560000"/>
                </a:solidFill>
                <a:latin typeface="+mj-ea"/>
                <a:ea typeface="+mj-ea"/>
                <a:cs typeface="+mn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  <a:ea typeface="+mn-ea"/>
              </a:rPr>
              <a:t>2)</a:t>
            </a:r>
            <a:r>
              <a:rPr lang="ko-KR" altLang="en-US" sz="1400" dirty="0">
                <a:solidFill>
                  <a:schemeClr val="tx1"/>
                </a:solidFill>
                <a:latin typeface="+mn-ea"/>
                <a:ea typeface="+mn-ea"/>
              </a:rPr>
              <a:t> 기대효과</a:t>
            </a:r>
            <a:endParaRPr lang="en-US" altLang="ko-KR" sz="14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①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교체 대기 기간 불필요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   → 현재 배터리 교체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4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주 대기 필요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②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짧은 시간 충전으로 가동 시간 확보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점심시간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휴게시간 등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③ 1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회 충전 가동 시간 상승으로 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PIT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감축 가능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24% ~ 36%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이상 감축 가능 예상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④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장비 감축으로 인한 임대료 절감 가능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CFS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전체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876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&gt;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613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대 감축 가능 예상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월 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126,766,000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원 절감 예상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⑤ LFP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배터리 적용에 따른 안전성 향상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화재 위험에 낮고 고온</a:t>
            </a: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저온 환경 대응력 향상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⑥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에어컨 기본 적용에 따른 작업환경 개선 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200" b="0" dirty="0">
                <a:solidFill>
                  <a:schemeClr val="tx1"/>
                </a:solidFill>
                <a:latin typeface="+mn-ea"/>
              </a:rPr>
              <a:t>    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→ 혹서기 기간 </a:t>
            </a:r>
            <a:r>
              <a:rPr lang="ko-KR" altLang="en-US" sz="1200" b="0" dirty="0" err="1">
                <a:solidFill>
                  <a:schemeClr val="tx1"/>
                </a:solidFill>
                <a:latin typeface="+mn-ea"/>
              </a:rPr>
              <a:t>온열질환</a:t>
            </a:r>
            <a:r>
              <a:rPr lang="ko-KR" altLang="en-US" sz="1200" b="0" dirty="0">
                <a:solidFill>
                  <a:schemeClr val="tx1"/>
                </a:solidFill>
                <a:latin typeface="+mn-ea"/>
              </a:rPr>
              <a:t> 예방 효과 기대</a:t>
            </a:r>
            <a:endParaRPr lang="en-US" altLang="ko-KR" sz="1200" b="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4B5B938-7AFE-1302-EB19-024D633AA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391" y="595686"/>
            <a:ext cx="11293263" cy="338554"/>
          </a:xfrm>
        </p:spPr>
        <p:txBody>
          <a:bodyPr/>
          <a:lstStyle/>
          <a:p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도입배경</a:t>
            </a:r>
            <a:endParaRPr lang="ko-KR" altLang="en-US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7184ABC-D9FC-E120-072A-5615A956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F8A37-2FCE-495B-9275-FE23C56C2D36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7384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itus xmlns="http://schemas.titus.com/TitusProperties/">
  <TitusGUID xmlns="">3327b2bf-19c0-4f57-9539-c91175161ccc</TitusGUID>
</titu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6a6179b-2f14-4671-ab0e-29dce86f04e9">
      <Terms xmlns="http://schemas.microsoft.com/office/infopath/2007/PartnerControls"/>
    </lcf76f155ced4ddcb4097134ff3c332f>
    <TaxCatchAll xmlns="7bd31d1b-6204-41d2-a069-7c433ba37a45" xsi:nil="true"/>
  </documentManagement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2AE316ECD567BE44870EC877D106A6EF" ma:contentTypeVersion="14" ma:contentTypeDescription="새 문서를 만듭니다." ma:contentTypeScope="" ma:versionID="780609d91c8a00f892fa9cab9ca1e64a">
  <xsd:schema xmlns:xsd="http://www.w3.org/2001/XMLSchema" xmlns:xs="http://www.w3.org/2001/XMLSchema" xmlns:p="http://schemas.microsoft.com/office/2006/metadata/properties" xmlns:ns2="76a6179b-2f14-4671-ab0e-29dce86f04e9" xmlns:ns3="7bd31d1b-6204-41d2-a069-7c433ba37a45" targetNamespace="http://schemas.microsoft.com/office/2006/metadata/properties" ma:root="true" ma:fieldsID="3e1083bd13da805ebe2b366bd6eb46fa" ns2:_="" ns3:_="">
    <xsd:import namespace="76a6179b-2f14-4671-ab0e-29dce86f04e9"/>
    <xsd:import namespace="7bd31d1b-6204-41d2-a069-7c433ba37a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a6179b-2f14-4671-ab0e-29dce86f04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0e116155-e74f-41f9-90e9-2cd01caac41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d31d1b-6204-41d2-a069-7c433ba37a4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67ab031-a979-428a-b0e7-28811c5fe8b6}" ma:internalName="TaxCatchAll" ma:showField="CatchAllData" ma:web="7bd31d1b-6204-41d2-a069-7c433ba37a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DBCB82D-E097-4D4E-9654-54D24CD87C57}">
  <ds:schemaRefs>
    <ds:schemaRef ds:uri="http://schemas.titus.com/TitusProperties/"/>
    <ds:schemaRef ds:uri=""/>
  </ds:schemaRefs>
</ds:datastoreItem>
</file>

<file path=customXml/itemProps2.xml><?xml version="1.0" encoding="utf-8"?>
<ds:datastoreItem xmlns:ds="http://schemas.openxmlformats.org/officeDocument/2006/customXml" ds:itemID="{06EE4A5A-CCD2-4A8A-94E7-4945C0E6EE0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7DAE5D2-9BE4-4564-B221-A6F0CD24B2E1}">
  <ds:schemaRefs>
    <ds:schemaRef ds:uri="http://schemas.openxmlformats.org/package/2006/metadata/core-properties"/>
    <ds:schemaRef ds:uri="http://schemas.microsoft.com/office/2006/documentManagement/types"/>
    <ds:schemaRef ds:uri="a95f480a-5fea-4514-b796-230b9c7e167c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elements/1.1/"/>
    <ds:schemaRef ds:uri="d6bd90c4-9ada-44e9-a6c9-d21ca0deef1f"/>
    <ds:schemaRef ds:uri="http://www.w3.org/XML/1998/namespace"/>
    <ds:schemaRef ds:uri="http://purl.org/dc/dcmitype/"/>
    <ds:schemaRef ds:uri="76a6179b-2f14-4671-ab0e-29dce86f04e9"/>
    <ds:schemaRef ds:uri="7bd31d1b-6204-41d2-a069-7c433ba37a45"/>
  </ds:schemaRefs>
</ds:datastoreItem>
</file>

<file path=customXml/itemProps4.xml><?xml version="1.0" encoding="utf-8"?>
<ds:datastoreItem xmlns:ds="http://schemas.openxmlformats.org/officeDocument/2006/customXml" ds:itemID="{529E5092-334A-4ED8-905D-FF9B7B5460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a6179b-2f14-4671-ab0e-29dce86f04e9"/>
    <ds:schemaRef ds:uri="7bd31d1b-6204-41d2-a069-7c433ba37a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b2367e6a-aeaa-40b4-b419-96318dd766f8}" enabled="1" method="Standard" siteId="{9d9f74be-786b-48f6-8e18-83cf7a2eef7c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3888</TotalTime>
  <Words>1627</Words>
  <Application>Microsoft Office PowerPoint</Application>
  <PresentationFormat>와이드스크린</PresentationFormat>
  <Paragraphs>393</Paragraphs>
  <Slides>16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맑은 고딕</vt:lpstr>
      <vt:lpstr>에스코어 드림 5 Medium</vt:lpstr>
      <vt:lpstr>Aptos</vt:lpstr>
      <vt:lpstr>Arial</vt:lpstr>
      <vt:lpstr>Calibri</vt:lpstr>
      <vt:lpstr>Office 테마</vt:lpstr>
      <vt:lpstr>PowerPoint 프레젠테이션</vt:lpstr>
      <vt:lpstr>Content</vt:lpstr>
      <vt:lpstr>1. 도입배경</vt:lpstr>
      <vt:lpstr>1. 도입배경</vt:lpstr>
      <vt:lpstr>2. 각 지게차 별 평가 및 만족도 조사</vt:lpstr>
      <vt:lpstr>2. 각 지게차 별 평가 및 만족도 조사</vt:lpstr>
      <vt:lpstr>3. CLACK</vt:lpstr>
      <vt:lpstr>3. CLACK</vt:lpstr>
      <vt:lpstr>3. CLACK</vt:lpstr>
      <vt:lpstr>4. HANGCHA</vt:lpstr>
      <vt:lpstr>4. HANGCHA</vt:lpstr>
      <vt:lpstr>4. HANGCHA</vt:lpstr>
      <vt:lpstr>5. ANTON</vt:lpstr>
      <vt:lpstr>5. ANTON</vt:lpstr>
      <vt:lpstr>5. ANTON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Bari Choi [Flex Fulfillment WF09 OB Forklift];Road Sim [Flex Fulfillment WF02 OB Forklift]</dc:creator>
  <cp:lastModifiedBy>Mighty Lee [Flex Fulfillment Dynamic Ops WF North 2]</cp:lastModifiedBy>
  <cp:revision>264</cp:revision>
  <cp:lastPrinted>2024-02-02T05:13:21Z</cp:lastPrinted>
  <dcterms:created xsi:type="dcterms:W3CDTF">2020-04-28T08:01:34Z</dcterms:created>
  <dcterms:modified xsi:type="dcterms:W3CDTF">2026-08-28T07:30:49Z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0x0101002AE316ECD567BE44870EC877D106A6EF</vt:lpwstr>
  </property>
  <property fmtid="{D5CDD505-2E9C-101B-9397-08002B2CF9AE}" pid="3" name="TitusGUID">
    <vt:lpwstr>3327b2bf-19c0-4f57-9539-c91175161ccc</vt:lpwstr>
  </property>
  <property fmtid="{D5CDD505-2E9C-101B-9397-08002B2CF9AE}" pid="4" name="ClassificationContentMarkingFooterLocations">
    <vt:lpwstr>Office 테마:10</vt:lpwstr>
  </property>
  <property fmtid="{D5CDD505-2E9C-101B-9397-08002B2CF9AE}" pid="5" name="ClassificationContentMarkingFooterText">
    <vt:lpwstr>2026-08-27T10:59:36 / Internal</vt:lpwstr>
  </property>
  <property fmtid="{D5CDD505-2E9C-101B-9397-08002B2CF9AE}" pid="6" name="ClassificationContentMarkingHeaderLocations">
    <vt:lpwstr>Office 테마:9</vt:lpwstr>
  </property>
  <property fmtid="{D5CDD505-2E9C-101B-9397-08002B2CF9AE}" pid="7" name="ClassificationContentMarkingHeaderText">
    <vt:lpwstr>CoupangFS Business-Internal User Only</vt:lpwstr>
  </property>
</Properties>
</file>