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7"/>
  </p:notesMasterIdLst>
  <p:sldIdLst>
    <p:sldId id="269" r:id="rId5"/>
    <p:sldId id="270" r:id="rId6"/>
    <p:sldId id="277" r:id="rId7"/>
    <p:sldId id="272" r:id="rId8"/>
    <p:sldId id="278" r:id="rId9"/>
    <p:sldId id="279" r:id="rId10"/>
    <p:sldId id="280" r:id="rId11"/>
    <p:sldId id="271" r:id="rId12"/>
    <p:sldId id="273" r:id="rId13"/>
    <p:sldId id="274" r:id="rId14"/>
    <p:sldId id="281" r:id="rId15"/>
    <p:sldId id="275" r:id="rId16"/>
  </p:sldIdLst>
  <p:sldSz cx="12192000" cy="6858000"/>
  <p:notesSz cx="6858000" cy="9144000"/>
  <p:embeddedFontLst>
    <p:embeddedFont>
      <p:font typeface="맑은 고딕" panose="020B0503020000020004" pitchFamily="50" charset="-127"/>
      <p:regular r:id="rId18"/>
      <p:bold r:id="rId19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pos="7323" userDrawn="1">
          <p15:clr>
            <a:srgbClr val="A4A3A4"/>
          </p15:clr>
        </p15:guide>
        <p15:guide id="5" pos="10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38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20" y="102"/>
      </p:cViewPr>
      <p:guideLst>
        <p:guide orient="horz" pos="1139"/>
        <p:guide pos="370"/>
        <p:guide orient="horz" pos="4110"/>
        <p:guide pos="7323"/>
        <p:guide pos="10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금액</c:v>
                </c:pt>
              </c:strCache>
            </c:strRef>
          </c:tx>
          <c:spPr>
            <a:solidFill>
              <a:srgbClr val="0D4B4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센터 1곳</c:v>
                </c:pt>
                <c:pt idx="1">
                  <c:v>5개 센터</c:v>
                </c:pt>
                <c:pt idx="2">
                  <c:v>10개 센터</c:v>
                </c:pt>
                <c:pt idx="3">
                  <c:v>17개 센터 (전체)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331</c:v>
                </c:pt>
                <c:pt idx="1">
                  <c:v>1655</c:v>
                </c:pt>
                <c:pt idx="2">
                  <c:v>3310</c:v>
                </c:pt>
                <c:pt idx="3">
                  <c:v>5627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  <a:latin typeface="에스코어 드림 5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5DBDB"/>
            </a:solidFill>
          </a:ln>
        </c:spPr>
        <c:txPr>
          <a:bodyPr/>
          <a:lstStyle/>
          <a:p>
            <a:pPr>
              <a:defRPr sz="900">
                <a:solidFill>
                  <a:srgbClr val="444F55"/>
                </a:solidFill>
                <a:latin typeface="에스코어 드림 4 Regula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639.8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444F55"/>
          </a:solidFill>
          <a:latin typeface="에스코어 드림 4 Regula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2347B-35B1-424C-9898-03662B350C9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C3FBC-3D6C-4AC0-B6AD-0618D79C7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937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0D4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AD3FABC5-0B3D-E917-C425-91BE14146494}"/>
              </a:ext>
            </a:extLst>
          </p:cNvPr>
          <p:cNvSpPr/>
          <p:nvPr userDrawn="1"/>
        </p:nvSpPr>
        <p:spPr>
          <a:xfrm>
            <a:off x="249534" y="44212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D7C00DE-97AF-EF60-FFE7-4C973B25309A}"/>
              </a:ext>
            </a:extLst>
          </p:cNvPr>
          <p:cNvSpPr/>
          <p:nvPr userDrawn="1"/>
        </p:nvSpPr>
        <p:spPr>
          <a:xfrm>
            <a:off x="1798655" y="44212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D621CF00-B3AB-FBFB-AA36-CB12436B8C6D}"/>
              </a:ext>
            </a:extLst>
          </p:cNvPr>
          <p:cNvSpPr/>
          <p:nvPr userDrawn="1"/>
        </p:nvSpPr>
        <p:spPr>
          <a:xfrm>
            <a:off x="3347776" y="44212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93384E39-3F26-E63B-EADF-C9E97C206457}"/>
              </a:ext>
            </a:extLst>
          </p:cNvPr>
          <p:cNvSpPr/>
          <p:nvPr userDrawn="1"/>
        </p:nvSpPr>
        <p:spPr>
          <a:xfrm>
            <a:off x="4896897" y="44212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D57D8C65-8263-EAE1-D96A-0B93C429608C}"/>
              </a:ext>
            </a:extLst>
          </p:cNvPr>
          <p:cNvSpPr/>
          <p:nvPr userDrawn="1"/>
        </p:nvSpPr>
        <p:spPr>
          <a:xfrm>
            <a:off x="6446018" y="44212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47410DB4-26ED-9124-F043-EEA02CF0D35F}"/>
              </a:ext>
            </a:extLst>
          </p:cNvPr>
          <p:cNvSpPr/>
          <p:nvPr userDrawn="1"/>
        </p:nvSpPr>
        <p:spPr>
          <a:xfrm>
            <a:off x="7995139" y="44212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8354D1D7-CD55-F164-77E0-298E01D3E19A}"/>
              </a:ext>
            </a:extLst>
          </p:cNvPr>
          <p:cNvSpPr/>
          <p:nvPr userDrawn="1"/>
        </p:nvSpPr>
        <p:spPr>
          <a:xfrm>
            <a:off x="9544260" y="44212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D289962-2BA1-9252-5670-A59C40F71138}"/>
              </a:ext>
            </a:extLst>
          </p:cNvPr>
          <p:cNvSpPr/>
          <p:nvPr userDrawn="1"/>
        </p:nvSpPr>
        <p:spPr>
          <a:xfrm>
            <a:off x="249534" y="894304"/>
            <a:ext cx="11692932" cy="5707463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956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0D4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499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7964D-8282-FBF1-5E3C-E3ECA165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A8ACD1-34DE-0A14-681E-48BF3114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98D467-47C4-AC24-8DF0-97F5CAC6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689F0-FB6E-F597-B793-CF1C7652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95EDF5-EAB4-B66A-F5A5-295D9A35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66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A9A5D-D965-546C-C218-A789CB35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EB88A3-6418-9529-0F77-1EB10692E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D8909-5842-C8D2-6AA1-32005E2E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B56-A710-FEE3-C889-ADA2230E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CD467D-8C82-18AF-31AC-AA6B0ED4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309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C860E-5FE9-41BE-B2C5-9BF53F89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35875-4479-52D9-D978-E2BC5C4BE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BEA23A-C150-93FF-77F7-F1CFD3A9F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EAE614-C717-AB7F-3FBF-D1D9DEB9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30286A-41EF-AA9B-9029-BF88DF07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E39B14-955F-508D-1528-9B7FE574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11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0233F-8855-7BF6-EF6B-4E681BC3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2BE9F9-93D5-946F-ACAE-44DED9774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00C089-398A-CFD3-A7D4-471D80D78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05E9BA-8A46-891C-1CA0-84BE5B0E5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00787B-372F-4997-2E94-000340BC9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CF1C44-8842-3B65-247A-9816EBD6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513F68-BB82-4208-7D16-C463E591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9B480B-7DFD-4435-D754-C0B5ABEF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87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257E3-D8BF-5260-6B34-D38A93FE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B0F6CE-188E-5F64-4D19-2818E9F2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B511D2-F9D5-B14B-A0C6-F8B033CE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0C2E57-223F-900C-0564-F98057B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9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6E4633-3346-30C4-6E41-44028D95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9AB999-CBC0-9882-864E-A94D6F03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BAA9FB-A45F-01C5-3FD7-CD539365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33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68705-784F-0FAB-9EF2-1397594C9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C528E9-E6D2-5672-37D1-3E5D407B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D6F557-95C9-F7D9-10CD-7FDC18D68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FC8C3A-9C10-FF15-1D47-E85AB46E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A85ABB-CE09-ABE6-3D08-9F8D0B9C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13C18D-1147-2660-0BD8-67CF35D0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244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E2D1A6-F87C-ED53-D21E-77F1CB10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DC44A5-9CC8-925F-032C-7ADAC97B9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6461C3-EFF4-ACAB-F78C-BD9C66E04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10F12A-F7EF-A004-E7C1-F0D167500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28897A-F2C1-C039-F97D-E4BDAA3E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CB9B5A-A4C0-E31B-726D-A54F5F83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50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AAD81-3BB5-7063-1C92-2F56CF9B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74FD93-53EF-8300-1663-8806275C9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42547D-1114-DC85-F3BE-1A660574D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EC98A-4B32-D8B7-BBE5-6C65EB29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9A76C-A6A0-8D37-239A-35EB9875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954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84974E-92FF-F589-70EE-08B676D41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C726EB-6F92-A98A-24B3-8F8CB7ED5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15141-263B-6FF6-D914-4FF68F3F8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B23F8-7EE7-3375-212C-845B195E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A60D61-B1E5-6021-5052-995FC854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4850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63BF88-435F-7328-9FA9-B21C3CA0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DB269C-10C1-0D56-5457-4A5E12B90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4F4AFA-5BCD-594E-A9FA-70E0A166D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177C8-301D-46C0-B7BE-D8D9C598FDB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0B6BF-7566-AEC9-0E22-9D1B75D27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2E5664-2B29-CDFF-9A6D-2FFB3808A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16DD7-576B-4043-A282-EDDBF61FC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20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6F037C0-7E46-FFD8-D0B3-1142FE97BFAF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E2ED94-C4F0-4C38-C141-B6A04D22897E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80AD-94F9-80AF-8712-372F4E91851C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6A74-E9A3-6957-6F20-028957ED0A34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97A703A4-1D88-F121-3DDD-259C407B81A3}"/>
              </a:ext>
            </a:extLst>
          </p:cNvPr>
          <p:cNvSpPr/>
          <p:nvPr/>
        </p:nvSpPr>
        <p:spPr>
          <a:xfrm>
            <a:off x="249534" y="303338"/>
            <a:ext cx="1549121" cy="795075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A39462-E83F-9528-AD5B-B151751C0A3E}"/>
              </a:ext>
            </a:extLst>
          </p:cNvPr>
          <p:cNvSpPr txBox="1"/>
          <p:nvPr/>
        </p:nvSpPr>
        <p:spPr>
          <a:xfrm>
            <a:off x="302581" y="399790"/>
            <a:ext cx="1443024" cy="253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Problem Statement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C6004BC-AEB7-C584-F005-B41E9C59D656}"/>
              </a:ext>
            </a:extLst>
          </p:cNvPr>
          <p:cNvGrpSpPr/>
          <p:nvPr/>
        </p:nvGrpSpPr>
        <p:grpSpPr>
          <a:xfrm>
            <a:off x="453081" y="6313681"/>
            <a:ext cx="11292632" cy="371690"/>
            <a:chOff x="453081" y="6134065"/>
            <a:chExt cx="11292632" cy="37169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C737583-98E7-9EE6-160B-2B6B28AE3E0F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1" y="6320677"/>
              <a:ext cx="965073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그림 24" descr="그래픽, 다채로움, 원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AD28B6F2-D935-F13E-2E96-07E74B0B3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70063" y="6134065"/>
              <a:ext cx="375650" cy="37169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6B31AC-A44F-0F81-C73B-2224DA6EC08A}"/>
                </a:ext>
              </a:extLst>
            </p:cNvPr>
            <p:cNvSpPr txBox="1"/>
            <p:nvPr/>
          </p:nvSpPr>
          <p:spPr>
            <a:xfrm>
              <a:off x="9993087" y="6189105"/>
              <a:ext cx="148448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50" dirty="0" err="1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CouSolve</a:t>
              </a:r>
              <a:r>
                <a:rPr lang="en-US" altLang="ko-KR" sz="105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Learning</a:t>
              </a:r>
              <a:endParaRPr lang="ko-KR" altLang="en-US" sz="105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17ADE6-07AA-6F27-4AF6-AE00C9C79BC2}"/>
              </a:ext>
            </a:extLst>
          </p:cNvPr>
          <p:cNvSpPr/>
          <p:nvPr/>
        </p:nvSpPr>
        <p:spPr>
          <a:xfrm>
            <a:off x="2201921" y="3901059"/>
            <a:ext cx="7804484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0D4B45"/>
                </a:solidFill>
                <a:latin typeface="에스코어 드림 5 Medium"/>
                <a:ea typeface="에스코어 드림 5 Medium"/>
                <a:cs typeface="에스코어 드림 5 Medium"/>
              </a:rPr>
              <a:t>SafeAlert — 사각지대를 사람의 주의력에 맡기지 않는다</a:t>
            </a:r>
            <a:endParaRPr lang="ko-KR" altLang="en-US"/>
          </a:p>
          <a:p>
            <a:pPr algn="ctr"/>
            <a:r>
              <a:rPr sz="110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지급된 단말끼리 BLE 로 서로를 감지해, I-PAS 가 덮지 못하는 접근 조합을 메운다</a:t>
            </a:r>
          </a:p>
        </p:txBody>
      </p:sp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A69C25F9-BAA8-5EDC-4B69-7E32E6F4C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360788"/>
              </p:ext>
            </p:extLst>
          </p:nvPr>
        </p:nvGraphicFramePr>
        <p:xfrm>
          <a:off x="4114691" y="5773556"/>
          <a:ext cx="3985768" cy="3910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783">
                  <a:extLst>
                    <a:ext uri="{9D8B030D-6E8A-4147-A177-3AD203B41FA5}">
                      <a16:colId xmlns:a16="http://schemas.microsoft.com/office/drawing/2014/main" val="2217033518"/>
                    </a:ext>
                  </a:extLst>
                </a:gridCol>
                <a:gridCol w="1236101">
                  <a:extLst>
                    <a:ext uri="{9D8B030D-6E8A-4147-A177-3AD203B41FA5}">
                      <a16:colId xmlns:a16="http://schemas.microsoft.com/office/drawing/2014/main" val="102610430"/>
                    </a:ext>
                  </a:extLst>
                </a:gridCol>
                <a:gridCol w="756783">
                  <a:extLst>
                    <a:ext uri="{9D8B030D-6E8A-4147-A177-3AD203B41FA5}">
                      <a16:colId xmlns:a16="http://schemas.microsoft.com/office/drawing/2014/main" val="2988030705"/>
                    </a:ext>
                  </a:extLst>
                </a:gridCol>
                <a:gridCol w="1236101">
                  <a:extLst>
                    <a:ext uri="{9D8B030D-6E8A-4147-A177-3AD203B41FA5}">
                      <a16:colId xmlns:a16="http://schemas.microsoft.com/office/drawing/2014/main" val="2542730785"/>
                    </a:ext>
                  </a:extLst>
                </a:gridCol>
              </a:tblGrid>
              <a:tr h="3910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소속</a:t>
                      </a:r>
                    </a:p>
                  </a:txBody>
                  <a:tcPr marL="53769" marR="53769" marT="26884" marB="26884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105C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WF11  Waterflex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성명</a:t>
                      </a:r>
                    </a:p>
                  </a:txBody>
                  <a:tcPr marL="53769" marR="53769" marT="26884" marB="26884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임효성 (Ian)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50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772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EBFF5B2B-DC70-1283-713F-002C6908BA97}"/>
              </a:ext>
            </a:extLst>
          </p:cNvPr>
          <p:cNvSpPr/>
          <p:nvPr/>
        </p:nvSpPr>
        <p:spPr>
          <a:xfrm>
            <a:off x="249534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6F037C0-7E46-FFD8-D0B3-1142FE97BFAF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E2ED94-C4F0-4C38-C141-B6A04D22897E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8CA869-89AF-AC55-07F6-5C7501D6D408}"/>
              </a:ext>
            </a:extLst>
          </p:cNvPr>
          <p:cNvSpPr txBox="1"/>
          <p:nvPr/>
        </p:nvSpPr>
        <p:spPr>
          <a:xfrm>
            <a:off x="288957" y="335925"/>
            <a:ext cx="147027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Problem Statement</a:t>
            </a:r>
            <a:endParaRPr lang="ko-KR" altLang="en-US" sz="1050" dirty="0">
              <a:solidFill>
                <a:schemeClr val="bg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80AD-94F9-80AF-8712-372F4E91851C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6A74-E9A3-6957-6F20-028957ED0A34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49EC9-E346-3467-B584-CFF9B1A90D55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27D7E-4C3F-3AC3-31F0-F7B0622DBCBE}"/>
              </a:ext>
            </a:extLst>
          </p:cNvPr>
          <p:cNvSpPr txBox="1"/>
          <p:nvPr/>
        </p:nvSpPr>
        <p:spPr>
          <a:xfrm>
            <a:off x="491369" y="1291416"/>
            <a:ext cx="2117503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1-1. Problem Situation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CF8C32-922F-0FB2-3509-A161177F264F}"/>
              </a:ext>
            </a:extLst>
          </p:cNvPr>
          <p:cNvSpPr/>
          <p:nvPr/>
        </p:nvSpPr>
        <p:spPr>
          <a:xfrm>
            <a:off x="6987970" y="1812474"/>
            <a:ext cx="4635319" cy="471215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EBB093-4E42-F7E4-D754-866E4A0A86E4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84858E-424E-AF0C-0877-D1F91B665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324324"/>
              </p:ext>
            </p:extLst>
          </p:nvPr>
        </p:nvGraphicFramePr>
        <p:xfrm>
          <a:off x="587376" y="1812474"/>
          <a:ext cx="6322257" cy="47032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1505">
                  <a:extLst>
                    <a:ext uri="{9D8B030D-6E8A-4147-A177-3AD203B41FA5}">
                      <a16:colId xmlns:a16="http://schemas.microsoft.com/office/drawing/2014/main" val="2643875064"/>
                    </a:ext>
                  </a:extLst>
                </a:gridCol>
                <a:gridCol w="5300752">
                  <a:extLst>
                    <a:ext uri="{9D8B030D-6E8A-4147-A177-3AD203B41FA5}">
                      <a16:colId xmlns:a16="http://schemas.microsoft.com/office/drawing/2014/main" val="1751002211"/>
                    </a:ext>
                  </a:extLst>
                </a:gridCol>
              </a:tblGrid>
              <a:tr h="7838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문제 배경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적재 파렛트가 작업자의 시야를 가리고, 장비 소음에 경적이 묻힌다. 존과 로케이션 사이 교차 구간에서 PIT 와 보행자가 서로를 보지 못한 채 접근한다.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984719"/>
                  </a:ext>
                </a:extLst>
              </a:tr>
              <a:tr h="7838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표준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접근을 사전에 감지해 사람에게 알린다. 현행 I-PAS 는 3m 안에서 장비를 자동 셧다운한다 (EOD).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030840"/>
                  </a:ext>
                </a:extLst>
              </a:tr>
              <a:tr h="7838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현재 상황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I-PAS 태그를 단 장비 · 인원만 덮인다. 보행자끼리 · EPJ · 미장착 장비 구간에는 감지도 알림도 없어, 위험 상황을 확인할 방법 자체가 없다.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237092"/>
                  </a:ext>
                </a:extLst>
              </a:tr>
              <a:tr h="7838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차이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덮이는 것은 태그를 산 만큼이다. 태그 없는 조합은 주의력에만 맡겨져 있고, 대상이 늘 때마다 태그를 그만큼 더 사야 한다.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864313"/>
                  </a:ext>
                </a:extLst>
              </a:tr>
              <a:tr h="7838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정도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같은 범위를 하드웨어로 덮으면 센터 1곳 </a:t>
                      </a:r>
                      <a:r>
                        <a:rPr sz="950" b="1" i="0">
                          <a:solidFill>
                            <a:srgbClr val="C0392B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3,310,000원</a:t>
                      </a: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 · 17개 센터 </a:t>
                      </a:r>
                      <a:r>
                        <a:rPr sz="950" b="1" i="0">
                          <a:solidFill>
                            <a:srgbClr val="C0392B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56,270,000원</a:t>
                      </a: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 (PIT 4대 · 상시 3명 기준).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C0392B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사고 건수 · 셧다운 발생 건수는 데이터가 없다 — 감지 수단이 없어 집계된 적이 없다.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913545"/>
                  </a:ext>
                </a:extLst>
              </a:tr>
              <a:tr h="78388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근거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WF11 현장 확인 (VC OB 제외) · 단가는 사용자 제공 2026.08 기준 · 판정 반경은 DevSettings.kt 실측 설정값.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59864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315F8C3-3350-9E23-EF78-4715382D502A}"/>
              </a:ext>
            </a:extLst>
          </p:cNvPr>
          <p:cNvSpPr txBox="1"/>
          <p:nvPr/>
        </p:nvSpPr>
        <p:spPr>
          <a:xfrm>
            <a:off x="7013859" y="1870093"/>
            <a:ext cx="12388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GAP Graph</a:t>
            </a:r>
            <a:endParaRPr lang="ko-KR" altLang="en-US" sz="1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27" name="Picture 26" descr="fig_ais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212848"/>
            <a:ext cx="4297680" cy="26860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59752" y="4953762"/>
            <a:ext cx="429768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/>
            <a:r>
              <a:rPr sz="850" b="0" i="0">
                <a:solidFill>
                  <a:srgbClr val="808A90"/>
                </a:solidFill>
                <a:latin typeface="에스코어 드림 4 Regular"/>
                <a:ea typeface="에스코어 드림 4 Regular"/>
                <a:cs typeface="에스코어 드림 4 Regular"/>
              </a:rPr>
              <a:t>존과 로케이션 사이 통로 — 교차 구간에서 서로 보이지 않는다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159752" y="5175504"/>
          <a:ext cx="4297680" cy="119786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68880"/>
                <a:gridCol w="914400"/>
                <a:gridCol w="91440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접근 조합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I-PAS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SafeAlert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PIT ↔ 보행자 (태그 착용)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C0392B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○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D4B4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○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보행자 ↔ 보행자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C0392B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✕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D4B4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○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EPJ ↔ 보행자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C0392B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✕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D4B4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○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미장착 장비 ↔ 보행자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C0392B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✕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D4B4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○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0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EBFF5B2B-DC70-1283-713F-002C6908BA97}"/>
              </a:ext>
            </a:extLst>
          </p:cNvPr>
          <p:cNvSpPr/>
          <p:nvPr/>
        </p:nvSpPr>
        <p:spPr>
          <a:xfrm>
            <a:off x="249534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6F037C0-7E46-FFD8-D0B3-1142FE97BFAF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E2ED94-C4F0-4C38-C141-B6A04D22897E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8CA869-89AF-AC55-07F6-5C7501D6D408}"/>
              </a:ext>
            </a:extLst>
          </p:cNvPr>
          <p:cNvSpPr txBox="1"/>
          <p:nvPr/>
        </p:nvSpPr>
        <p:spPr>
          <a:xfrm>
            <a:off x="288957" y="335925"/>
            <a:ext cx="147027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Problem Statement</a:t>
            </a:r>
            <a:endParaRPr lang="ko-KR" altLang="en-US" sz="1050" dirty="0">
              <a:solidFill>
                <a:schemeClr val="bg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80AD-94F9-80AF-8712-372F4E91851C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6A74-E9A3-6957-6F20-028957ED0A34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49EC9-E346-3467-B584-CFF9B1A90D55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27D7E-4C3F-3AC3-31F0-F7B0622DBCBE}"/>
              </a:ext>
            </a:extLst>
          </p:cNvPr>
          <p:cNvSpPr txBox="1"/>
          <p:nvPr/>
        </p:nvSpPr>
        <p:spPr>
          <a:xfrm>
            <a:off x="491369" y="1291416"/>
            <a:ext cx="1138132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1-2. Target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EBB093-4E42-F7E4-D754-866E4A0A86E4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84858E-424E-AF0C-0877-D1F91B665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615378"/>
              </p:ext>
            </p:extLst>
          </p:nvPr>
        </p:nvGraphicFramePr>
        <p:xfrm>
          <a:off x="587376" y="1812473"/>
          <a:ext cx="11038257" cy="47096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1505">
                  <a:extLst>
                    <a:ext uri="{9D8B030D-6E8A-4147-A177-3AD203B41FA5}">
                      <a16:colId xmlns:a16="http://schemas.microsoft.com/office/drawing/2014/main" val="2643875064"/>
                    </a:ext>
                  </a:extLst>
                </a:gridCol>
                <a:gridCol w="10016752">
                  <a:extLst>
                    <a:ext uri="{9D8B030D-6E8A-4147-A177-3AD203B41FA5}">
                      <a16:colId xmlns:a16="http://schemas.microsoft.com/office/drawing/2014/main" val="1751002211"/>
                    </a:ext>
                  </a:extLst>
                </a:gridCol>
              </a:tblGrid>
              <a:tr h="11774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무엇을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30000"/>
                        </a:lnSpc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I-PAS 가 덮지 못하는 접근 조합에서, PIT · EPJ · 보행자가 서로에게 다가오는 것을 사전에 감지해 경보한다.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950" b="0" i="0">
                          <a:solidFill>
                            <a:srgbClr val="444F5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장비를 세우는 일은 하지 않는다 — 3m 자동 셧다운은 I-PAS EOD 가 그대로 맡는다.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984719"/>
                  </a:ext>
                </a:extLst>
              </a:tr>
              <a:tr h="11774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어떻게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30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이미 지급된 단말에 앱을 설치해 BLE 로 서로를 감지한다. 앵커 · 배선 · 서버가 없다.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950" b="0" i="0">
                          <a:solidFill>
                            <a:srgbClr val="444F5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판정 반경 — 지게차가 낀 조합 경고 15m / 위험 8m,  그 밖의 조합 경고 5m / 위험 3m. 소리 · 진동 · 화면 3중 경보.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184878"/>
                  </a:ext>
                </a:extLst>
              </a:tr>
              <a:tr h="11774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얼마나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30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추가 하드웨어 </a:t>
                      </a:r>
                      <a:r>
                        <a:rPr sz="950" b="1" i="0">
                          <a:solidFill>
                            <a:srgbClr val="C0392B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0원</a:t>
                      </a: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으로 센터 1곳 3,310,000원 범위를 덮는다. 17개 센터 확산 시 56,270,000원 규모.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950" b="0" i="0">
                          <a:solidFill>
                            <a:srgbClr val="444F5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절감액이 아니라 같은 범위를 하드웨어로 살 때의 환산액이다. 앱은 그 구매를 만들지 않는다.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030840"/>
                  </a:ext>
                </a:extLst>
              </a:tr>
              <a:tr h="11774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언제까지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30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1 (테스트 하네스 · CI 회귀 게이트) 완료. Phase 2 (골든 테스트 + PDA 이식) 착수 결정이 필요한 시점이다.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950" b="0" i="0">
                          <a:solidFill>
                            <a:srgbClr val="444F5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3~5 는 순차. 결정이 늦어도 v1.1.70 이 현장에서 계속 돈다 — 보호가 멈추지는 않는다.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237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57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EBFF5B2B-DC70-1283-713F-002C6908BA97}"/>
              </a:ext>
            </a:extLst>
          </p:cNvPr>
          <p:cNvSpPr/>
          <p:nvPr/>
        </p:nvSpPr>
        <p:spPr>
          <a:xfrm>
            <a:off x="249534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6F037C0-7E46-FFD8-D0B3-1142FE97BFAF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E2ED94-C4F0-4C38-C141-B6A04D22897E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8CA869-89AF-AC55-07F6-5C7501D6D408}"/>
              </a:ext>
            </a:extLst>
          </p:cNvPr>
          <p:cNvSpPr txBox="1"/>
          <p:nvPr/>
        </p:nvSpPr>
        <p:spPr>
          <a:xfrm>
            <a:off x="288957" y="335925"/>
            <a:ext cx="147027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Problem Statement</a:t>
            </a:r>
            <a:endParaRPr lang="ko-KR" altLang="en-US" sz="1050" dirty="0">
              <a:solidFill>
                <a:schemeClr val="bg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80AD-94F9-80AF-8712-372F4E91851C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6A74-E9A3-6957-6F20-028957ED0A34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27D7E-4C3F-3AC3-31F0-F7B0622DBCBE}"/>
              </a:ext>
            </a:extLst>
          </p:cNvPr>
          <p:cNvSpPr txBox="1"/>
          <p:nvPr/>
        </p:nvSpPr>
        <p:spPr>
          <a:xfrm>
            <a:off x="491369" y="1291416"/>
            <a:ext cx="2129814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1-3. Fishbone Diagram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7353B4-F8EA-A6ED-B096-91A0BF4046BA}"/>
              </a:ext>
            </a:extLst>
          </p:cNvPr>
          <p:cNvSpPr/>
          <p:nvPr/>
        </p:nvSpPr>
        <p:spPr>
          <a:xfrm>
            <a:off x="585039" y="1810027"/>
            <a:ext cx="11040224" cy="471459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D6F4EA-4BAB-5501-B607-2D2EDB434E61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9962E3-55CF-9552-F7C9-405D63129507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CF1C7CC-DEE4-5C2A-D3A1-2FB1CFB6793B}"/>
              </a:ext>
            </a:extLst>
          </p:cNvPr>
          <p:cNvGrpSpPr/>
          <p:nvPr/>
        </p:nvGrpSpPr>
        <p:grpSpPr>
          <a:xfrm>
            <a:off x="766478" y="2020129"/>
            <a:ext cx="10467020" cy="4350078"/>
            <a:chOff x="515105" y="1601154"/>
            <a:chExt cx="11025248" cy="4478660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CC7B9F5-4F17-6887-7CD1-3D0BB2F87A15}"/>
                </a:ext>
              </a:extLst>
            </p:cNvPr>
            <p:cNvSpPr/>
            <p:nvPr/>
          </p:nvSpPr>
          <p:spPr>
            <a:xfrm>
              <a:off x="1324579" y="3694598"/>
              <a:ext cx="7629728" cy="300147"/>
            </a:xfrm>
            <a:prstGeom prst="rect">
              <a:avLst/>
            </a:prstGeom>
            <a:solidFill>
              <a:srgbClr val="6969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27" name="Picture 2" descr="피쉬본 차트의 활용 방법">
              <a:extLst>
                <a:ext uri="{FF2B5EF4-FFF2-40B4-BE49-F238E27FC236}">
                  <a16:creationId xmlns:a16="http://schemas.microsoft.com/office/drawing/2014/main" id="{B0C2E08F-171B-CB26-3B9B-DBD83FE17D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2170"/>
            <a:stretch/>
          </p:blipFill>
          <p:spPr bwMode="auto">
            <a:xfrm>
              <a:off x="515105" y="1601155"/>
              <a:ext cx="1060841" cy="43033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C6E5B62-8B2E-705B-4795-8181B0DF1144}"/>
                </a:ext>
              </a:extLst>
            </p:cNvPr>
            <p:cNvGrpSpPr/>
            <p:nvPr/>
          </p:nvGrpSpPr>
          <p:grpSpPr>
            <a:xfrm>
              <a:off x="7872717" y="1601154"/>
              <a:ext cx="1408387" cy="4303393"/>
              <a:chOff x="7705161" y="1601153"/>
              <a:chExt cx="1985858" cy="4303388"/>
            </a:xfrm>
          </p:grpSpPr>
          <p:pic>
            <p:nvPicPr>
              <p:cNvPr id="51" name="Picture 2" descr="피쉬본 차트의 활용 방법">
                <a:extLst>
                  <a:ext uri="{FF2B5EF4-FFF2-40B4-BE49-F238E27FC236}">
                    <a16:creationId xmlns:a16="http://schemas.microsoft.com/office/drawing/2014/main" id="{4806E711-1BA2-F665-8F64-C47577CF1C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00"/>
              <a:stretch/>
            </p:blipFill>
            <p:spPr bwMode="auto">
              <a:xfrm>
                <a:off x="7705161" y="1601153"/>
                <a:ext cx="1985858" cy="43033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75E0671-EB7A-C290-8D45-5BD08C1C532B}"/>
                  </a:ext>
                </a:extLst>
              </p:cNvPr>
              <p:cNvSpPr txBox="1"/>
              <p:nvPr/>
            </p:nvSpPr>
            <p:spPr>
              <a:xfrm>
                <a:off x="7843885" y="3902651"/>
                <a:ext cx="1296792" cy="367448"/>
              </a:xfrm>
              <a:prstGeom prst="rect">
                <a:avLst/>
              </a:prstGeom>
              <a:solidFill>
                <a:srgbClr val="696969"/>
              </a:solidFill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defRPr/>
                </a:pPr>
                <a:r>
                  <a:rPr lang="en-US" altLang="ko-KR" sz="1600" dirty="0">
                    <a:solidFill>
                      <a:schemeClr val="bg1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Effect</a:t>
                </a:r>
                <a:endParaRPr lang="ko-KR" altLang="en-US" sz="1600" dirty="0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3BABB78-64F4-3210-4F1E-8D0D02D35D99}"/>
                </a:ext>
              </a:extLst>
            </p:cNvPr>
            <p:cNvSpPr/>
            <p:nvPr/>
          </p:nvSpPr>
          <p:spPr>
            <a:xfrm>
              <a:off x="2818514" y="1715236"/>
              <a:ext cx="1111238" cy="4166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Method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A6CCF053-CDE9-3837-D96F-F569B92BC060}"/>
                </a:ext>
              </a:extLst>
            </p:cNvPr>
            <p:cNvSpPr/>
            <p:nvPr/>
          </p:nvSpPr>
          <p:spPr>
            <a:xfrm rot="20452771">
              <a:off x="4126924" y="1980763"/>
              <a:ext cx="170478" cy="1870638"/>
            </a:xfrm>
            <a:prstGeom prst="triangle">
              <a:avLst/>
            </a:prstGeom>
            <a:solidFill>
              <a:srgbClr val="6969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4E84F76F-BD41-CDD7-B43E-E778F93749CF}"/>
                </a:ext>
              </a:extLst>
            </p:cNvPr>
            <p:cNvSpPr/>
            <p:nvPr/>
          </p:nvSpPr>
          <p:spPr>
            <a:xfrm rot="20452771">
              <a:off x="7233917" y="2047912"/>
              <a:ext cx="170478" cy="1870638"/>
            </a:xfrm>
            <a:prstGeom prst="triangle">
              <a:avLst/>
            </a:prstGeom>
            <a:solidFill>
              <a:srgbClr val="6969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F8D5F994-65DC-2217-7D5C-514B624C2762}"/>
                </a:ext>
              </a:extLst>
            </p:cNvPr>
            <p:cNvSpPr/>
            <p:nvPr/>
          </p:nvSpPr>
          <p:spPr>
            <a:xfrm rot="1147229" flipV="1">
              <a:off x="4113167" y="3837943"/>
              <a:ext cx="170478" cy="1870638"/>
            </a:xfrm>
            <a:prstGeom prst="triangle">
              <a:avLst/>
            </a:prstGeom>
            <a:solidFill>
              <a:srgbClr val="6969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3" name="이등변 삼각형 32">
              <a:extLst>
                <a:ext uri="{FF2B5EF4-FFF2-40B4-BE49-F238E27FC236}">
                  <a16:creationId xmlns:a16="http://schemas.microsoft.com/office/drawing/2014/main" id="{D770F546-BE03-36D3-EC39-EEBBC4A0CA28}"/>
                </a:ext>
              </a:extLst>
            </p:cNvPr>
            <p:cNvSpPr/>
            <p:nvPr/>
          </p:nvSpPr>
          <p:spPr>
            <a:xfrm rot="1147229" flipV="1">
              <a:off x="7220160" y="3905092"/>
              <a:ext cx="170478" cy="1870638"/>
            </a:xfrm>
            <a:prstGeom prst="triangle">
              <a:avLst/>
            </a:prstGeom>
            <a:solidFill>
              <a:srgbClr val="6969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040DC60-74D6-259A-2FA1-DD550726AB21}"/>
                </a:ext>
              </a:extLst>
            </p:cNvPr>
            <p:cNvSpPr/>
            <p:nvPr/>
          </p:nvSpPr>
          <p:spPr>
            <a:xfrm>
              <a:off x="5953626" y="1715236"/>
              <a:ext cx="1111238" cy="4166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Man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2660106-6A29-CC70-1861-DEE641E23BAF}"/>
                </a:ext>
              </a:extLst>
            </p:cNvPr>
            <p:cNvSpPr/>
            <p:nvPr/>
          </p:nvSpPr>
          <p:spPr>
            <a:xfrm>
              <a:off x="2635619" y="5611207"/>
              <a:ext cx="1290257" cy="4166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Machine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C5BD541-772F-F74C-C495-2223D347DD49}"/>
                </a:ext>
              </a:extLst>
            </p:cNvPr>
            <p:cNvSpPr/>
            <p:nvPr/>
          </p:nvSpPr>
          <p:spPr>
            <a:xfrm>
              <a:off x="5952464" y="5663125"/>
              <a:ext cx="1111238" cy="4166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Material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FDEE541A-BD7B-8DCF-0BCD-EB3E8892BEDB}"/>
                </a:ext>
              </a:extLst>
            </p:cNvPr>
            <p:cNvCxnSpPr>
              <a:cxnSpLocks/>
            </p:cNvCxnSpPr>
            <p:nvPr/>
          </p:nvCxnSpPr>
          <p:spPr>
            <a:xfrm>
              <a:off x="1659735" y="2470858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5C023CBC-0EED-ED69-F7AC-93111B1E22EA}"/>
                </a:ext>
              </a:extLst>
            </p:cNvPr>
            <p:cNvCxnSpPr>
              <a:cxnSpLocks/>
            </p:cNvCxnSpPr>
            <p:nvPr/>
          </p:nvCxnSpPr>
          <p:spPr>
            <a:xfrm>
              <a:off x="1659735" y="2892200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52DD96A-5F4C-CC7B-4181-0AC7B51DC41E}"/>
                </a:ext>
              </a:extLst>
            </p:cNvPr>
            <p:cNvCxnSpPr>
              <a:cxnSpLocks/>
            </p:cNvCxnSpPr>
            <p:nvPr/>
          </p:nvCxnSpPr>
          <p:spPr>
            <a:xfrm>
              <a:off x="1659735" y="3313540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6DE3D9C5-58CC-6115-7AB9-C17E43ED889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808" y="2469249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0E1A2A06-0F33-7918-8A38-152E002E3B90}"/>
                </a:ext>
              </a:extLst>
            </p:cNvPr>
            <p:cNvCxnSpPr>
              <a:cxnSpLocks/>
            </p:cNvCxnSpPr>
            <p:nvPr/>
          </p:nvCxnSpPr>
          <p:spPr>
            <a:xfrm>
              <a:off x="4762808" y="2890591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DC1FD12A-2854-9F45-76F8-BFA00F3EF287}"/>
                </a:ext>
              </a:extLst>
            </p:cNvPr>
            <p:cNvCxnSpPr>
              <a:cxnSpLocks/>
            </p:cNvCxnSpPr>
            <p:nvPr/>
          </p:nvCxnSpPr>
          <p:spPr>
            <a:xfrm>
              <a:off x="4762808" y="3311931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7C1AE431-96B2-7760-2070-54CA8465C072}"/>
                </a:ext>
              </a:extLst>
            </p:cNvPr>
            <p:cNvCxnSpPr>
              <a:cxnSpLocks/>
            </p:cNvCxnSpPr>
            <p:nvPr/>
          </p:nvCxnSpPr>
          <p:spPr>
            <a:xfrm>
              <a:off x="1659735" y="4398271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036EC7A6-46AD-29ED-0A7D-32D05BE9107D}"/>
                </a:ext>
              </a:extLst>
            </p:cNvPr>
            <p:cNvCxnSpPr>
              <a:cxnSpLocks/>
            </p:cNvCxnSpPr>
            <p:nvPr/>
          </p:nvCxnSpPr>
          <p:spPr>
            <a:xfrm>
              <a:off x="1659735" y="4819612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0B0C7870-725A-1CCC-9520-63A086E68DFF}"/>
                </a:ext>
              </a:extLst>
            </p:cNvPr>
            <p:cNvCxnSpPr>
              <a:cxnSpLocks/>
            </p:cNvCxnSpPr>
            <p:nvPr/>
          </p:nvCxnSpPr>
          <p:spPr>
            <a:xfrm>
              <a:off x="1659735" y="5240953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0015FA1C-F773-193B-5D32-9E726788AF8B}"/>
                </a:ext>
              </a:extLst>
            </p:cNvPr>
            <p:cNvCxnSpPr>
              <a:cxnSpLocks/>
            </p:cNvCxnSpPr>
            <p:nvPr/>
          </p:nvCxnSpPr>
          <p:spPr>
            <a:xfrm>
              <a:off x="4762808" y="4396662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BB9E1E4D-70D3-A3D8-CD54-121D5A58A50D}"/>
                </a:ext>
              </a:extLst>
            </p:cNvPr>
            <p:cNvCxnSpPr>
              <a:cxnSpLocks/>
            </p:cNvCxnSpPr>
            <p:nvPr/>
          </p:nvCxnSpPr>
          <p:spPr>
            <a:xfrm>
              <a:off x="4762808" y="4818003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FDF1AC6-C718-9A60-14F2-31D13AA6FD0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808" y="5239344"/>
              <a:ext cx="207993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2330C43-EF9D-02D0-86D8-B9A356429EAB}"/>
                </a:ext>
              </a:extLst>
            </p:cNvPr>
            <p:cNvSpPr/>
            <p:nvPr/>
          </p:nvSpPr>
          <p:spPr>
            <a:xfrm>
              <a:off x="9269880" y="3014079"/>
              <a:ext cx="2270473" cy="1759182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3C20131-45AD-7636-2F71-78FC6B3BAED1}"/>
                </a:ext>
              </a:extLst>
            </p:cNvPr>
            <p:cNvSpPr/>
            <p:nvPr/>
          </p:nvSpPr>
          <p:spPr>
            <a:xfrm>
              <a:off x="9849497" y="2597389"/>
              <a:ext cx="1111238" cy="4166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Effect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1893972" y="2648060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육안 · 경적에만 의존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3972" y="3056608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위험 상황 기록 체계 없음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93972" y="3465156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안전 설비가 장비 단위로만 설계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36844" y="2648060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적재 파렛트에 시야 가림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36844" y="3056608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장비 소음에 경적이 묻힘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36844" y="3465156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단독 작업 구간 상호 확인 불가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93972" y="4522051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I-PAS 는 태그 대상만 감지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93972" y="4930599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EOD 는 3m 에서만 개입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93972" y="5339147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EPJ · 미장착 장비는 대상 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36844" y="4522051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태그 1세트 855,000원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36844" y="4930599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보행자 태그 = 상시 인원분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36844" y="5339147"/>
            <a:ext cx="1915731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비콘 · 거치대 설치가 별도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71460" y="3651865"/>
            <a:ext cx="1969617" cy="11887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/>
            <a:r>
              <a:rPr sz="1050" b="1" i="0">
                <a:solidFill>
                  <a:srgbClr val="0D4B45"/>
                </a:solidFill>
                <a:latin typeface="에스코어 드림 5 Medium"/>
                <a:ea typeface="에스코어 드림 5 Medium"/>
                <a:cs typeface="에스코어 드림 5 Medium"/>
              </a:rPr>
              <a:t>사각지대에서 서로를 보지 못한 채 접근한다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71460" y="4310233"/>
            <a:ext cx="1969617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105C4D"/>
                </a:solidFill>
                <a:latin typeface="에스코어 드림 4 Regular"/>
                <a:ea typeface="에스코어 드림 4 Regular"/>
                <a:cs typeface="에스코어 드림 4 Regular"/>
              </a:rPr>
              <a:t>Machine · Material 이 같은 뿌리를 가리킨다 — 감지 주체가 별도 하드웨어에 묶여 있다</a:t>
            </a:r>
          </a:p>
        </p:txBody>
      </p:sp>
    </p:spTree>
    <p:extLst>
      <p:ext uri="{BB962C8B-B14F-4D97-AF65-F5344CB8AC3E}">
        <p14:creationId xmlns:p14="http://schemas.microsoft.com/office/powerpoint/2010/main" val="277320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EBFF5B2B-DC70-1283-713F-002C6908BA97}"/>
              </a:ext>
            </a:extLst>
          </p:cNvPr>
          <p:cNvSpPr/>
          <p:nvPr/>
        </p:nvSpPr>
        <p:spPr>
          <a:xfrm>
            <a:off x="249534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6F037C0-7E46-FFD8-D0B3-1142FE97BFAF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E2ED94-C4F0-4C38-C141-B6A04D22897E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8CA869-89AF-AC55-07F6-5C7501D6D408}"/>
              </a:ext>
            </a:extLst>
          </p:cNvPr>
          <p:cNvSpPr txBox="1"/>
          <p:nvPr/>
        </p:nvSpPr>
        <p:spPr>
          <a:xfrm>
            <a:off x="288957" y="335925"/>
            <a:ext cx="147027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Problem Statement</a:t>
            </a:r>
            <a:endParaRPr lang="ko-KR" altLang="en-US" sz="1050" dirty="0">
              <a:solidFill>
                <a:schemeClr val="bg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80AD-94F9-80AF-8712-372F4E91851C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6A74-E9A3-6957-6F20-028957ED0A34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27D7E-4C3F-3AC3-31F0-F7B0622DBCBE}"/>
              </a:ext>
            </a:extLst>
          </p:cNvPr>
          <p:cNvSpPr txBox="1"/>
          <p:nvPr/>
        </p:nvSpPr>
        <p:spPr>
          <a:xfrm>
            <a:off x="491369" y="1291416"/>
            <a:ext cx="1888466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1-4. Cause Analysis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D6F4EA-4BAB-5501-B607-2D2EDB434E61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9962E3-55CF-9552-F7C9-405D63129507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A88A46-5AE4-9E2C-9B37-B21E31B48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84858"/>
              </p:ext>
            </p:extLst>
          </p:nvPr>
        </p:nvGraphicFramePr>
        <p:xfrm>
          <a:off x="587375" y="1808163"/>
          <a:ext cx="11037963" cy="471391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12483">
                  <a:extLst>
                    <a:ext uri="{9D8B030D-6E8A-4147-A177-3AD203B41FA5}">
                      <a16:colId xmlns:a16="http://schemas.microsoft.com/office/drawing/2014/main" val="4215153578"/>
                    </a:ext>
                  </a:extLst>
                </a:gridCol>
                <a:gridCol w="2762740">
                  <a:extLst>
                    <a:ext uri="{9D8B030D-6E8A-4147-A177-3AD203B41FA5}">
                      <a16:colId xmlns:a16="http://schemas.microsoft.com/office/drawing/2014/main" val="1945938900"/>
                    </a:ext>
                  </a:extLst>
                </a:gridCol>
                <a:gridCol w="2762740">
                  <a:extLst>
                    <a:ext uri="{9D8B030D-6E8A-4147-A177-3AD203B41FA5}">
                      <a16:colId xmlns:a16="http://schemas.microsoft.com/office/drawing/2014/main" val="3124007060"/>
                    </a:ext>
                  </a:extLst>
                </a:gridCol>
              </a:tblGrid>
              <a:tr h="595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Potential Causes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How checked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Result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56425"/>
                  </a:ext>
                </a:extLst>
              </a:tr>
              <a:tr h="577397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적재 파렛트가 시야를 가린다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WF11 통로 현장 확인</a:t>
                      </a:r>
                      <a:endParaRPr 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확인됨 — 교차 구간 상호 시야 불가</a:t>
                      </a:r>
                      <a:endParaRPr lang="en-US" sz="800" u="none" strike="noStrike" kern="120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2233975"/>
                  </a:ext>
                </a:extLst>
              </a:tr>
              <a:tr h="577397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장비 소음으로 경적 인지가 늦다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현장 청취 · 작업자 진술</a:t>
                      </a:r>
                      <a:endParaRPr 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확인됨</a:t>
                      </a:r>
                      <a:endParaRPr 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18057"/>
                  </a:ext>
                </a:extLst>
              </a:tr>
              <a:tr h="581909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I-PAS 는 태그 장착 대상만 덮는다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I-PAS 구성 확인 (차량 태그 · EOD · 보행자 태그)</a:t>
                      </a:r>
                      <a:endParaRPr 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확인됨 — 보행자끼리 · EPJ 는 대상 밖</a:t>
                      </a:r>
                      <a:endParaRPr 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566179"/>
                  </a:ext>
                </a:extLst>
              </a:tr>
              <a:tr h="595442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대상이 늘면 태그를 그만큼 더 산다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단가 확인 (1세트 855,000원, 2026.08)</a:t>
                      </a:r>
                      <a:endParaRPr lang="ko-KR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확인됨 — 확산이 곧 구매</a:t>
                      </a:r>
                      <a:endParaRPr lang="ko-KR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556353"/>
                  </a:ext>
                </a:extLst>
              </a:tr>
              <a:tr h="595442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위험 상황이 집계되지 않는다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안전 시스템 유무 확인</a:t>
                      </a:r>
                      <a:endParaRPr lang="ko-KR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확인됨 — </a:t>
                      </a:r>
                      <a:r>
                        <a:rPr sz="950" b="0" i="0">
                          <a:solidFill>
                            <a:srgbClr val="C0392B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사고 · 셧다운 건수 데이터 없음</a:t>
                      </a:r>
                      <a:endParaRPr lang="ko-KR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263456"/>
                  </a:ext>
                </a:extLst>
              </a:tr>
              <a:tr h="595442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경보가 잦으면 작업자가 꺼버린다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리더십 리뷰 2차 피드백</a:t>
                      </a:r>
                      <a:endParaRPr lang="ko-KR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fontAlgn="ctr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확인됨 → 자동 음소거 · 세이프존으로 대응</a:t>
                      </a:r>
                      <a:endParaRPr lang="ko-KR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320362"/>
                  </a:ext>
                </a:extLst>
              </a:tr>
              <a:tr h="595442">
                <a:tc gridSpan="3"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확인 방법은 현장 확인 · 단가 대조 · 배포 이력 세 가지뿐이다. </a:t>
                      </a:r>
                      <a:r>
                        <a:rPr sz="900" b="0" i="0">
                          <a:solidFill>
                            <a:srgbClr val="C0392B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계측 데이터로 검증한 항목은 없다 — 감지 수단이 없어 측정된 적이 없기 때문이다.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877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179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EBFF5B2B-DC70-1283-713F-002C6908BA97}"/>
              </a:ext>
            </a:extLst>
          </p:cNvPr>
          <p:cNvSpPr/>
          <p:nvPr/>
        </p:nvSpPr>
        <p:spPr>
          <a:xfrm>
            <a:off x="249534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6F037C0-7E46-FFD8-D0B3-1142FE97BFAF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E2ED94-C4F0-4C38-C141-B6A04D22897E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8CA869-89AF-AC55-07F6-5C7501D6D408}"/>
              </a:ext>
            </a:extLst>
          </p:cNvPr>
          <p:cNvSpPr txBox="1"/>
          <p:nvPr/>
        </p:nvSpPr>
        <p:spPr>
          <a:xfrm>
            <a:off x="288957" y="335925"/>
            <a:ext cx="147027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Problem Statement</a:t>
            </a:r>
            <a:endParaRPr lang="ko-KR" altLang="en-US" sz="1050" dirty="0">
              <a:solidFill>
                <a:schemeClr val="bg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80AD-94F9-80AF-8712-372F4E91851C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6A74-E9A3-6957-6F20-028957ED0A34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27D7E-4C3F-3AC3-31F0-F7B0622DBCBE}"/>
              </a:ext>
            </a:extLst>
          </p:cNvPr>
          <p:cNvSpPr txBox="1"/>
          <p:nvPr/>
        </p:nvSpPr>
        <p:spPr>
          <a:xfrm>
            <a:off x="491369" y="1291416"/>
            <a:ext cx="1099275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1-5. 5Why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D6F4EA-4BAB-5501-B607-2D2EDB434E61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9962E3-55CF-9552-F7C9-405D63129507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343FE33-C96D-A390-517A-02846603D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284162"/>
              </p:ext>
            </p:extLst>
          </p:nvPr>
        </p:nvGraphicFramePr>
        <p:xfrm>
          <a:off x="587376" y="1812473"/>
          <a:ext cx="11038257" cy="47121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1505">
                  <a:extLst>
                    <a:ext uri="{9D8B030D-6E8A-4147-A177-3AD203B41FA5}">
                      <a16:colId xmlns:a16="http://schemas.microsoft.com/office/drawing/2014/main" val="2643875064"/>
                    </a:ext>
                  </a:extLst>
                </a:gridCol>
                <a:gridCol w="10016752">
                  <a:extLst>
                    <a:ext uri="{9D8B030D-6E8A-4147-A177-3AD203B41FA5}">
                      <a16:colId xmlns:a16="http://schemas.microsoft.com/office/drawing/2014/main" val="1751002211"/>
                    </a:ext>
                  </a:extLst>
                </a:gridCol>
              </a:tblGrid>
              <a:tr h="392679">
                <a:tc gridSpan="2">
                  <a:txBody>
                    <a:bodyPr wrap="square"/>
                    <a:lstStyle/>
                    <a:p>
                      <a:pPr lvl="0" algn="l">
                        <a:buNone/>
                      </a:pPr>
                      <a:r>
                        <a:rPr sz="1000" b="0" i="0">
                          <a:solidFill>
                            <a:srgbClr val="444F5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* Most likely causes :   </a:t>
                      </a:r>
                      <a:r>
                        <a:rPr sz="1000" b="1" i="0">
                          <a:solidFill>
                            <a:srgbClr val="000000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접근을 사전에 인지할 수단이 태그를 장착한 대상에만 있다</a:t>
                      </a:r>
                      <a:endParaRPr lang="ko-KR" dirty="0"/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375525"/>
                  </a:ext>
                </a:extLst>
              </a:tr>
              <a:tr h="39267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1Why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1000" b="1" i="0">
                          <a:solidFill>
                            <a:srgbClr val="105C4D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왜 사각지대에서 위험한가?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984719"/>
                  </a:ext>
                </a:extLst>
              </a:tr>
              <a:tr h="39267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어떻게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950" b="0" i="0">
                          <a:solidFill>
                            <a:srgbClr val="808A9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→   </a:t>
                      </a: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서로를 보지 못한 채 접근하기 때문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184878"/>
                  </a:ext>
                </a:extLst>
              </a:tr>
              <a:tr h="39267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2Why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1000" b="1" i="0">
                          <a:solidFill>
                            <a:srgbClr val="105C4D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왜 보지 못하나?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030840"/>
                  </a:ext>
                </a:extLst>
              </a:tr>
              <a:tr h="39267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언제까지</a:t>
                      </a: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950" b="0" i="0">
                          <a:solidFill>
                            <a:srgbClr val="808A9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→   </a:t>
                      </a: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적재 파렛트가 시야를 가리고, 장비 소음에 경적이 묻힌다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237092"/>
                  </a:ext>
                </a:extLst>
              </a:tr>
              <a:tr h="39267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3Why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1000" b="1" i="0">
                          <a:solidFill>
                            <a:srgbClr val="105C4D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왜 보완 수단이 없나?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953987"/>
                  </a:ext>
                </a:extLst>
              </a:tr>
              <a:tr h="392679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950" b="0" i="0">
                          <a:solidFill>
                            <a:srgbClr val="808A9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→   </a:t>
                      </a: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I-PAS 는 태그를 단 장비 · 인원만 감지한다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653012"/>
                  </a:ext>
                </a:extLst>
              </a:tr>
              <a:tr h="39267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4Why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1000" b="1" i="0">
                          <a:solidFill>
                            <a:srgbClr val="105C4D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왜 전부 태그를 달지 못하나?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388459"/>
                  </a:ext>
                </a:extLst>
              </a:tr>
              <a:tr h="392679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950" b="0" i="0">
                          <a:solidFill>
                            <a:srgbClr val="808A9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→   </a:t>
                      </a: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사람 · 장비가 늘 때마다 1세트 855,000원을 더 사야 한다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596259"/>
                  </a:ext>
                </a:extLst>
              </a:tr>
              <a:tr h="39267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5Why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1000" b="1" i="0">
                          <a:solidFill>
                            <a:srgbClr val="105C4D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왜 그 방식뿐인가?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519904"/>
                  </a:ext>
                </a:extLst>
              </a:tr>
              <a:tr h="392679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950" b="0" i="0">
                          <a:solidFill>
                            <a:srgbClr val="808A9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→   </a:t>
                      </a: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감지 주체를 하드웨어에 두었다. 이미 지급된 단말이 감지 주체가 될 수 있다는 전제를 쓰지 않았다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681435"/>
                  </a:ext>
                </a:extLst>
              </a:tr>
              <a:tr h="392679">
                <a:tc gridSpan="2">
                  <a:txBody>
                    <a:bodyPr wrap="square"/>
                    <a:lstStyle/>
                    <a:p>
                      <a:pPr lvl="0" algn="l">
                        <a:buNone/>
                      </a:pPr>
                      <a:r>
                        <a:rPr sz="1000" b="0" i="0">
                          <a:solidFill>
                            <a:srgbClr val="444F5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* Root Cause :   </a:t>
                      </a:r>
                      <a:r>
                        <a:rPr sz="1000" b="1" i="0">
                          <a:solidFill>
                            <a:srgbClr val="C0392B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감지 수단이 별도 하드웨어에 묶여 있다</a:t>
                      </a:r>
                      <a:r>
                        <a:rPr sz="1000" b="1" i="0">
                          <a:solidFill>
                            <a:srgbClr val="000000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  —  산 만큼만 덮이고, 태그 없는 조합은 영구히 빈다.</a:t>
                      </a:r>
                      <a:endParaRPr lang="ko-KR" dirty="0"/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6069" marR="6069" marT="6069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466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42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A8607007-A528-9C9A-BDEC-3C27AE40F999}"/>
              </a:ext>
            </a:extLst>
          </p:cNvPr>
          <p:cNvSpPr/>
          <p:nvPr/>
        </p:nvSpPr>
        <p:spPr>
          <a:xfrm>
            <a:off x="1798655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90167-5B80-9693-5F1B-52B24A2FA1F3}"/>
              </a:ext>
            </a:extLst>
          </p:cNvPr>
          <p:cNvSpPr txBox="1"/>
          <p:nvPr/>
        </p:nvSpPr>
        <p:spPr>
          <a:xfrm>
            <a:off x="2145066" y="334404"/>
            <a:ext cx="849913" cy="2616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en-US" altLang="ko-KR" sz="1050" dirty="0"/>
              <a:t>Tradeoffs</a:t>
            </a:r>
            <a:endParaRPr lang="ko-KR" altLang="en-US" sz="1050" dirty="0"/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EB417427-4220-9AFF-301E-2AFD8CEE8213}"/>
              </a:ext>
            </a:extLst>
          </p:cNvPr>
          <p:cNvSpPr/>
          <p:nvPr/>
        </p:nvSpPr>
        <p:spPr>
          <a:xfrm>
            <a:off x="249534" y="303338"/>
            <a:ext cx="1549121" cy="795075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FD5C4-9D26-824C-14CE-FEC34C57E8AF}"/>
              </a:ext>
            </a:extLst>
          </p:cNvPr>
          <p:cNvSpPr txBox="1"/>
          <p:nvPr/>
        </p:nvSpPr>
        <p:spPr>
          <a:xfrm>
            <a:off x="302581" y="399790"/>
            <a:ext cx="1443024" cy="253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Problem Statement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EAACBE3C-AE0D-DE73-9F61-FEA7173C0421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0DB9D-3D72-8DEA-CA76-94AB1BB04248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9A793-FE8A-6C5A-ECAF-6ACD1573E526}"/>
              </a:ext>
            </a:extLst>
          </p:cNvPr>
          <p:cNvSpPr txBox="1"/>
          <p:nvPr/>
        </p:nvSpPr>
        <p:spPr>
          <a:xfrm>
            <a:off x="491369" y="1291416"/>
            <a:ext cx="1214563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Tradeoffs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61E607-52FB-72E7-BCAF-ADBE3B61CE71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A4BFB4-ABDA-8E5A-354A-2B77585269C0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FEA310-2060-5DAD-A334-ECE1AC9A3065}"/>
              </a:ext>
            </a:extLst>
          </p:cNvPr>
          <p:cNvSpPr/>
          <p:nvPr/>
        </p:nvSpPr>
        <p:spPr>
          <a:xfrm>
            <a:off x="585039" y="1810027"/>
            <a:ext cx="11040224" cy="471459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CFED55D-58C8-885A-41FD-4C7EA48165FA}"/>
              </a:ext>
            </a:extLst>
          </p:cNvPr>
          <p:cNvSpPr/>
          <p:nvPr/>
        </p:nvSpPr>
        <p:spPr>
          <a:xfrm>
            <a:off x="719983" y="2028912"/>
            <a:ext cx="1214953" cy="347312"/>
          </a:xfrm>
          <a:prstGeom prst="roundRect">
            <a:avLst/>
          </a:prstGeom>
          <a:solidFill>
            <a:srgbClr val="105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긴장 관계 요소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2BEBAD-FA55-7957-395E-389F114A6D9F}"/>
              </a:ext>
            </a:extLst>
          </p:cNvPr>
          <p:cNvSpPr/>
          <p:nvPr/>
        </p:nvSpPr>
        <p:spPr>
          <a:xfrm>
            <a:off x="719982" y="3789389"/>
            <a:ext cx="1214953" cy="347312"/>
          </a:xfrm>
          <a:prstGeom prst="roundRect">
            <a:avLst/>
          </a:prstGeom>
          <a:solidFill>
            <a:srgbClr val="105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상쇄 방안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066543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넓게 울리면 꺼버린다</a:t>
            </a:r>
            <a:r>
              <a:rPr sz="9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—  민감도를 올릴수록 경보 피로가 커지고, 꺼 둔 단말은 보호가 0 이 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354579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촘촘히 스캔하면 1교대를 못 버틴다</a:t>
            </a:r>
            <a:r>
              <a:rPr sz="9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—  감지 주기와 배터리 · 발열이 정면으로 맞선다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2642615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빨리 고치면 되돌아온다</a:t>
            </a:r>
            <a:r>
              <a:rPr sz="9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—  3개월 70회 배포로 즉시 대응했지만, 고친 증상이 다시 관측됐다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2930651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앱은 장비를 세우지 못한다</a:t>
            </a:r>
            <a:r>
              <a:rPr sz="9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—  경보까지가 한계다. 3m 물리 정지는 대체 불가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218687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개인 폰에 임시 설치돼 있다</a:t>
            </a:r>
            <a:r>
              <a:rPr sz="9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—  지금 도는 것과 지속 가능한 것이 다르다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822191"/>
            <a:ext cx="9244584" cy="37947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자동 음소거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같은 기기 · 같은 등급에 5초 이상 머물면 소리 · 진동을 끈다. 표시 · 기록은 유지하고, 등급이 오르면 즉시 재발령 (v1.1.61)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201668"/>
            <a:ext cx="9244584" cy="37947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세이프존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휴게실 · 충전 구역에 비콘을 두면 그 안에서는 경보를 억제한다. 존 안의 기기는 상대에게도 안전으로 보인다 (v1.1.62)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581144"/>
            <a:ext cx="9244584" cy="37947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이탈 재발령 억제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멀어진 뒤 경고 범위에서 다시 울리지 않게 했다 (v1.1.51)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4960620"/>
            <a:ext cx="9244584" cy="37947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CI 회귀 게이트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고친 증상을 테스트로 고정한다. 골든 테스트가 실패하면 릴리스가 자동 차단된다 (Phase 1 완료)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340096"/>
            <a:ext cx="9244584" cy="37947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계층 분리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I-PAS 를 걷어내지 않는다. 3m 자동 셧다운은 그대로 두고 그 앞단(15m · 8m)만 앱이 맡는다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719572"/>
            <a:ext cx="9244584" cy="37947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PDA 이식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Phase 2 에서 업무 단말로 옮긴다. 개인 폰 의존과 배터리 부담이 함께 없어진다</a:t>
            </a:r>
          </a:p>
        </p:txBody>
      </p:sp>
    </p:spTree>
    <p:extLst>
      <p:ext uri="{BB962C8B-B14F-4D97-AF65-F5344CB8AC3E}">
        <p14:creationId xmlns:p14="http://schemas.microsoft.com/office/powerpoint/2010/main" val="3745206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4AEE26A8-20CA-8522-A34F-2023D173E9EA}"/>
              </a:ext>
            </a:extLst>
          </p:cNvPr>
          <p:cNvSpPr/>
          <p:nvPr/>
        </p:nvSpPr>
        <p:spPr>
          <a:xfrm>
            <a:off x="3347776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36CA0-AFFE-7A8A-A327-38B5AC685D23}"/>
              </a:ext>
            </a:extLst>
          </p:cNvPr>
          <p:cNvSpPr txBox="1"/>
          <p:nvPr/>
        </p:nvSpPr>
        <p:spPr>
          <a:xfrm>
            <a:off x="3654384" y="334404"/>
            <a:ext cx="926857" cy="253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en-US" altLang="ko-KR" sz="1050" dirty="0"/>
              <a:t>Benchmark</a:t>
            </a:r>
            <a:endParaRPr lang="ko-KR" altLang="en-US" sz="1050" dirty="0"/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EB417427-4220-9AFF-301E-2AFD8CEE8213}"/>
              </a:ext>
            </a:extLst>
          </p:cNvPr>
          <p:cNvSpPr/>
          <p:nvPr/>
        </p:nvSpPr>
        <p:spPr>
          <a:xfrm>
            <a:off x="249534" y="303338"/>
            <a:ext cx="1549121" cy="795075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FD5C4-9D26-824C-14CE-FEC34C57E8AF}"/>
              </a:ext>
            </a:extLst>
          </p:cNvPr>
          <p:cNvSpPr txBox="1"/>
          <p:nvPr/>
        </p:nvSpPr>
        <p:spPr>
          <a:xfrm>
            <a:off x="302581" y="399790"/>
            <a:ext cx="1443024" cy="253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Problem Statement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BB053AA4-DB8B-0F2D-0F09-A3DF7187EC10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2C6F7F-222B-DE48-013C-84D4A1FD6FFF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9A793-FE8A-6C5A-ECAF-6ACD1573E526}"/>
              </a:ext>
            </a:extLst>
          </p:cNvPr>
          <p:cNvSpPr txBox="1"/>
          <p:nvPr/>
        </p:nvSpPr>
        <p:spPr>
          <a:xfrm>
            <a:off x="491369" y="1291416"/>
            <a:ext cx="1372492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Benchmark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61E607-52FB-72E7-BCAF-ADBE3B61CE71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A4BFB4-ABDA-8E5A-354A-2B77585269C0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6910A1-F55F-2B72-D140-C5CFDFD7A8D1}"/>
              </a:ext>
            </a:extLst>
          </p:cNvPr>
          <p:cNvSpPr/>
          <p:nvPr/>
        </p:nvSpPr>
        <p:spPr>
          <a:xfrm>
            <a:off x="585039" y="1810027"/>
            <a:ext cx="11040224" cy="471459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06FDF7B-0BBD-012F-A9F4-A1DCCD6D8C06}"/>
              </a:ext>
            </a:extLst>
          </p:cNvPr>
          <p:cNvSpPr/>
          <p:nvPr/>
        </p:nvSpPr>
        <p:spPr>
          <a:xfrm>
            <a:off x="719983" y="2028912"/>
            <a:ext cx="1214953" cy="347312"/>
          </a:xfrm>
          <a:prstGeom prst="roundRect">
            <a:avLst/>
          </a:prstGeom>
          <a:solidFill>
            <a:srgbClr val="105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비교 대상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CA5DFA-9002-B7F5-1175-DFD64BAC1067}"/>
              </a:ext>
            </a:extLst>
          </p:cNvPr>
          <p:cNvSpPr/>
          <p:nvPr/>
        </p:nvSpPr>
        <p:spPr>
          <a:xfrm>
            <a:off x="719982" y="3789389"/>
            <a:ext cx="1214953" cy="347312"/>
          </a:xfrm>
          <a:prstGeom prst="roundRect">
            <a:avLst/>
          </a:prstGeom>
          <a:solidFill>
            <a:srgbClr val="105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비교 사례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084831"/>
            <a:ext cx="946404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현행 장비 </a:t>
            </a:r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I-PAS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—  차량 태그 525,000원 · EOD (3m 자동 셧다운) 220,000원 · 보행자 태그 110,000원. 일반 WF 센터는 PIT 4대 · 상시 3명 기준으로 센터 1곳 3,310,000원.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057400" y="2395728"/>
          <a:ext cx="9464040" cy="144475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34440"/>
                <a:gridCol w="4114800"/>
                <a:gridCol w="41148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구분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I-PAS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SafeAlert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동작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3m 내 감지 시 자동 셧다운 — 최후 개입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15m 경고 · 8m 위험 경보. 장비 정지는 못 한다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덮는 대상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태그를 단 장비와 사람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앱을 넣은 모든 단말 (보행자끼리 · EPJ 포함)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대상 확대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사람 · 장비가 늘면 태그를 그만큼 더 산다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앱 설치만 — 추가 구매 없음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유지보수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하드웨어 고장 · 배터리 교체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앱 업데이트 (자동 배포)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057400" y="3913632"/>
            <a:ext cx="946404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같은 대상을 두 방식으로 덮었을 때</a:t>
            </a:r>
            <a:r>
              <a:rPr sz="950" b="0" i="0">
                <a:solidFill>
                  <a:srgbClr val="808A90"/>
                </a:solidFill>
                <a:latin typeface="에스코어 드림 4 Regular"/>
                <a:ea typeface="에스코어 드림 4 Regular"/>
                <a:cs typeface="에스코어 드림 4 Regular"/>
              </a:rPr>
              <a:t>   —   아래 막대는 도입 센터 수별 하드웨어 환산 누계 (만원)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224528"/>
            <a:ext cx="9372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하드웨어 — 센터 1곳 </a:t>
            </a:r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3,310,000원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(차량 태그 210만 + EOD 88만 + 보행자 태그 33만)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480560"/>
            <a:ext cx="9372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앱 — 추가 구매 </a:t>
            </a:r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0원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. 대상이 늘어도 금액이 늘지 않는다. 단말이 늘수록 감지쌍은 배로 (3대 3쌍 → 10대 45쌍)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736592"/>
            <a:ext cx="9372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  <a:latin typeface="에스코어 드림 4 Regular"/>
                <a:ea typeface="에스코어 드림 4 Regular"/>
                <a:cs typeface="에스코어 드림 4 Regular"/>
              </a:rPr>
              <a:t>·  다만 EOD 의 3m 자동 셧다운은 대체하지 못한다. 금액 비교는 감지 · 경보 범위에 한한다.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992624"/>
            <a:ext cx="937260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·  세이프존 비콘과 iOS 인원 보완 태그(11만원/개)는 대상 확정 전이라 산입하지 않았다.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2926080" y="5266944"/>
          <a:ext cx="7680960" cy="12252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62774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C754FD97-F398-7853-A4CF-C56BD1C21F50}"/>
              </a:ext>
            </a:extLst>
          </p:cNvPr>
          <p:cNvSpPr/>
          <p:nvPr/>
        </p:nvSpPr>
        <p:spPr>
          <a:xfrm>
            <a:off x="4896897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D34471-6A8B-7FE4-162B-2C29D8FEB789}"/>
              </a:ext>
            </a:extLst>
          </p:cNvPr>
          <p:cNvSpPr txBox="1"/>
          <p:nvPr/>
        </p:nvSpPr>
        <p:spPr>
          <a:xfrm>
            <a:off x="5299401" y="335924"/>
            <a:ext cx="744113" cy="2616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en-US" altLang="ko-KR" sz="1050" dirty="0"/>
              <a:t>Solution</a:t>
            </a:r>
            <a:endParaRPr lang="ko-KR" altLang="en-US" sz="1050" dirty="0"/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0BE743D4-20B4-E9D4-4CF5-DF96CA7A21A2}"/>
              </a:ext>
            </a:extLst>
          </p:cNvPr>
          <p:cNvSpPr/>
          <p:nvPr/>
        </p:nvSpPr>
        <p:spPr>
          <a:xfrm>
            <a:off x="249534" y="303338"/>
            <a:ext cx="1549121" cy="795075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F76F3E-BE3D-5EC4-42EA-0823BD158C2B}"/>
              </a:ext>
            </a:extLst>
          </p:cNvPr>
          <p:cNvSpPr txBox="1"/>
          <p:nvPr/>
        </p:nvSpPr>
        <p:spPr>
          <a:xfrm>
            <a:off x="302581" y="399790"/>
            <a:ext cx="1443024" cy="253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Problem Statement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6F037C0-7E46-FFD8-D0B3-1142FE97BFAF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E2ED94-C4F0-4C38-C141-B6A04D22897E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80AD-94F9-80AF-8712-372F4E91851C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6A74-E9A3-6957-6F20-028957ED0A34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27D7E-4C3F-3AC3-31F0-F7B0622DBCBE}"/>
              </a:ext>
            </a:extLst>
          </p:cNvPr>
          <p:cNvSpPr txBox="1"/>
          <p:nvPr/>
        </p:nvSpPr>
        <p:spPr>
          <a:xfrm>
            <a:off x="491369" y="1291416"/>
            <a:ext cx="1095172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Solution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157F4C-3EF9-732E-3797-503FFC0425BC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1117FB-2A2F-AC65-1C28-63804152DDCA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9E925DE-58CE-BE99-2395-45EF4B77D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608917"/>
              </p:ext>
            </p:extLst>
          </p:nvPr>
        </p:nvGraphicFramePr>
        <p:xfrm>
          <a:off x="5241469" y="1808648"/>
          <a:ext cx="6383792" cy="4715982"/>
        </p:xfrm>
        <a:graphic>
          <a:graphicData uri="http://schemas.openxmlformats.org/drawingml/2006/table">
            <a:tbl>
              <a:tblPr/>
              <a:tblGrid>
                <a:gridCol w="3512774">
                  <a:extLst>
                    <a:ext uri="{9D8B030D-6E8A-4147-A177-3AD203B41FA5}">
                      <a16:colId xmlns:a16="http://schemas.microsoft.com/office/drawing/2014/main" val="2252307753"/>
                    </a:ext>
                  </a:extLst>
                </a:gridCol>
                <a:gridCol w="957006">
                  <a:extLst>
                    <a:ext uri="{9D8B030D-6E8A-4147-A177-3AD203B41FA5}">
                      <a16:colId xmlns:a16="http://schemas.microsoft.com/office/drawing/2014/main" val="27723600"/>
                    </a:ext>
                  </a:extLst>
                </a:gridCol>
                <a:gridCol w="957006">
                  <a:extLst>
                    <a:ext uri="{9D8B030D-6E8A-4147-A177-3AD203B41FA5}">
                      <a16:colId xmlns:a16="http://schemas.microsoft.com/office/drawing/2014/main" val="3791432738"/>
                    </a:ext>
                  </a:extLst>
                </a:gridCol>
                <a:gridCol w="957006">
                  <a:extLst>
                    <a:ext uri="{9D8B030D-6E8A-4147-A177-3AD203B41FA5}">
                      <a16:colId xmlns:a16="http://schemas.microsoft.com/office/drawing/2014/main" val="204628516"/>
                    </a:ext>
                  </a:extLst>
                </a:gridCol>
              </a:tblGrid>
              <a:tr h="366692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 * Implementation Plan</a:t>
                      </a:r>
                      <a:endParaRPr lang="en-US" altLang="ko-KR" sz="1200" dirty="0"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545238"/>
                  </a:ext>
                </a:extLst>
              </a:tr>
              <a:tr h="395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What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Who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When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Status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189584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1  테스트 하네스 · CI 회귀 게이트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개발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완료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0D4B45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완료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801422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2  안전 경로 골든 테스트 + PDA 이식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개발 · 현장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리소스 배정 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444F55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예정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275645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3  BleService 분해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개발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2 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444F55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예정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886245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4  기기 상태 단일화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개발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3 후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444F55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예정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717012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5  판정 워커 분리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개발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4 후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444F55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예정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345523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정식 과제 등록 · 유지보수 주체 지정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리더십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결정 필요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C0392B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요청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6257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현장 검증 슬롯 (단계당 확인 1건)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현장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단계별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C0392B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요청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454525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보안 검토 — 난독화 미적용 · 이력 평문 저장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보안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확산 전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C0392B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요청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139239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서베이 회수 · 집계 (WF11 · WF21 · WF25)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현장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진행 중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105C4D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진행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071733"/>
                  </a:ext>
                </a:extLst>
              </a:tr>
              <a:tr h="395390">
                <a:tc>
                  <a:txBody>
                    <a:bodyPr wrap="square"/>
                    <a:lstStyle/>
                    <a:p>
                      <a:pPr algn="l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17개 센터 확산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54864" marR="54864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리더십 · 현장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Phase 2 완료 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ctr"/>
                      <a:r>
                        <a:rPr sz="900" b="1" i="0">
                          <a:solidFill>
                            <a:srgbClr val="808A90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미정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27432" marR="27432" marT="18288" anchor="ctr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902424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FEFD3F7-CB31-AD1E-B82A-751E25B49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835460"/>
              </p:ext>
            </p:extLst>
          </p:nvPr>
        </p:nvGraphicFramePr>
        <p:xfrm>
          <a:off x="595126" y="1814049"/>
          <a:ext cx="4486160" cy="4705644"/>
        </p:xfrm>
        <a:graphic>
          <a:graphicData uri="http://schemas.openxmlformats.org/drawingml/2006/table">
            <a:tbl>
              <a:tblPr/>
              <a:tblGrid>
                <a:gridCol w="4486160">
                  <a:extLst>
                    <a:ext uri="{9D8B030D-6E8A-4147-A177-3AD203B41FA5}">
                      <a16:colId xmlns:a16="http://schemas.microsoft.com/office/drawing/2014/main" val="2138710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Short term Countermeasure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194884"/>
                  </a:ext>
                </a:extLst>
              </a:tr>
              <a:tr h="1044000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지급 단말에 SafeAlert 를 설치해 BLE 로 상호 감지한다.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444F5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지게차가 낀 조합 경고 15m / 위험 8m, 그 밖의 조합 5m / 3m. 소리 · 진동 · 화면 3중 경보. v1.1.70 이 WF11 · WF21 · WF25 에서 운영 중.</a:t>
                      </a:r>
                    </a:p>
                  </a:txBody>
                  <a:tcPr marL="64008" marR="64008" marT="18288" anchor="t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8498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Why Recommend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333986"/>
                  </a:ext>
                </a:extLst>
              </a:tr>
              <a:tr h="588822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추가 하드웨어 없이 I-PAS 가 비워 둔 조합을 지금 덮는다. 대상이 늘어도 구매가 없다.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anchor="t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8667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Long term Countermeasure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322423"/>
                  </a:ext>
                </a:extLst>
              </a:tr>
              <a:tr h="1044000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5000"/>
                        </a:lnSpc>
                      </a:pPr>
                      <a:r>
                        <a:rPr sz="950" b="1" i="0">
                          <a:solidFill>
                            <a:srgbClr val="000000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신뢰성 로드맵 Phase 1~5 + Phase 2 PDA 이식.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50" b="0" i="0">
                          <a:solidFill>
                            <a:srgbClr val="444F55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새 기능을 붙이는 작업이 아니다. 판정이 흔들리는 구조적 원인을 걷어내고, 개인 폰 임시 설치를 업무 단말로 옮긴다.</a:t>
                      </a:r>
                    </a:p>
                  </a:txBody>
                  <a:tcPr marL="64008" marR="64008" marT="18288" anchor="t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7162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Why Recommend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57933"/>
                  </a:ext>
                </a:extLst>
              </a:tr>
              <a:tr h="588822">
                <a:tc>
                  <a:txBody>
                    <a:bodyPr wrap="square"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판정 재현성이 확보돼야 확산할 수 있다. PDA 로 옮기면 개인 폰 의존과 배터리 부담이 함께 없어진다.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64008" marR="64008" marT="18288" anchor="t" marB="18288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711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2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5CF6DEDE-0E4B-EA74-6BD1-C4A6267C14C2}"/>
              </a:ext>
            </a:extLst>
          </p:cNvPr>
          <p:cNvSpPr/>
          <p:nvPr/>
        </p:nvSpPr>
        <p:spPr>
          <a:xfrm>
            <a:off x="6446018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59DA6-1A5A-75BB-DA64-9931D7129D8B}"/>
              </a:ext>
            </a:extLst>
          </p:cNvPr>
          <p:cNvSpPr txBox="1"/>
          <p:nvPr/>
        </p:nvSpPr>
        <p:spPr>
          <a:xfrm>
            <a:off x="6839159" y="334404"/>
            <a:ext cx="753797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en-US" altLang="ko-KR" dirty="0"/>
              <a:t>Metrics</a:t>
            </a:r>
            <a:endParaRPr lang="ko-KR" altLang="en-US" dirty="0"/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7DCCDC34-C05A-6ECF-B3AB-570084F25851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6E57A765-E087-C00B-F27D-952971C8F02A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B799C4-4BA7-3561-7E9E-318A1CD2BCB0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AC5F1-3BED-01B1-40D5-587386A3567D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EB417427-4220-9AFF-301E-2AFD8CEE8213}"/>
              </a:ext>
            </a:extLst>
          </p:cNvPr>
          <p:cNvSpPr/>
          <p:nvPr/>
        </p:nvSpPr>
        <p:spPr>
          <a:xfrm>
            <a:off x="249534" y="303338"/>
            <a:ext cx="1549121" cy="795075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FD5C4-9D26-824C-14CE-FEC34C57E8AF}"/>
              </a:ext>
            </a:extLst>
          </p:cNvPr>
          <p:cNvSpPr txBox="1"/>
          <p:nvPr/>
        </p:nvSpPr>
        <p:spPr>
          <a:xfrm>
            <a:off x="302581" y="399790"/>
            <a:ext cx="1443024" cy="253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Problem Statement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AEA08862-0E9A-A0DF-7E4A-11AF8365A7A1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4C2A9C-2488-5D7E-494B-E2921DD63C34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9A793-FE8A-6C5A-ECAF-6ACD1573E526}"/>
              </a:ext>
            </a:extLst>
          </p:cNvPr>
          <p:cNvSpPr txBox="1"/>
          <p:nvPr/>
        </p:nvSpPr>
        <p:spPr>
          <a:xfrm>
            <a:off x="491369" y="1291416"/>
            <a:ext cx="1050096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5. Metrics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82E662-79A5-EE3C-56D2-9E2FA542290C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0DE490-BC0D-C543-B32E-1DA0DFF08B55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EB23C1-DD01-D12D-D185-4EC27D0C9BB7}"/>
              </a:ext>
            </a:extLst>
          </p:cNvPr>
          <p:cNvSpPr/>
          <p:nvPr/>
        </p:nvSpPr>
        <p:spPr>
          <a:xfrm>
            <a:off x="585039" y="1810027"/>
            <a:ext cx="11040224" cy="471459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7C15AB3-5C48-0F05-EEDB-703F6CCA37EB}"/>
              </a:ext>
            </a:extLst>
          </p:cNvPr>
          <p:cNvSpPr/>
          <p:nvPr/>
        </p:nvSpPr>
        <p:spPr>
          <a:xfrm>
            <a:off x="719983" y="2028912"/>
            <a:ext cx="1214953" cy="347312"/>
          </a:xfrm>
          <a:prstGeom prst="roundRect">
            <a:avLst/>
          </a:prstGeom>
          <a:solidFill>
            <a:srgbClr val="105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성공 지표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178766D-CAE6-288B-60EF-0DDFB756F8CA}"/>
              </a:ext>
            </a:extLst>
          </p:cNvPr>
          <p:cNvSpPr/>
          <p:nvPr/>
        </p:nvSpPr>
        <p:spPr>
          <a:xfrm>
            <a:off x="719982" y="3789389"/>
            <a:ext cx="1214953" cy="347312"/>
          </a:xfrm>
          <a:prstGeom prst="roundRect">
            <a:avLst/>
          </a:prstGeom>
          <a:solidFill>
            <a:srgbClr val="105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지표 확보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066543"/>
            <a:ext cx="9244584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미발령 0건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 경고 · 위험 범위에 들어왔는데 경보가 뜨지 않은 사례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2340863"/>
            <a:ext cx="9244584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오발령 0건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 정지 중 반복 경보 · 이탈 후 재발령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2615183"/>
            <a:ext cx="9244584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감지 중단 0건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 상시 알림이 ‘이상’ 으로 바뀌거나 서비스가 사라짐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889503"/>
            <a:ext cx="9244584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회귀 재발 0건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 이전에 고친 증상이 다시 관측됨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163823"/>
            <a:ext cx="9244584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1교대 연속 구동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 배터리 · 발열이 작업 시간을 버티는가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3438143"/>
            <a:ext cx="9244584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서베이 종합 만족도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   10점 척도, WF11 · WF21 · WF25 (회수 전)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3822191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경보 이력 — Firebase 에 등급 · 거리 · 시각이 기록된다. 미발령 · 오발령은 이 기록과 현장 진술을 맞춰 판정한다.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110228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현장 서베이 — 10점 척도(10 매우 만족 ~ 1 매우 미흡). 센터별 응답자 수와 테스트 기간을 함께 적어야 표본 크기를 판단할 수 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4398264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실기 검증 — 단계당 확인 항목 1건. 전 단말 배포 전 1대에서 먼저 확인한다.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4686300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CI 골든 테스트 — 안전 크리티컬 경로가 실패하면 릴리스가 자동 차단된다 (Phase 1 에서 동작 중).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4974336"/>
            <a:ext cx="9244584" cy="28803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지표는 앱 동작 기준으로만 정의했다. </a:t>
            </a:r>
            <a:r>
              <a:rPr sz="950" b="0" i="0">
                <a:solidFill>
                  <a:srgbClr val="C0392B"/>
                </a:solidFill>
                <a:latin typeface="에스코어 드림 4 Regular"/>
                <a:ea typeface="에스코어 드림 4 Regular"/>
                <a:cs typeface="에스코어 드림 4 Regular"/>
              </a:rPr>
              <a:t>사고 건수 · 셧다운 건수는 데이터가 없어 지표로 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5506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8E745F46-6563-7158-A4AD-E647D396E424}"/>
              </a:ext>
            </a:extLst>
          </p:cNvPr>
          <p:cNvSpPr/>
          <p:nvPr/>
        </p:nvSpPr>
        <p:spPr>
          <a:xfrm>
            <a:off x="7995139" y="179617"/>
            <a:ext cx="1549121" cy="917541"/>
          </a:xfrm>
          <a:prstGeom prst="round2Same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C18327-F921-5A53-3476-FC498EAA84C3}"/>
              </a:ext>
            </a:extLst>
          </p:cNvPr>
          <p:cNvSpPr txBox="1"/>
          <p:nvPr/>
        </p:nvSpPr>
        <p:spPr>
          <a:xfrm>
            <a:off x="8444646" y="334404"/>
            <a:ext cx="659155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defRPr>
            </a:lvl1pPr>
          </a:lstStyle>
          <a:p>
            <a:r>
              <a:rPr lang="en-US" altLang="ko-KR" dirty="0"/>
              <a:t>Andon</a:t>
            </a:r>
            <a:endParaRPr lang="ko-KR" altLang="en-US" dirty="0"/>
          </a:p>
        </p:txBody>
      </p:sp>
      <p:sp>
        <p:nvSpPr>
          <p:cNvPr id="16" name="사각형: 둥근 위쪽 모서리 15">
            <a:extLst>
              <a:ext uri="{FF2B5EF4-FFF2-40B4-BE49-F238E27FC236}">
                <a16:creationId xmlns:a16="http://schemas.microsoft.com/office/drawing/2014/main" id="{7DCCDC34-C05A-6ECF-B3AB-570084F25851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6E57A765-E087-C00B-F27D-952971C8F02A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B799C4-4BA7-3561-7E9E-318A1CD2BCB0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AC5F1-3BED-01B1-40D5-587386A3567D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931900C9-1AA4-CC83-4610-56F4973BCBD3}"/>
              </a:ext>
            </a:extLst>
          </p:cNvPr>
          <p:cNvSpPr/>
          <p:nvPr/>
        </p:nvSpPr>
        <p:spPr>
          <a:xfrm>
            <a:off x="9544260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6587E2-14D9-FAA8-1DEF-834AE83F13F5}"/>
              </a:ext>
            </a:extLst>
          </p:cNvPr>
          <p:cNvSpPr txBox="1"/>
          <p:nvPr/>
        </p:nvSpPr>
        <p:spPr>
          <a:xfrm>
            <a:off x="9745303" y="398533"/>
            <a:ext cx="1156086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Feedback Loop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EB417427-4220-9AFF-301E-2AFD8CEE8213}"/>
              </a:ext>
            </a:extLst>
          </p:cNvPr>
          <p:cNvSpPr/>
          <p:nvPr/>
        </p:nvSpPr>
        <p:spPr>
          <a:xfrm>
            <a:off x="249534" y="303338"/>
            <a:ext cx="1549121" cy="795075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FD5C4-9D26-824C-14CE-FEC34C57E8AF}"/>
              </a:ext>
            </a:extLst>
          </p:cNvPr>
          <p:cNvSpPr txBox="1"/>
          <p:nvPr/>
        </p:nvSpPr>
        <p:spPr>
          <a:xfrm>
            <a:off x="302581" y="399790"/>
            <a:ext cx="1443024" cy="253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Problem Statement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3BEA48F3-6F0C-2724-B80B-84C4CA77DA38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1BD6F-F6AA-CAF7-0ED8-6CEB2D9D54B6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9A793-FE8A-6C5A-ECAF-6ACD1573E526}"/>
              </a:ext>
            </a:extLst>
          </p:cNvPr>
          <p:cNvSpPr txBox="1"/>
          <p:nvPr/>
        </p:nvSpPr>
        <p:spPr>
          <a:xfrm>
            <a:off x="491369" y="1291416"/>
            <a:ext cx="947695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6. Andon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82E662-79A5-EE3C-56D2-9E2FA542290C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0DE490-BC0D-C543-B32E-1DA0DFF08B55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244AA1-5632-4605-FCFA-D8BAD122F743}"/>
              </a:ext>
            </a:extLst>
          </p:cNvPr>
          <p:cNvSpPr/>
          <p:nvPr/>
        </p:nvSpPr>
        <p:spPr>
          <a:xfrm>
            <a:off x="585039" y="1810027"/>
            <a:ext cx="11040224" cy="471459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664B058-BD82-C154-AFE3-AC65F6B4F1FE}"/>
              </a:ext>
            </a:extLst>
          </p:cNvPr>
          <p:cNvSpPr/>
          <p:nvPr/>
        </p:nvSpPr>
        <p:spPr>
          <a:xfrm>
            <a:off x="719983" y="2028912"/>
            <a:ext cx="1214953" cy="347312"/>
          </a:xfrm>
          <a:prstGeom prst="roundRect">
            <a:avLst/>
          </a:prstGeom>
          <a:solidFill>
            <a:srgbClr val="105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실패 시나리오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F996F30-BC30-7472-91CE-4ED1C6C58D1B}"/>
              </a:ext>
            </a:extLst>
          </p:cNvPr>
          <p:cNvSpPr/>
          <p:nvPr/>
        </p:nvSpPr>
        <p:spPr>
          <a:xfrm>
            <a:off x="719982" y="3789389"/>
            <a:ext cx="1214953" cy="347312"/>
          </a:xfrm>
          <a:prstGeom prst="roundRect">
            <a:avLst/>
          </a:prstGeom>
          <a:solidFill>
            <a:srgbClr val="105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Rollback </a:t>
            </a:r>
            <a:r>
              <a: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066543"/>
            <a:ext cx="4572000" cy="2377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0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▪ </a:t>
            </a:r>
            <a:r>
              <a:rPr sz="10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현장 운영 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2359152"/>
            <a:ext cx="443484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미발령</a:t>
            </a:r>
            <a:r>
              <a:rPr sz="850" b="1" i="0">
                <a:solidFill>
                  <a:srgbClr val="C0392B"/>
                </a:solidFill>
                <a:latin typeface="에스코어 드림 5 Medium"/>
                <a:ea typeface="에스코어 드림 5 Medium"/>
                <a:cs typeface="에스코어 드림 5 Medium"/>
              </a:rPr>
              <a:t>   즉시 중단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2532888"/>
            <a:ext cx="4434840" cy="1920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접근했는데 경보가 뜨지 않은 사례 1건이라도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2724912"/>
            <a:ext cx="443484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오발령 지속</a:t>
            </a:r>
            <a:r>
              <a:rPr sz="850" b="1" i="0">
                <a:solidFill>
                  <a:srgbClr val="C0392B"/>
                </a:solidFill>
                <a:latin typeface="에스코어 드림 5 Medium"/>
                <a:ea typeface="에스코어 드림 5 Medium"/>
                <a:cs typeface="에스코어 드림 5 Medium"/>
              </a:rPr>
              <a:t>   즉시 중단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2898648"/>
            <a:ext cx="4434840" cy="1920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정지 중 계속 울림 · 이탈 후 다시 울림이 반복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3090672"/>
            <a:ext cx="443484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감지 중단</a:t>
            </a:r>
            <a:r>
              <a:rPr sz="850" b="1" i="0">
                <a:solidFill>
                  <a:srgbClr val="444F55"/>
                </a:solidFill>
                <a:latin typeface="에스코어 드림 5 Medium"/>
                <a:ea typeface="에스코어 드림 5 Medium"/>
                <a:cs typeface="에스코어 드림 5 Medium"/>
              </a:rPr>
              <a:t>   관측 시 판단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3264408"/>
            <a:ext cx="4434840" cy="1920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상시 알림이 ‘이상’ 으로 바뀌거나 사라짐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3456432"/>
            <a:ext cx="443484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경보 피로</a:t>
            </a:r>
            <a:r>
              <a:rPr sz="850" b="1" i="0">
                <a:solidFill>
                  <a:srgbClr val="444F55"/>
                </a:solidFill>
                <a:latin typeface="에스코어 드림 5 Medium"/>
                <a:ea typeface="에스코어 드림 5 Medium"/>
                <a:cs typeface="에스코어 드림 5 Medium"/>
              </a:rPr>
              <a:t>   관측 시 판단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3630168"/>
            <a:ext cx="4434840" cy="1920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무음으로 두거나 앱을 꺼 둔 단말이 늘어남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066543"/>
            <a:ext cx="4572000" cy="2377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0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▪ </a:t>
            </a:r>
            <a:r>
              <a:rPr sz="10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업데이트 · 수정 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359152"/>
            <a:ext cx="443484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버전 혼재</a:t>
            </a:r>
            <a:r>
              <a:rPr sz="850" b="1" i="0">
                <a:solidFill>
                  <a:srgbClr val="C0392B"/>
                </a:solidFill>
                <a:latin typeface="에스코어 드림 5 Medium"/>
                <a:ea typeface="에스코어 드림 5 Medium"/>
                <a:cs typeface="에스코어 드림 5 Medium"/>
              </a:rPr>
              <a:t>   즉시 중단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2532888"/>
            <a:ext cx="4434840" cy="1920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구버전 단말이 신버전을 감지하지 못함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724912"/>
            <a:ext cx="443484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회귀 재발</a:t>
            </a:r>
            <a:r>
              <a:rPr sz="850" b="1" i="0">
                <a:solidFill>
                  <a:srgbClr val="C0392B"/>
                </a:solidFill>
                <a:latin typeface="에스코어 드림 5 Medium"/>
                <a:ea typeface="에스코어 드림 5 Medium"/>
                <a:cs typeface="에스코어 드림 5 Medium"/>
              </a:rPr>
              <a:t>   즉시 중단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898648"/>
            <a:ext cx="4434840" cy="1920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이전에 고친 증상이 다시 관측됨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090672"/>
            <a:ext cx="443484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보호 공백</a:t>
            </a:r>
            <a:r>
              <a:rPr sz="850" b="1" i="0">
                <a:solidFill>
                  <a:srgbClr val="444F55"/>
                </a:solidFill>
                <a:latin typeface="에스코어 드림 5 Medium"/>
                <a:ea typeface="에스코어 드림 5 Medium"/>
                <a:cs typeface="에스코어 드림 5 Medium"/>
              </a:rPr>
              <a:t>   관측 시 판단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264408"/>
            <a:ext cx="4434840" cy="1920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작업 시간 중 일괄 업데이트 — 교대 전환 때만 배포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456432"/>
            <a:ext cx="443484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에스코어 드림 5 Medium"/>
                <a:ea typeface="에스코어 드림 5 Medium"/>
                <a:cs typeface="에스코어 드림 5 Medium"/>
              </a:rPr>
              <a:t>서비스 미기동</a:t>
            </a:r>
            <a:r>
              <a:rPr sz="850" b="1" i="0">
                <a:solidFill>
                  <a:srgbClr val="444F55"/>
                </a:solidFill>
                <a:latin typeface="에스코어 드림 5 Medium"/>
                <a:ea typeface="에스코어 드림 5 Medium"/>
                <a:cs typeface="에스코어 드림 5 Medium"/>
              </a:rPr>
              <a:t>   관측 시 판단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630168"/>
            <a:ext cx="4434840" cy="19202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업데이트 · 역할 전환 후 백그라운드 실행 미복구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877056"/>
            <a:ext cx="946404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즉시 롤백</a:t>
            </a:r>
            <a:r>
              <a:rPr sz="950" b="0" i="0">
                <a:solidFill>
                  <a:srgbClr val="808A90"/>
                </a:solidFill>
                <a:latin typeface="에스코어 드림 4 Regular"/>
                <a:ea typeface="에스코어 드림 4 Regular"/>
                <a:cs typeface="에스코어 드림 4 Regular"/>
              </a:rPr>
              <a:t>   —   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직전 태그 APK 로 되돌린다 — 현장 재설치 없이 배포된다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4187952"/>
            <a:ext cx="946404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선행 확인</a:t>
            </a:r>
            <a:r>
              <a:rPr sz="950" b="0" i="0">
                <a:solidFill>
                  <a:srgbClr val="808A90"/>
                </a:solidFill>
                <a:latin typeface="에스코어 드림 4 Regular"/>
                <a:ea typeface="에스코어 드림 4 Regular"/>
                <a:cs typeface="에스코어 드림 4 Regular"/>
              </a:rPr>
              <a:t>   —   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전 단말 배포 전 1대에서 먼저 확인한다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4498848"/>
            <a:ext cx="946404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빌드 차단</a:t>
            </a:r>
            <a:r>
              <a:rPr sz="950" b="0" i="0">
                <a:solidFill>
                  <a:srgbClr val="808A90"/>
                </a:solidFill>
                <a:latin typeface="에스코어 드림 4 Regular"/>
                <a:ea typeface="에스코어 드림 4 Regular"/>
                <a:cs typeface="에스코어 드림 4 Regular"/>
              </a:rPr>
              <a:t>   —   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골든 테스트가 실패하면 릴리스가 자동 차단된다 (동작 중)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4809744"/>
            <a:ext cx="946404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원인 귀속</a:t>
            </a:r>
            <a:r>
              <a:rPr sz="950" b="0" i="0">
                <a:solidFill>
                  <a:srgbClr val="808A90"/>
                </a:solidFill>
                <a:latin typeface="에스코어 드림 4 Regular"/>
                <a:ea typeface="에스코어 드림 4 Regular"/>
                <a:cs typeface="에스코어 드림 4 Regular"/>
              </a:rPr>
              <a:t>   —   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단계를 단독 배포하므로 어느 변경 탓인지 특정된다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5120640"/>
            <a:ext cx="946404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재개 조건</a:t>
            </a:r>
            <a:r>
              <a:rPr sz="950" b="0" i="0">
                <a:solidFill>
                  <a:srgbClr val="808A90"/>
                </a:solidFill>
                <a:latin typeface="에스코어 드림 4 Regular"/>
                <a:ea typeface="에스코어 드림 4 Regular"/>
                <a:cs typeface="에스코어 드림 4 Regular"/>
              </a:rPr>
              <a:t>   —   </a:t>
            </a: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실패한 상황을 테스트로 고정한 뒤에만 다음 단계로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5541264"/>
            <a:ext cx="9464040" cy="2560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50" b="0" i="1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멈출 기준을 먼저 정해 두는 것이, 멈추지 않고 밀어붙이는 것보다 빠르다.</a:t>
            </a:r>
          </a:p>
        </p:txBody>
      </p:sp>
    </p:spTree>
    <p:extLst>
      <p:ext uri="{BB962C8B-B14F-4D97-AF65-F5344CB8AC3E}">
        <p14:creationId xmlns:p14="http://schemas.microsoft.com/office/powerpoint/2010/main" val="308409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BAFC08AA-4061-3118-9CF5-E652FBCB56B1}"/>
              </a:ext>
            </a:extLst>
          </p:cNvPr>
          <p:cNvGrpSpPr/>
          <p:nvPr/>
        </p:nvGrpSpPr>
        <p:grpSpPr>
          <a:xfrm>
            <a:off x="9544260" y="179617"/>
            <a:ext cx="1549121" cy="917541"/>
            <a:chOff x="9544260" y="318407"/>
            <a:chExt cx="1549121" cy="917541"/>
          </a:xfrm>
        </p:grpSpPr>
        <p:sp>
          <p:nvSpPr>
            <p:cNvPr id="23" name="사각형: 둥근 위쪽 모서리 22">
              <a:extLst>
                <a:ext uri="{FF2B5EF4-FFF2-40B4-BE49-F238E27FC236}">
                  <a16:creationId xmlns:a16="http://schemas.microsoft.com/office/drawing/2014/main" id="{9CE5B9AE-FA00-8A88-B449-F7C2FE8DB904}"/>
                </a:ext>
              </a:extLst>
            </p:cNvPr>
            <p:cNvSpPr/>
            <p:nvPr/>
          </p:nvSpPr>
          <p:spPr>
            <a:xfrm>
              <a:off x="9544260" y="318407"/>
              <a:ext cx="1549121" cy="917541"/>
            </a:xfrm>
            <a:prstGeom prst="round2Same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C6F039-C986-025B-BF14-7F93BBCDC3F8}"/>
                </a:ext>
              </a:extLst>
            </p:cNvPr>
            <p:cNvSpPr txBox="1"/>
            <p:nvPr/>
          </p:nvSpPr>
          <p:spPr>
            <a:xfrm>
              <a:off x="9667527" y="473194"/>
              <a:ext cx="1311641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defRPr>
              </a:lvl1pPr>
            </a:lstStyle>
            <a:p>
              <a:r>
                <a:rPr lang="en-US" altLang="ko-KR" dirty="0"/>
                <a:t>Feedback Loop</a:t>
              </a:r>
              <a:endParaRPr lang="ko-KR" altLang="en-US" dirty="0"/>
            </a:p>
          </p:txBody>
        </p:sp>
      </p:grpSp>
      <p:sp>
        <p:nvSpPr>
          <p:cNvPr id="26" name="사각형: 둥근 위쪽 모서리 25">
            <a:extLst>
              <a:ext uri="{FF2B5EF4-FFF2-40B4-BE49-F238E27FC236}">
                <a16:creationId xmlns:a16="http://schemas.microsoft.com/office/drawing/2014/main" id="{773C8D29-F643-88DF-B9BF-B4FF791CF581}"/>
              </a:ext>
            </a:extLst>
          </p:cNvPr>
          <p:cNvSpPr/>
          <p:nvPr/>
        </p:nvSpPr>
        <p:spPr>
          <a:xfrm>
            <a:off x="249534" y="303338"/>
            <a:ext cx="1549121" cy="795075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E85ED4-9537-1FD2-4EC9-5CBE49E0C554}"/>
              </a:ext>
            </a:extLst>
          </p:cNvPr>
          <p:cNvSpPr txBox="1"/>
          <p:nvPr/>
        </p:nvSpPr>
        <p:spPr>
          <a:xfrm>
            <a:off x="302581" y="399790"/>
            <a:ext cx="1443024" cy="253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Problem Statement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6F037C0-7E46-FFD8-D0B3-1142FE97BFAF}"/>
              </a:ext>
            </a:extLst>
          </p:cNvPr>
          <p:cNvSpPr/>
          <p:nvPr/>
        </p:nvSpPr>
        <p:spPr>
          <a:xfrm>
            <a:off x="1798655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4E2ED94-C4F0-4C38-C141-B6A04D22897E}"/>
              </a:ext>
            </a:extLst>
          </p:cNvPr>
          <p:cNvSpPr/>
          <p:nvPr/>
        </p:nvSpPr>
        <p:spPr>
          <a:xfrm>
            <a:off x="3347776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578857C5-B8C2-E71E-F79F-1948E42531FB}"/>
              </a:ext>
            </a:extLst>
          </p:cNvPr>
          <p:cNvSpPr/>
          <p:nvPr/>
        </p:nvSpPr>
        <p:spPr>
          <a:xfrm>
            <a:off x="4896897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367FA4C5-C1BC-C239-D158-B0A862592146}"/>
              </a:ext>
            </a:extLst>
          </p:cNvPr>
          <p:cNvSpPr/>
          <p:nvPr/>
        </p:nvSpPr>
        <p:spPr>
          <a:xfrm>
            <a:off x="6446018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0EF98112-31FE-581F-0D6B-0FF6300B4C18}"/>
              </a:ext>
            </a:extLst>
          </p:cNvPr>
          <p:cNvSpPr/>
          <p:nvPr/>
        </p:nvSpPr>
        <p:spPr>
          <a:xfrm>
            <a:off x="7995139" y="303338"/>
            <a:ext cx="1549121" cy="793820"/>
          </a:xfrm>
          <a:prstGeom prst="round2Same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80AD-94F9-80AF-8712-372F4E91851C}"/>
              </a:ext>
            </a:extLst>
          </p:cNvPr>
          <p:cNvSpPr txBox="1"/>
          <p:nvPr/>
        </p:nvSpPr>
        <p:spPr>
          <a:xfrm>
            <a:off x="2166976" y="398534"/>
            <a:ext cx="80342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Tradeoffs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6A74-E9A3-6957-6F20-028957ED0A34}"/>
              </a:ext>
            </a:extLst>
          </p:cNvPr>
          <p:cNvSpPr txBox="1"/>
          <p:nvPr/>
        </p:nvSpPr>
        <p:spPr>
          <a:xfrm>
            <a:off x="3643965" y="398533"/>
            <a:ext cx="947695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Benchmark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D98E6-86A7-806F-8653-EE40AAB64134}"/>
              </a:ext>
            </a:extLst>
          </p:cNvPr>
          <p:cNvSpPr txBox="1"/>
          <p:nvPr/>
        </p:nvSpPr>
        <p:spPr>
          <a:xfrm>
            <a:off x="5311940" y="398533"/>
            <a:ext cx="728084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Solution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AE44-F37C-08B0-90C0-58A03DD20F9E}"/>
              </a:ext>
            </a:extLst>
          </p:cNvPr>
          <p:cNvSpPr txBox="1"/>
          <p:nvPr/>
        </p:nvSpPr>
        <p:spPr>
          <a:xfrm>
            <a:off x="6868846" y="398533"/>
            <a:ext cx="69442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Metrics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FCC9A-951E-CFDA-B091-10878F12155B}"/>
              </a:ext>
            </a:extLst>
          </p:cNvPr>
          <p:cNvSpPr txBox="1"/>
          <p:nvPr/>
        </p:nvSpPr>
        <p:spPr>
          <a:xfrm>
            <a:off x="8467087" y="398533"/>
            <a:ext cx="614271" cy="2539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Andon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76ABB17-8EC6-1426-AC57-B0620EA7342D}"/>
              </a:ext>
            </a:extLst>
          </p:cNvPr>
          <p:cNvSpPr/>
          <p:nvPr/>
        </p:nvSpPr>
        <p:spPr>
          <a:xfrm>
            <a:off x="214573" y="661307"/>
            <a:ext cx="11779180" cy="6079254"/>
          </a:xfrm>
          <a:prstGeom prst="roundRect">
            <a:avLst>
              <a:gd name="adj" fmla="val 394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27D7E-4C3F-3AC3-31F0-F7B0622DBCBE}"/>
              </a:ext>
            </a:extLst>
          </p:cNvPr>
          <p:cNvSpPr txBox="1"/>
          <p:nvPr/>
        </p:nvSpPr>
        <p:spPr>
          <a:xfrm>
            <a:off x="491369" y="1291416"/>
            <a:ext cx="1694503" cy="37952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7. Feedback Loop</a:t>
            </a:r>
            <a:endParaRPr lang="en-US" altLang="ko-KR" sz="12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9BE005-692C-F8A8-30D8-5667135E324C}"/>
              </a:ext>
            </a:extLst>
          </p:cNvPr>
          <p:cNvSpPr/>
          <p:nvPr/>
        </p:nvSpPr>
        <p:spPr>
          <a:xfrm>
            <a:off x="585039" y="1812474"/>
            <a:ext cx="11040224" cy="3624180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CF8C32-922F-0FB2-3509-A161177F264F}"/>
              </a:ext>
            </a:extLst>
          </p:cNvPr>
          <p:cNvSpPr/>
          <p:nvPr/>
        </p:nvSpPr>
        <p:spPr>
          <a:xfrm>
            <a:off x="587376" y="5566584"/>
            <a:ext cx="5452648" cy="957012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0E4FBE-B2B3-A2C7-5695-2C9BC32CA53E}"/>
              </a:ext>
            </a:extLst>
          </p:cNvPr>
          <p:cNvSpPr/>
          <p:nvPr/>
        </p:nvSpPr>
        <p:spPr>
          <a:xfrm>
            <a:off x="1567543" y="793747"/>
            <a:ext cx="10055745" cy="4333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444F55"/>
                </a:solidFill>
                <a:latin typeface="에스코어 드림 4 Regular"/>
                <a:ea typeface="에스코어 드림 4 Regular"/>
                <a:cs typeface="에스코어 드림 4 Regular"/>
              </a:rPr>
              <a:t>  SafeAlert  —  지급된 단말끼리 BLE 로 서로를 감지해, I-PAS 가 덮지 못하는 접근 조합을 경보한다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2FD2F3-0172-D242-7CD0-C57D35641B75}"/>
              </a:ext>
            </a:extLst>
          </p:cNvPr>
          <p:cNvSpPr/>
          <p:nvPr/>
        </p:nvSpPr>
        <p:spPr>
          <a:xfrm>
            <a:off x="585039" y="793747"/>
            <a:ext cx="895140" cy="433341"/>
          </a:xfrm>
          <a:prstGeom prst="rect">
            <a:avLst/>
          </a:prstGeom>
          <a:solidFill>
            <a:srgbClr val="0D4B4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Theme</a:t>
            </a:r>
            <a:endParaRPr lang="ko-KR" altLang="en-US" sz="1200" dirty="0">
              <a:solidFill>
                <a:schemeClr val="bg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DCBB9-20C4-06BB-AB99-A70D4E47BA5D}"/>
              </a:ext>
            </a:extLst>
          </p:cNvPr>
          <p:cNvSpPr txBox="1"/>
          <p:nvPr/>
        </p:nvSpPr>
        <p:spPr>
          <a:xfrm>
            <a:off x="602605" y="5616969"/>
            <a:ext cx="1755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</a:t>
            </a:r>
            <a:r>
              <a:rPr lang="ko-KR" altLang="en-US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개선 효과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B3ACAD-CCB5-FE38-9236-9444A3714E8C}"/>
              </a:ext>
            </a:extLst>
          </p:cNvPr>
          <p:cNvSpPr/>
          <p:nvPr/>
        </p:nvSpPr>
        <p:spPr>
          <a:xfrm>
            <a:off x="6152789" y="5566584"/>
            <a:ext cx="5452648" cy="957012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41505-1576-3D18-473A-9ED89317FCEE}"/>
              </a:ext>
            </a:extLst>
          </p:cNvPr>
          <p:cNvSpPr txBox="1"/>
          <p:nvPr/>
        </p:nvSpPr>
        <p:spPr>
          <a:xfrm>
            <a:off x="6168018" y="5616969"/>
            <a:ext cx="1755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 </a:t>
            </a:r>
            <a:r>
              <a:rPr lang="ko-KR" altLang="en-US" sz="1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확산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75104"/>
            <a:ext cx="5303520" cy="2377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0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▪ </a:t>
            </a:r>
            <a:r>
              <a:rPr sz="10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리더십 리뷰 반영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77240" y="2267712"/>
          <a:ext cx="5257800" cy="14630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48640"/>
                <a:gridCol w="2697480"/>
                <a:gridCol w="201168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차수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반영 내용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결과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1차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역할 전환 버튼 · EPJ 역할 숨김 · 스플래시 교체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재설치 없이 화면에서 역할 전환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2차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같은 기기 · 같은 등급 5초 이상이면 자동 음소거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표시 · 기록 유지, 등급 오르면 재발령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3차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세이프존 — 휴게실 · 충전 구역 비콘으로 경보 억제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존 안의 기기는 상대에게도 안전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09360" y="1975104"/>
            <a:ext cx="5303520" cy="2377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0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▪ </a:t>
            </a:r>
            <a:r>
              <a:rPr sz="10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현장 요구 반영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09360" y="2267712"/>
          <a:ext cx="5257800" cy="142646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960120"/>
                <a:gridCol w="2103120"/>
                <a:gridCol w="219456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Before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에스코어 드림 5 Medium"/>
                          <a:ea typeface="에스코어 드림 5 Medium"/>
                          <a:cs typeface="에스코어 드림 5 Medium"/>
                        </a:rPr>
                        <a:t>After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0D4B45"/>
                      </a:solidFill>
                      <a:prstDash val="solid"/>
                    </a:lnB>
                    <a:lnT w="9525" cap="flat" cmpd="sng" algn="ctr">
                      <a:solidFill>
                        <a:srgbClr val="0D4B45"/>
                      </a:solidFill>
                      <a:prstDash val="solid"/>
                    </a:lnT>
                    <a:lnR w="9525" cap="flat" cmpd="sng" algn="ctr">
                      <a:solidFill>
                        <a:srgbClr val="0D4B45"/>
                      </a:solidFill>
                      <a:prstDash val="solid"/>
                    </a:lnR>
                    <a:lnL w="9525" cap="flat" cmpd="sng" algn="ctr">
                      <a:solidFill>
                        <a:srgbClr val="0D4B45"/>
                      </a:solidFill>
                      <a:prstDash val="solid"/>
                    </a:lnL>
                    <a:solidFill>
                      <a:srgbClr val="0D4B4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보호 상태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끊겨도 작업자가 알 수 없음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감지가 멈추면 상시 알림에 이상 표시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이탈 후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멀어졌는데 다시 울림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경고 범위 재발령 억제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알림 끄기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단계가 번거로움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알림 본문을 누르면 즉시 무음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경보 화면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눈에 잘 들어오지 않음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에스코어 드림 4 Regular"/>
                          <a:ea typeface="에스코어 드림 4 Regular"/>
                          <a:cs typeface="에스코어 드림 4 Regular"/>
                        </a:rPr>
                        <a:t>화면 가장자리에 붙는 사이드바</a:t>
                      </a:r>
                    </a:p>
                  </a:txBody>
                  <a:tcPr marL="45720" marR="45720" marT="18288" marB="18288" anchor="ctr">
                    <a:lnB w="9525" cap="flat" cmpd="sng" algn="ctr">
                      <a:solidFill>
                        <a:srgbClr val="D5DBDB"/>
                      </a:solidFill>
                      <a:prstDash val="solid"/>
                    </a:lnB>
                    <a:lnT w="9525" cap="flat" cmpd="sng" algn="ctr">
                      <a:solidFill>
                        <a:srgbClr val="FFFFFF"/>
                      </a:solidFill>
                      <a:prstDash val="solid"/>
                    </a:lnT>
                    <a:lnR w="9525" cap="flat" cmpd="sng" algn="ctr">
                      <a:solidFill>
                        <a:srgbClr val="FFFFFF"/>
                      </a:solidFill>
                      <a:prstDash val="solid"/>
                    </a:lnR>
                    <a:lnL w="9525" cap="flat" cmpd="sng" algn="ctr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77240" y="4224528"/>
            <a:ext cx="10698480" cy="2377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00" b="1" i="0">
                <a:solidFill>
                  <a:srgbClr val="105C4D"/>
                </a:solidFill>
                <a:latin typeface="에스코어 드림 5 Medium"/>
                <a:ea typeface="에스코어 드림 5 Medium"/>
                <a:cs typeface="에스코어 드림 5 Medium"/>
              </a:rPr>
              <a:t>반영은 코드에 남아 있다  —  </a:t>
            </a:r>
            <a:r>
              <a:rPr sz="90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리뷰 1·2·3차 v1.1.60 · v1.1.61 · v1.1.62,  보호 끊김 v1.1.64,  이탈 재발령 v1.1.51,  알림 본문 탭 v1.1.68,  사이드바 v1.1.69 · v1.1.70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35424"/>
            <a:ext cx="1069848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피드백이 들어오면 그 주에 배포했다. 3개월 70회 이상. 문제는 속도가 아니라 재현성이었다  —  빨리 고친 증상이 되돌아왔고, 그래서 다음 작업은 새 기능이 아니라 테스트와 CI 게이트다.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07024"/>
            <a:ext cx="5212080" cy="1965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역할 전환 · 자동 음소거 · 세이프존으로 경보 피로를 억제했다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03620"/>
            <a:ext cx="5212080" cy="1965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보호 끊김과 서비스 미기동이 상시 알림에 드러난다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00216"/>
            <a:ext cx="5212080" cy="1965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Phase 1 완료 — 고친 증상은 테스트로 고정돼 빌드에서 걸린다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5907024"/>
            <a:ext cx="5212080" cy="1965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WF11 · WF21 · WF25 서베이 회수 · 집계 (10점 척도)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6103620"/>
            <a:ext cx="5212080" cy="1965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Phase 2 PDA 이식 — 개인 폰 임시 설치를 업무 단말로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6300216"/>
            <a:ext cx="5212080" cy="1965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에스코어 드림 4 Regular"/>
                <a:ea typeface="에스코어 드림 4 Regular"/>
                <a:cs typeface="에스코어 드림 4 Regular"/>
              </a:rPr>
              <a:t>·  정식 과제 등록 · 리소스 배정이 선행되어야 17개 센터로 확산</a:t>
            </a:r>
          </a:p>
        </p:txBody>
      </p:sp>
    </p:spTree>
    <p:extLst>
      <p:ext uri="{BB962C8B-B14F-4D97-AF65-F5344CB8AC3E}">
        <p14:creationId xmlns:p14="http://schemas.microsoft.com/office/powerpoint/2010/main" val="2719133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AF9EDEDEA05A74D96C6D639D383E2B6" ma:contentTypeVersion="17" ma:contentTypeDescription="새 문서를 만듭니다." ma:contentTypeScope="" ma:versionID="5548664278cc9bcd010b9929a2852066">
  <xsd:schema xmlns:xsd="http://www.w3.org/2001/XMLSchema" xmlns:xs="http://www.w3.org/2001/XMLSchema" xmlns:p="http://schemas.microsoft.com/office/2006/metadata/properties" xmlns:ns2="4c3b9d58-ac82-42da-8bfc-31de2fa78469" xmlns:ns3="16a3ab6b-1edf-4599-82cd-4840175f3d36" targetNamespace="http://schemas.microsoft.com/office/2006/metadata/properties" ma:root="true" ma:fieldsID="7631141c00b82671170738188edd12b7" ns2:_="" ns3:_="">
    <xsd:import namespace="4c3b9d58-ac82-42da-8bfc-31de2fa78469"/>
    <xsd:import namespace="16a3ab6b-1edf-4599-82cd-4840175f3d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loaz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b9d58-ac82-42da-8bfc-31de2fa784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loaz" ma:index="16" nillable="true" ma:displayName="Date and Time" ma:internalName="loaz">
      <xsd:simpleType>
        <xsd:restriction base="dms:DateTime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이미지 태그" ma:readOnly="false" ma:fieldId="{5cf76f15-5ced-4ddc-b409-7134ff3c332f}" ma:taxonomyMulti="true" ma:sspId="0e116155-e74f-41f9-90e9-2cd01caac4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a3ab6b-1edf-4599-82cd-4840175f3d36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67d5880-594e-4040-a9ed-8b9eaaa7520b}" ma:internalName="TaxCatchAll" ma:showField="CatchAllData" ma:web="16a3ab6b-1edf-4599-82cd-4840175f3d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3b9d58-ac82-42da-8bfc-31de2fa78469">
      <Terms xmlns="http://schemas.microsoft.com/office/infopath/2007/PartnerControls"/>
    </lcf76f155ced4ddcb4097134ff3c332f>
    <TaxCatchAll xmlns="16a3ab6b-1edf-4599-82cd-4840175f3d36" xsi:nil="true"/>
    <loaz xmlns="4c3b9d58-ac82-42da-8bfc-31de2fa78469" xsi:nil="true"/>
  </documentManagement>
</p:properties>
</file>

<file path=customXml/itemProps1.xml><?xml version="1.0" encoding="utf-8"?>
<ds:datastoreItem xmlns:ds="http://schemas.openxmlformats.org/officeDocument/2006/customXml" ds:itemID="{07FCD8C1-0A36-4DEA-9A5A-B7BD3820C8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3b9d58-ac82-42da-8bfc-31de2fa78469"/>
    <ds:schemaRef ds:uri="16a3ab6b-1edf-4599-82cd-4840175f3d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E3D348-73DA-4CD2-AA87-2BEB28A822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7F1CB1-6C52-433D-9BE0-249B730F9971}">
  <ds:schemaRefs>
    <ds:schemaRef ds:uri="http://schemas.microsoft.com/office/2006/metadata/properties"/>
    <ds:schemaRef ds:uri="http://schemas.microsoft.com/office/infopath/2007/PartnerControls"/>
    <ds:schemaRef ds:uri="92aa27d3-29a0-4be3-93f2-49a9f199c214"/>
    <ds:schemaRef ds:uri="fb17f27f-a155-41f9-bb9c-b8f31ff8c6fe"/>
    <ds:schemaRef ds:uri="4c3b9d58-ac82-42da-8bfc-31de2fa78469"/>
    <ds:schemaRef ds:uri="16a3ab6b-1edf-4599-82cd-4840175f3d36"/>
  </ds:schemaRefs>
</ds:datastoreItem>
</file>

<file path=docMetadata/LabelInfo.xml><?xml version="1.0" encoding="utf-8"?>
<clbl:labelList xmlns:clbl="http://schemas.microsoft.com/office/2020/mipLabelMetadata">
  <clbl:label id="{a5a477b8-9606-49bd-8054-914ef373fbd8}" enabled="1" method="Privileged" siteId="{9d9f74be-786b-48f6-8e18-83cf7a2eef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264</Words>
  <Application>Microsoft Office PowerPoint</Application>
  <PresentationFormat>와이드스크린</PresentationFormat>
  <Paragraphs>170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에스코어 드림 5 Medium</vt:lpstr>
      <vt:lpstr>맑은 고딕</vt:lpstr>
      <vt:lpstr>Arial</vt:lpstr>
      <vt:lpstr>에스코어 드림 6 Bold</vt:lpstr>
      <vt:lpstr>맑은 고딕</vt:lpstr>
      <vt:lpstr>에스코어 드림 4 Regular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Lucy Gee [Operations Learning Jamsil Cousolve Learning]</dc:creator>
  <cp:lastModifiedBy>Ian Lim [Flex Fulfillment WF11 OB Forklift]</cp:lastModifiedBy>
  <cp:revision>78</cp:revision>
  <dcterms:created xsi:type="dcterms:W3CDTF">2023-10-18T01:38:38Z</dcterms:created>
  <dcterms:modified xsi:type="dcterms:W3CDTF">2026-09-01T04:54:40Z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2024-01-03T16:27:42 / Internal</vt:lpwstr>
  </property>
  <property fmtid="{D5CDD505-2E9C-101B-9397-08002B2CF9AE}" pid="3" name="ClassificationContentMarkingHeaderLocations">
    <vt:lpwstr>Office 테마:9</vt:lpwstr>
  </property>
  <property fmtid="{D5CDD505-2E9C-101B-9397-08002B2CF9AE}" pid="4" name="ClassificationContentMarkingHeaderText">
    <vt:lpwstr>Coupang Fulfillment Services Internal User Only</vt:lpwstr>
  </property>
  <property fmtid="{D5CDD505-2E9C-101B-9397-08002B2CF9AE}" pid="5" name="ContentTypeId">
    <vt:lpwstr>0x0101001AF9EDEDEA05A74D96C6D639D383E2B6</vt:lpwstr>
  </property>
</Properties>
</file>