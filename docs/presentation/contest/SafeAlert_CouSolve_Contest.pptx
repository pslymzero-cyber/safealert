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2"/>
  </p:notesMasterIdLst>
  <p:sldIdLst>
    <p:sldId id="257" r:id="rId6"/>
    <p:sldId id="292" r:id="rId7"/>
    <p:sldId id="293" r:id="rId10"/>
    <p:sldId id="264" r:id="rId11"/>
    <p:sldId id="282" r:id="rId12"/>
    <p:sldId id="283" r:id="rId13"/>
    <p:sldId id="284" r:id="rId14"/>
    <p:sldId id="285" r:id="rId15"/>
    <p:sldId id="286" r:id="rId16"/>
    <p:sldId id="287" r:id="rId17"/>
    <p:sldId id="291" r:id="rId18"/>
    <p:sldId id="288" r:id="rId19"/>
    <p:sldId id="289" r:id="rId20"/>
    <p:sldId id="29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1366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4951" userDrawn="1">
          <p15:clr>
            <a:srgbClr val="A4A3A4"/>
          </p15:clr>
        </p15:guide>
        <p15:guide id="6" pos="15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C3D3"/>
    <a:srgbClr val="053866"/>
    <a:srgbClr val="AAC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926CD-11A3-E76F-5985-074717AA1E8B}" v="2" dt="2026-09-01T06:01:30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997"/>
        <p:guide pos="7242"/>
        <p:guide orient="horz" pos="1366"/>
        <p:guide pos="438"/>
        <p:guide pos="4951"/>
        <p:guide pos="1527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Gee [Operations RM&amp;E]" userId="29bad928-f1f1-49d0-9fbf-4aca6a6e5c44" providerId="ADAL" clId="{FBC98BA3-1757-4909-991B-84C7F80C032E}"/>
    <pc:docChg chg="modSld">
      <pc:chgData name="Lucy Gee [Operations RM&amp;E]" userId="29bad928-f1f1-49d0-9fbf-4aca6a6e5c44" providerId="ADAL" clId="{FBC98BA3-1757-4909-991B-84C7F80C032E}" dt="2026-01-23T06:43:23.449" v="65" actId="1076"/>
      <pc:docMkLst>
        <pc:docMk/>
      </pc:docMkLst>
      <pc:sldChg chg="modSp mod">
        <pc:chgData name="Lucy Gee [Operations RM&amp;E]" userId="29bad928-f1f1-49d0-9fbf-4aca6a6e5c44" providerId="ADAL" clId="{FBC98BA3-1757-4909-991B-84C7F80C032E}" dt="2026-01-23T06:43:23.449" v="65" actId="1076"/>
        <pc:sldMkLst>
          <pc:docMk/>
          <pc:sldMk cId="3476256629" sldId="257"/>
        </pc:sldMkLst>
        <pc:spChg chg="mod">
          <ac:chgData name="Lucy Gee [Operations RM&amp;E]" userId="29bad928-f1f1-49d0-9fbf-4aca6a6e5c44" providerId="ADAL" clId="{FBC98BA3-1757-4909-991B-84C7F80C032E}" dt="2026-01-23T06:43:23.449" v="65" actId="1076"/>
          <ac:spMkLst>
            <pc:docMk/>
            <pc:sldMk cId="3476256629" sldId="257"/>
            <ac:spMk id="2" creationId="{DB7756C3-89E1-07DC-D1AB-78E608C545C1}"/>
          </ac:spMkLst>
        </pc:spChg>
        <pc:spChg chg="mod">
          <ac:chgData name="Lucy Gee [Operations RM&amp;E]" userId="29bad928-f1f1-49d0-9fbf-4aca6a6e5c44" providerId="ADAL" clId="{FBC98BA3-1757-4909-991B-84C7F80C032E}" dt="2026-01-23T06:43:08.222" v="13" actId="20577"/>
          <ac:spMkLst>
            <pc:docMk/>
            <pc:sldMk cId="3476256629" sldId="257"/>
            <ac:spMk id="14" creationId="{55394F2F-E2D3-82B9-0B27-78F58B1D5BD5}"/>
          </ac:spMkLst>
        </pc:spChg>
        <pc:spChg chg="mod">
          <ac:chgData name="Lucy Gee [Operations RM&amp;E]" userId="29bad928-f1f1-49d0-9fbf-4aca6a6e5c44" providerId="ADAL" clId="{FBC98BA3-1757-4909-991B-84C7F80C032E}" dt="2026-01-23T06:43:11.992" v="24" actId="20577"/>
          <ac:spMkLst>
            <pc:docMk/>
            <pc:sldMk cId="3476256629" sldId="257"/>
            <ac:spMk id="15" creationId="{6D7A96A4-EF36-6A3D-8E7E-82336CA6A29D}"/>
          </ac:spMkLst>
        </pc:spChg>
      </pc:sldChg>
    </pc:docChg>
  </pc:docChgLst>
  <pc:docChgLst>
    <pc:chgData name="Cliff Jung [CFS_Process Innovation-OB]" userId="S::cliffih@coupangfs.com::bc861a90-6b73-4216-910a-089a7b8956f2" providerId="AD" clId="Web-{5C9926CD-11A3-E76F-5985-074717AA1E8B}"/>
    <pc:docChg chg="addSld">
      <pc:chgData name="Cliff Jung [CFS_Process Innovation-OB]" userId="S::cliffih@coupangfs.com::bc861a90-6b73-4216-910a-089a7b8956f2" providerId="AD" clId="Web-{5C9926CD-11A3-E76F-5985-074717AA1E8B}" dt="2026-09-01T06:01:30.883" v="1"/>
      <pc:docMkLst>
        <pc:docMk/>
      </pc:docMkLst>
      <pc:sldChg chg="new">
        <pc:chgData name="Cliff Jung [CFS_Process Innovation-OB]" userId="S::cliffih@coupangfs.com::bc861a90-6b73-4216-910a-089a7b8956f2" providerId="AD" clId="Web-{5C9926CD-11A3-E76F-5985-074717AA1E8B}" dt="2026-09-01T06:01:29.180" v="0"/>
        <pc:sldMkLst>
          <pc:docMk/>
          <pc:sldMk cId="1971039174" sldId="294"/>
        </pc:sldMkLst>
      </pc:sldChg>
      <pc:sldChg chg="new">
        <pc:chgData name="Cliff Jung [CFS_Process Innovation-OB]" userId="S::cliffih@coupangfs.com::bc861a90-6b73-4216-910a-089a7b8956f2" providerId="AD" clId="Web-{5C9926CD-11A3-E76F-5985-074717AA1E8B}" dt="2026-09-01T06:01:30.883" v="1"/>
        <pc:sldMkLst>
          <pc:docMk/>
          <pc:sldMk cId="1406353961" sldId="295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태그 방식 (차량 4대 · 인원당 110,000원)</c:v>
                </c:pt>
              </c:strCache>
            </c:strRef>
          </c:tx>
          <c:spPr>
            <a:solidFill>
              <a:srgbClr val="B9770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3명</c:v>
                </c:pt>
                <c:pt idx="1">
                  <c:v>5명</c:v>
                </c:pt>
                <c:pt idx="2">
                  <c:v>10명</c:v>
                </c:pt>
                <c:pt idx="3">
                  <c:v>20명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</c:v>
                </c:pt>
                <c:pt idx="1">
                  <c:v>20</c:v>
                </c:pt>
                <c:pt idx="2">
                  <c:v>40</c:v>
                </c:pt>
                <c:pt idx="3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SafeAlert (앱 설치 · 추가 0원)</c:v>
                </c:pt>
              </c:strCache>
            </c:strRef>
          </c:tx>
          <c:spPr>
            <a:solidFill>
              <a:srgbClr val="1B8A6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3명</c:v>
                </c:pt>
                <c:pt idx="1">
                  <c:v>5명</c:v>
                </c:pt>
                <c:pt idx="2">
                  <c:v>10명</c:v>
                </c:pt>
                <c:pt idx="3">
                  <c:v>20명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21</c:v>
                </c:pt>
                <c:pt idx="1">
                  <c:v>36</c:v>
                </c:pt>
                <c:pt idx="2">
                  <c:v>91</c:v>
                </c:pt>
                <c:pt idx="3">
                  <c:v>276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50" b="1">
                  <a:solidFill>
                    <a:srgbClr val="404040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DE1"/>
            </a:solidFill>
          </a:ln>
        </c:spPr>
        <c:txPr>
          <a:bodyPr/>
          <a:lstStyle/>
          <a:p>
            <a:pPr>
              <a:defRPr sz="850">
                <a:solidFill>
                  <a:srgbClr val="6B7278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6.71999999999997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solidFill>
                <a:srgbClr val="6B7278"/>
              </a:solidFill>
              <a:latin typeface="맑은 고딕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50">
          <a:solidFill>
            <a:srgbClr val="6B7278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12134-25EC-4DEE-8F2A-66631DDA33D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DAF5-DC3A-421B-83F2-9A7B8D7E7B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67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62301-DE04-8D6F-B208-6164813D1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3CD714-A57D-6232-1E8C-F9AECAF12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47E237-24CC-C373-A83E-203CBF7C9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E805D-364E-6F35-65A8-9BEC5A0E9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DAF5-DC3A-421B-83F2-9A7B8D7E7B0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651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DAF5-DC3A-421B-83F2-9A7B8D7E7B0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4932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7AD42501-5EC2-536F-1144-14F7751A523C}"/>
              </a:ext>
            </a:extLst>
          </p:cNvPr>
          <p:cNvSpPr/>
          <p:nvPr userDrawn="1"/>
        </p:nvSpPr>
        <p:spPr>
          <a:xfrm>
            <a:off x="10101945" y="0"/>
            <a:ext cx="2090057" cy="1933600"/>
          </a:xfrm>
          <a:custGeom>
            <a:avLst/>
            <a:gdLst>
              <a:gd name="connsiteX0" fmla="*/ 196429 w 2090057"/>
              <a:gd name="connsiteY0" fmla="*/ 0 h 1933600"/>
              <a:gd name="connsiteX1" fmla="*/ 2090057 w 2090057"/>
              <a:gd name="connsiteY1" fmla="*/ 0 h 1933600"/>
              <a:gd name="connsiteX2" fmla="*/ 2090057 w 2090057"/>
              <a:gd name="connsiteY2" fmla="*/ 1619902 h 1933600"/>
              <a:gd name="connsiteX3" fmla="*/ 2061477 w 2090057"/>
              <a:gd name="connsiteY3" fmla="*/ 1645877 h 1933600"/>
              <a:gd name="connsiteX4" fmla="*/ 1260000 w 2090057"/>
              <a:gd name="connsiteY4" fmla="*/ 1933600 h 1933600"/>
              <a:gd name="connsiteX5" fmla="*/ 0 w 2090057"/>
              <a:gd name="connsiteY5" fmla="*/ 673600 h 1933600"/>
              <a:gd name="connsiteX6" fmla="*/ 152075 w 2090057"/>
              <a:gd name="connsiteY6" fmla="*/ 73009 h 19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0057" h="1933600">
                <a:moveTo>
                  <a:pt x="196429" y="0"/>
                </a:moveTo>
                <a:lnTo>
                  <a:pt x="2090057" y="0"/>
                </a:lnTo>
                <a:lnTo>
                  <a:pt x="2090057" y="1619902"/>
                </a:lnTo>
                <a:lnTo>
                  <a:pt x="2061477" y="1645877"/>
                </a:lnTo>
                <a:cubicBezTo>
                  <a:pt x="1843675" y="1825624"/>
                  <a:pt x="1564447" y="1933600"/>
                  <a:pt x="1260000" y="1933600"/>
                </a:cubicBezTo>
                <a:cubicBezTo>
                  <a:pt x="564121" y="1933600"/>
                  <a:pt x="0" y="1369479"/>
                  <a:pt x="0" y="673600"/>
                </a:cubicBezTo>
                <a:cubicBezTo>
                  <a:pt x="0" y="456138"/>
                  <a:pt x="55090" y="251543"/>
                  <a:pt x="152075" y="73009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B36BE609-CE28-AC4D-39DC-8F809BCD2DB1}"/>
              </a:ext>
            </a:extLst>
          </p:cNvPr>
          <p:cNvSpPr/>
          <p:nvPr userDrawn="1"/>
        </p:nvSpPr>
        <p:spPr>
          <a:xfrm>
            <a:off x="-2065196" y="1233716"/>
            <a:ext cx="10794329" cy="5624284"/>
          </a:xfrm>
          <a:custGeom>
            <a:avLst/>
            <a:gdLst>
              <a:gd name="connsiteX0" fmla="*/ 5394329 w 10794329"/>
              <a:gd name="connsiteY0" fmla="*/ 0 h 5624284"/>
              <a:gd name="connsiteX1" fmla="*/ 10794329 w 10794329"/>
              <a:gd name="connsiteY1" fmla="*/ 5400000 h 5624284"/>
              <a:gd name="connsiteX2" fmla="*/ 10788658 w 10794329"/>
              <a:gd name="connsiteY2" fmla="*/ 5624284 h 5624284"/>
              <a:gd name="connsiteX3" fmla="*/ 0 w 10794329"/>
              <a:gd name="connsiteY3" fmla="*/ 5624284 h 5624284"/>
              <a:gd name="connsiteX4" fmla="*/ 0 w 10794329"/>
              <a:gd name="connsiteY4" fmla="*/ 5624283 h 5624284"/>
              <a:gd name="connsiteX5" fmla="*/ 2065196 w 10794329"/>
              <a:gd name="connsiteY5" fmla="*/ 5624283 h 5624284"/>
              <a:gd name="connsiteX6" fmla="*/ 2065196 w 10794329"/>
              <a:gd name="connsiteY6" fmla="*/ 1149980 h 5624284"/>
              <a:gd name="connsiteX7" fmla="*/ 2163423 w 10794329"/>
              <a:gd name="connsiteY7" fmla="*/ 1072789 h 5624284"/>
              <a:gd name="connsiteX8" fmla="*/ 5394329 w 10794329"/>
              <a:gd name="connsiteY8" fmla="*/ 0 h 562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94329" h="5624284">
                <a:moveTo>
                  <a:pt x="5394329" y="0"/>
                </a:moveTo>
                <a:cubicBezTo>
                  <a:pt x="8376667" y="0"/>
                  <a:pt x="10794329" y="2417662"/>
                  <a:pt x="10794329" y="5400000"/>
                </a:cubicBezTo>
                <a:lnTo>
                  <a:pt x="10788658" y="5624284"/>
                </a:lnTo>
                <a:lnTo>
                  <a:pt x="0" y="5624284"/>
                </a:lnTo>
                <a:lnTo>
                  <a:pt x="0" y="5624283"/>
                </a:lnTo>
                <a:lnTo>
                  <a:pt x="2065196" y="5624283"/>
                </a:lnTo>
                <a:lnTo>
                  <a:pt x="2065196" y="1149980"/>
                </a:lnTo>
                <a:lnTo>
                  <a:pt x="2163423" y="1072789"/>
                </a:lnTo>
                <a:cubicBezTo>
                  <a:pt x="3064373" y="399009"/>
                  <a:pt x="4182754" y="0"/>
                  <a:pt x="539432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01A9635-792F-5E63-4E41-0D294E6FA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686" y="488387"/>
            <a:ext cx="2329533" cy="18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58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BE570533-D184-D8B5-6B38-D273FB0710C7}"/>
              </a:ext>
            </a:extLst>
          </p:cNvPr>
          <p:cNvSpPr/>
          <p:nvPr userDrawn="1"/>
        </p:nvSpPr>
        <p:spPr>
          <a:xfrm>
            <a:off x="10101945" y="0"/>
            <a:ext cx="2090057" cy="1933600"/>
          </a:xfrm>
          <a:custGeom>
            <a:avLst/>
            <a:gdLst>
              <a:gd name="connsiteX0" fmla="*/ 196429 w 2090057"/>
              <a:gd name="connsiteY0" fmla="*/ 0 h 1933600"/>
              <a:gd name="connsiteX1" fmla="*/ 2090057 w 2090057"/>
              <a:gd name="connsiteY1" fmla="*/ 0 h 1933600"/>
              <a:gd name="connsiteX2" fmla="*/ 2090057 w 2090057"/>
              <a:gd name="connsiteY2" fmla="*/ 1619902 h 1933600"/>
              <a:gd name="connsiteX3" fmla="*/ 2061477 w 2090057"/>
              <a:gd name="connsiteY3" fmla="*/ 1645877 h 1933600"/>
              <a:gd name="connsiteX4" fmla="*/ 1260000 w 2090057"/>
              <a:gd name="connsiteY4" fmla="*/ 1933600 h 1933600"/>
              <a:gd name="connsiteX5" fmla="*/ 0 w 2090057"/>
              <a:gd name="connsiteY5" fmla="*/ 673600 h 1933600"/>
              <a:gd name="connsiteX6" fmla="*/ 152075 w 2090057"/>
              <a:gd name="connsiteY6" fmla="*/ 73009 h 19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0057" h="1933600">
                <a:moveTo>
                  <a:pt x="196429" y="0"/>
                </a:moveTo>
                <a:lnTo>
                  <a:pt x="2090057" y="0"/>
                </a:lnTo>
                <a:lnTo>
                  <a:pt x="2090057" y="1619902"/>
                </a:lnTo>
                <a:lnTo>
                  <a:pt x="2061477" y="1645877"/>
                </a:lnTo>
                <a:cubicBezTo>
                  <a:pt x="1843675" y="1825624"/>
                  <a:pt x="1564447" y="1933600"/>
                  <a:pt x="1260000" y="1933600"/>
                </a:cubicBezTo>
                <a:cubicBezTo>
                  <a:pt x="564121" y="1933600"/>
                  <a:pt x="0" y="1369479"/>
                  <a:pt x="0" y="673600"/>
                </a:cubicBezTo>
                <a:cubicBezTo>
                  <a:pt x="0" y="456138"/>
                  <a:pt x="55090" y="251543"/>
                  <a:pt x="152075" y="73009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CB963013-6D73-39A0-C41E-4DDA7DE5E9B8}"/>
              </a:ext>
            </a:extLst>
          </p:cNvPr>
          <p:cNvSpPr/>
          <p:nvPr userDrawn="1"/>
        </p:nvSpPr>
        <p:spPr>
          <a:xfrm>
            <a:off x="-2065196" y="1233716"/>
            <a:ext cx="10794329" cy="5624284"/>
          </a:xfrm>
          <a:custGeom>
            <a:avLst/>
            <a:gdLst>
              <a:gd name="connsiteX0" fmla="*/ 5394329 w 10794329"/>
              <a:gd name="connsiteY0" fmla="*/ 0 h 5624284"/>
              <a:gd name="connsiteX1" fmla="*/ 10794329 w 10794329"/>
              <a:gd name="connsiteY1" fmla="*/ 5400000 h 5624284"/>
              <a:gd name="connsiteX2" fmla="*/ 10788658 w 10794329"/>
              <a:gd name="connsiteY2" fmla="*/ 5624284 h 5624284"/>
              <a:gd name="connsiteX3" fmla="*/ 0 w 10794329"/>
              <a:gd name="connsiteY3" fmla="*/ 5624284 h 5624284"/>
              <a:gd name="connsiteX4" fmla="*/ 0 w 10794329"/>
              <a:gd name="connsiteY4" fmla="*/ 5624283 h 5624284"/>
              <a:gd name="connsiteX5" fmla="*/ 2065196 w 10794329"/>
              <a:gd name="connsiteY5" fmla="*/ 5624283 h 5624284"/>
              <a:gd name="connsiteX6" fmla="*/ 2065196 w 10794329"/>
              <a:gd name="connsiteY6" fmla="*/ 1149980 h 5624284"/>
              <a:gd name="connsiteX7" fmla="*/ 2163423 w 10794329"/>
              <a:gd name="connsiteY7" fmla="*/ 1072789 h 5624284"/>
              <a:gd name="connsiteX8" fmla="*/ 5394329 w 10794329"/>
              <a:gd name="connsiteY8" fmla="*/ 0 h 562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94329" h="5624284">
                <a:moveTo>
                  <a:pt x="5394329" y="0"/>
                </a:moveTo>
                <a:cubicBezTo>
                  <a:pt x="8376667" y="0"/>
                  <a:pt x="10794329" y="2417662"/>
                  <a:pt x="10794329" y="5400000"/>
                </a:cubicBezTo>
                <a:lnTo>
                  <a:pt x="10788658" y="5624284"/>
                </a:lnTo>
                <a:lnTo>
                  <a:pt x="0" y="5624284"/>
                </a:lnTo>
                <a:lnTo>
                  <a:pt x="0" y="5624283"/>
                </a:lnTo>
                <a:lnTo>
                  <a:pt x="2065196" y="5624283"/>
                </a:lnTo>
                <a:lnTo>
                  <a:pt x="2065196" y="1149980"/>
                </a:lnTo>
                <a:lnTo>
                  <a:pt x="2163423" y="1072789"/>
                </a:lnTo>
                <a:cubicBezTo>
                  <a:pt x="3064373" y="399009"/>
                  <a:pt x="4182754" y="0"/>
                  <a:pt x="539432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11531D1-090E-8E1E-E9A9-FE4D8D9C28EC}"/>
              </a:ext>
            </a:extLst>
          </p:cNvPr>
          <p:cNvSpPr/>
          <p:nvPr userDrawn="1"/>
        </p:nvSpPr>
        <p:spPr>
          <a:xfrm>
            <a:off x="353786" y="281415"/>
            <a:ext cx="11484428" cy="6295170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B526C25-795D-8C99-D668-9B12303EFDBC}"/>
              </a:ext>
            </a:extLst>
          </p:cNvPr>
          <p:cNvGrpSpPr/>
          <p:nvPr userDrawn="1"/>
        </p:nvGrpSpPr>
        <p:grpSpPr>
          <a:xfrm>
            <a:off x="529781" y="488387"/>
            <a:ext cx="11132438" cy="185213"/>
            <a:chOff x="529781" y="604499"/>
            <a:chExt cx="11132438" cy="185213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D014558-4CCA-6439-59D7-C7E84067A7C7}"/>
                </a:ext>
              </a:extLst>
            </p:cNvPr>
            <p:cNvCxnSpPr>
              <a:cxnSpLocks/>
            </p:cNvCxnSpPr>
            <p:nvPr/>
          </p:nvCxnSpPr>
          <p:spPr>
            <a:xfrm>
              <a:off x="529781" y="697105"/>
              <a:ext cx="8614219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111D7E1-14B8-E4E7-4FFF-C84736E4C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2686" y="604499"/>
              <a:ext cx="2329533" cy="1852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4316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63392-F6A8-9CD8-29BD-8FD8B2ABA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A8F5EF-1E72-E16E-27F5-72373FB21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218549-270D-AB5D-9BC2-AFAE11CF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3612F-BD47-3A44-D025-029C04E1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AE15DA-8989-879F-11D5-32546370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59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5645B-051A-27A0-D19C-973BC6CB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2C421-4B8A-F5A3-D6B3-CDCB6C523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AEBD18-9F2C-B829-7BB2-93AF069A1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DB5C56-0C98-8BC8-3FC7-363BD76DE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D1E752-910C-6068-116C-D0AC0570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598350-B4F6-2E66-796C-6F0532499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18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24BBE-9A45-C3D8-817D-BEFB11B4D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AFB20-4B2C-A076-17A2-93B190456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0853BB-F2E9-CD0B-DEC8-1C45A3BD4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3BA8E7-7E94-5837-0ABB-4D0454798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63D6E1-3072-EC55-E49F-234697C4A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3495ED-5368-71B6-1086-3421F9E9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926259-A0C2-FCBB-CD0F-72E3190A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F6A3B9-B002-25D9-32AF-4BDAB3A0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93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B9980-2193-0E49-0426-0A441484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6DEC8E-9E52-1CD1-D75B-EB3C7A85C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93F32E-E29E-5F7C-7175-183060FF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EEB259-BBBF-97BE-3896-94EE20973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23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9169E696-C0BE-D39F-67BB-321E4E6687D7}"/>
              </a:ext>
            </a:extLst>
          </p:cNvPr>
          <p:cNvSpPr/>
          <p:nvPr userDrawn="1"/>
        </p:nvSpPr>
        <p:spPr>
          <a:xfrm>
            <a:off x="10101945" y="0"/>
            <a:ext cx="2090057" cy="1933600"/>
          </a:xfrm>
          <a:custGeom>
            <a:avLst/>
            <a:gdLst>
              <a:gd name="connsiteX0" fmla="*/ 196429 w 2090057"/>
              <a:gd name="connsiteY0" fmla="*/ 0 h 1933600"/>
              <a:gd name="connsiteX1" fmla="*/ 2090057 w 2090057"/>
              <a:gd name="connsiteY1" fmla="*/ 0 h 1933600"/>
              <a:gd name="connsiteX2" fmla="*/ 2090057 w 2090057"/>
              <a:gd name="connsiteY2" fmla="*/ 1619902 h 1933600"/>
              <a:gd name="connsiteX3" fmla="*/ 2061477 w 2090057"/>
              <a:gd name="connsiteY3" fmla="*/ 1645877 h 1933600"/>
              <a:gd name="connsiteX4" fmla="*/ 1260000 w 2090057"/>
              <a:gd name="connsiteY4" fmla="*/ 1933600 h 1933600"/>
              <a:gd name="connsiteX5" fmla="*/ 0 w 2090057"/>
              <a:gd name="connsiteY5" fmla="*/ 673600 h 1933600"/>
              <a:gd name="connsiteX6" fmla="*/ 152075 w 2090057"/>
              <a:gd name="connsiteY6" fmla="*/ 73009 h 19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0057" h="1933600">
                <a:moveTo>
                  <a:pt x="196429" y="0"/>
                </a:moveTo>
                <a:lnTo>
                  <a:pt x="2090057" y="0"/>
                </a:lnTo>
                <a:lnTo>
                  <a:pt x="2090057" y="1619902"/>
                </a:lnTo>
                <a:lnTo>
                  <a:pt x="2061477" y="1645877"/>
                </a:lnTo>
                <a:cubicBezTo>
                  <a:pt x="1843675" y="1825624"/>
                  <a:pt x="1564447" y="1933600"/>
                  <a:pt x="1260000" y="1933600"/>
                </a:cubicBezTo>
                <a:cubicBezTo>
                  <a:pt x="564121" y="1933600"/>
                  <a:pt x="0" y="1369479"/>
                  <a:pt x="0" y="673600"/>
                </a:cubicBezTo>
                <a:cubicBezTo>
                  <a:pt x="0" y="456138"/>
                  <a:pt x="55090" y="251543"/>
                  <a:pt x="152075" y="73009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B1DA3A-4026-653E-85DC-F36BFE97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7E0C9B-6B1B-6161-A052-4674F139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FC556-17ED-919B-FD65-3755BE9A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E13428E-0ADE-F102-F43E-B62039E6411E}"/>
              </a:ext>
            </a:extLst>
          </p:cNvPr>
          <p:cNvSpPr/>
          <p:nvPr userDrawn="1"/>
        </p:nvSpPr>
        <p:spPr>
          <a:xfrm>
            <a:off x="-2065196" y="1233716"/>
            <a:ext cx="10794329" cy="5624284"/>
          </a:xfrm>
          <a:custGeom>
            <a:avLst/>
            <a:gdLst>
              <a:gd name="connsiteX0" fmla="*/ 5394329 w 10794329"/>
              <a:gd name="connsiteY0" fmla="*/ 0 h 5624284"/>
              <a:gd name="connsiteX1" fmla="*/ 10794329 w 10794329"/>
              <a:gd name="connsiteY1" fmla="*/ 5400000 h 5624284"/>
              <a:gd name="connsiteX2" fmla="*/ 10788658 w 10794329"/>
              <a:gd name="connsiteY2" fmla="*/ 5624284 h 5624284"/>
              <a:gd name="connsiteX3" fmla="*/ 0 w 10794329"/>
              <a:gd name="connsiteY3" fmla="*/ 5624284 h 5624284"/>
              <a:gd name="connsiteX4" fmla="*/ 0 w 10794329"/>
              <a:gd name="connsiteY4" fmla="*/ 5624283 h 5624284"/>
              <a:gd name="connsiteX5" fmla="*/ 2065196 w 10794329"/>
              <a:gd name="connsiteY5" fmla="*/ 5624283 h 5624284"/>
              <a:gd name="connsiteX6" fmla="*/ 2065196 w 10794329"/>
              <a:gd name="connsiteY6" fmla="*/ 1149980 h 5624284"/>
              <a:gd name="connsiteX7" fmla="*/ 2163423 w 10794329"/>
              <a:gd name="connsiteY7" fmla="*/ 1072789 h 5624284"/>
              <a:gd name="connsiteX8" fmla="*/ 5394329 w 10794329"/>
              <a:gd name="connsiteY8" fmla="*/ 0 h 562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94329" h="5624284">
                <a:moveTo>
                  <a:pt x="5394329" y="0"/>
                </a:moveTo>
                <a:cubicBezTo>
                  <a:pt x="8376667" y="0"/>
                  <a:pt x="10794329" y="2417662"/>
                  <a:pt x="10794329" y="5400000"/>
                </a:cubicBezTo>
                <a:lnTo>
                  <a:pt x="10788658" y="5624284"/>
                </a:lnTo>
                <a:lnTo>
                  <a:pt x="0" y="5624284"/>
                </a:lnTo>
                <a:lnTo>
                  <a:pt x="0" y="5624283"/>
                </a:lnTo>
                <a:lnTo>
                  <a:pt x="2065196" y="5624283"/>
                </a:lnTo>
                <a:lnTo>
                  <a:pt x="2065196" y="1149980"/>
                </a:lnTo>
                <a:lnTo>
                  <a:pt x="2163423" y="1072789"/>
                </a:lnTo>
                <a:cubicBezTo>
                  <a:pt x="3064373" y="399009"/>
                  <a:pt x="4182754" y="0"/>
                  <a:pt x="539432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ED9378D-D234-5E96-0781-1E1AF23C2D77}"/>
              </a:ext>
            </a:extLst>
          </p:cNvPr>
          <p:cNvSpPr/>
          <p:nvPr userDrawn="1"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21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1737B-B4E8-DC4D-4306-926D08C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6B2FA5-A62B-B6C2-2F0A-A4C1E114A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FEB6B9-B7E1-069B-F63C-34BAEDB01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54277B-C478-8A54-5115-B00CB8DFD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ECAA16-17CB-2931-6B12-122C6643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B0BE53-D9AD-89A6-0144-8AFD3ACD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4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CB554-A751-0A6E-008B-6EE4D0123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8AC1F4-BC4D-46FA-8CD2-923C781C5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D1BA31-65B6-B6D9-1BCA-C5BECB847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DCF5CC-22E5-F08B-0DE9-CBAE07A7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83D0B3-3B87-4DEA-1F44-7AAA3EA4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65F8C7-1B65-DD2D-D5EF-09C69987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63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A20B0-C15B-5402-677A-F12CC387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AAAB76-EAA0-B094-A8FB-570EAEA12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D1CE63-F17B-0630-8813-B875A613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1F34BA-8238-D8AB-D1EB-74B2B275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1C5638-B8E6-071E-BAE1-F7B98DD0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229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FEAB57-8134-511A-8E3B-B89F33CE6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ACDF7F-7A05-5C3D-CC2C-5B97DE3C7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32EE1-4486-544C-B4BD-8E175EBA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6633FB-804F-66DA-1F89-9E3D81EE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E201D9-E79D-02B2-E1F6-521C68C3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3940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31CF50-1054-3836-0A47-3548C5EE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A8BB6F-3ED0-86D4-EBB4-9C8184256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FBF48-36EC-5A0D-A95C-E198DBF50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12FB4-5B6B-486D-8479-4F9706477B6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59F595-45E4-AC43-763E-E4CB1D252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16474-59CA-FA9D-7DD4-16C82798E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B699-055E-4401-B665-6C83AE5231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82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5394F2F-E2D3-82B9-0B27-78F58B1D5BD5}"/>
              </a:ext>
            </a:extLst>
          </p:cNvPr>
          <p:cNvSpPr/>
          <p:nvPr/>
        </p:nvSpPr>
        <p:spPr>
          <a:xfrm>
            <a:off x="1594958" y="5920085"/>
            <a:ext cx="2704496" cy="420914"/>
          </a:xfrm>
          <a:prstGeom prst="roundRect">
            <a:avLst>
              <a:gd name="adj" fmla="val 274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0" bIns="73152"/>
          <a:lstStyle/>
          <a:p>
            <a:pPr algn="ctr">
              <a:lnSpc>
                <a:spcPct val="125000"/>
              </a:lnSpc>
            </a:pPr>
            <a:r>
              <a:rPr sz="12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WF11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D7A96A4-EF36-6A3D-8E7E-82336CA6A29D}"/>
              </a:ext>
            </a:extLst>
          </p:cNvPr>
          <p:cNvSpPr/>
          <p:nvPr/>
        </p:nvSpPr>
        <p:spPr>
          <a:xfrm>
            <a:off x="5341255" y="5920085"/>
            <a:ext cx="2704496" cy="420914"/>
          </a:xfrm>
          <a:prstGeom prst="roundRect">
            <a:avLst>
              <a:gd name="adj" fmla="val 274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0" bIns="73152"/>
          <a:lstStyle/>
          <a:p>
            <a:pPr algn="ctr">
              <a:lnSpc>
                <a:spcPct val="125000"/>
              </a:lnSpc>
            </a:pPr>
            <a:r>
              <a:rPr sz="12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Ian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EF85A67-D0FC-775A-01DD-E84C08ACA1DE}"/>
              </a:ext>
            </a:extLst>
          </p:cNvPr>
          <p:cNvSpPr/>
          <p:nvPr/>
        </p:nvSpPr>
        <p:spPr>
          <a:xfrm>
            <a:off x="624114" y="5920085"/>
            <a:ext cx="899886" cy="420914"/>
          </a:xfrm>
          <a:prstGeom prst="roundRect">
            <a:avLst>
              <a:gd name="adj" fmla="val 27478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Region / FC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3151F05-31D3-7AB8-10A1-CA1B1FA6240D}"/>
              </a:ext>
            </a:extLst>
          </p:cNvPr>
          <p:cNvSpPr/>
          <p:nvPr/>
        </p:nvSpPr>
        <p:spPr>
          <a:xfrm>
            <a:off x="4370412" y="5920085"/>
            <a:ext cx="899886" cy="420914"/>
          </a:xfrm>
          <a:prstGeom prst="roundRect">
            <a:avLst>
              <a:gd name="adj" fmla="val 27478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Nickname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7756C3-89E1-07DC-D1AB-78E608C545C1}"/>
              </a:ext>
            </a:extLst>
          </p:cNvPr>
          <p:cNvSpPr txBox="1"/>
          <p:nvPr/>
        </p:nvSpPr>
        <p:spPr>
          <a:xfrm>
            <a:off x="590550" y="4075133"/>
            <a:ext cx="6102953" cy="830997"/>
          </a:xfrm>
          <a:prstGeom prst="rect">
            <a:avLst/>
          </a:prstGeom>
          <a:noFill/>
        </p:spPr>
        <p:txBody>
          <a:bodyPr wrap="square" lIns="18288" tIns="91440" rIns="18288" bIns="73152" rtlCol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지게차 · EPJ · 보행자 사각지대 접근 경보</a:t>
            </a:r>
            <a:endParaRPr kumimoji="0" lang="ko-KR" altLang="en-US" sz="4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맑은 고딕" panose="020B0503020000020004" pitchFamily="50" charset="-127"/>
            </a:endParaRPr>
          </a:p>
          <a:p>
            <a:pPr algn="l">
              <a:lnSpc>
                <a:spcPct val="125000"/>
              </a:lnSpc>
            </a:pPr>
            <a:r>
              <a:rPr sz="12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— 지급된 단말끼리 BLE 로 서로를 감지하는 앱 (SafeAlert)</a:t>
            </a:r>
          </a:p>
        </p:txBody>
      </p:sp>
    </p:spTree>
    <p:extLst>
      <p:ext uri="{BB962C8B-B14F-4D97-AF65-F5344CB8AC3E}">
        <p14:creationId xmlns:p14="http://schemas.microsoft.com/office/powerpoint/2010/main" val="347625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8B74D6B8-1B56-F83C-C646-E8ED34853DA7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Feedback Loop</a:t>
            </a:r>
            <a:endParaRPr lang="ko-KR" altLang="en-US" sz="1100">
              <a:solidFill>
                <a:schemeClr val="tx1">
                  <a:lumMod val="50000"/>
                  <a:lumOff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131C03CD-41F1-C398-9054-4215B06640FC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Andon</a:t>
            </a:r>
            <a:endParaRPr lang="ko-KR" altLang="en-US" sz="1100">
              <a:solidFill>
                <a:schemeClr val="tx1">
                  <a:lumMod val="50000"/>
                  <a:lumOff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6CF68896-BE54-40C4-6FD6-3416B5828141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Metrics</a:t>
            </a:r>
            <a:endParaRPr lang="ko-KR" altLang="en-US" sz="1100">
              <a:solidFill>
                <a:schemeClr val="tx1">
                  <a:lumMod val="50000"/>
                  <a:lumOff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B2306938-CF23-A0A2-9B9D-195712E47513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Solution</a:t>
            </a:r>
            <a:endParaRPr lang="ko-KR" altLang="en-US" sz="1100">
              <a:solidFill>
                <a:schemeClr val="tx1">
                  <a:lumMod val="50000"/>
                  <a:lumOff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A6B1A60A-3AF2-4956-CC61-2727BFFF81BD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Benchmark</a:t>
            </a:r>
            <a:endParaRPr lang="ko-KR" altLang="en-US" sz="1100">
              <a:solidFill>
                <a:schemeClr val="tx1">
                  <a:lumMod val="50000"/>
                  <a:lumOff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8C826FB2-B110-FBF3-3357-5A26AB63EF24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Tradeoffs</a:t>
            </a:r>
            <a:endParaRPr lang="ko-KR" altLang="en-US" sz="1100">
              <a:solidFill>
                <a:schemeClr val="tx1">
                  <a:lumMod val="50000"/>
                  <a:lumOff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D240C5F3-80B6-D7F8-482C-060C14B07BD0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Problem Statement</a:t>
            </a:r>
            <a:endParaRPr lang="ko-KR" altLang="en-US" sz="1100">
              <a:solidFill>
                <a:schemeClr val="tx1">
                  <a:lumMod val="50000"/>
                  <a:lumOff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B8A6845-5340-A3DC-52CA-1C75BA0FE0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9C25DAA-425D-5767-0CFD-75B709EEA099}"/>
              </a:ext>
            </a:extLst>
          </p:cNvPr>
          <p:cNvSpPr/>
          <p:nvPr/>
        </p:nvSpPr>
        <p:spPr>
          <a:xfrm>
            <a:off x="1689522" y="1929185"/>
            <a:ext cx="8708572" cy="1097442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91440" rIns="274320" bIns="73152" rtlCol="0" anchor="ctr" wrap="square"/>
          <a:lstStyle/>
          <a:p>
            <a:pPr algn="l">
              <a:lnSpc>
                <a:spcPct val="135000"/>
              </a:lnSpc>
            </a:pPr>
            <a:r>
              <a:rPr sz="1500" b="1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1.  </a:t>
            </a:r>
            <a:r>
              <a:rPr sz="15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I-PAS 가 못 보는 조합을, 이미 지급된 단말이 본다</a:t>
            </a:r>
            <a:endParaRPr lang="ko-KR" altLang="en-US" sz="210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보행자끼리 · EPJ · 미장착 장비 — 태그를 사지 않고 덮는다.  추가 하드웨어 0원.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BC331D8-FDEB-2B6F-8351-157CB193AF77}"/>
              </a:ext>
            </a:extLst>
          </p:cNvPr>
          <p:cNvSpPr/>
          <p:nvPr/>
        </p:nvSpPr>
        <p:spPr>
          <a:xfrm>
            <a:off x="1687926" y="4747786"/>
            <a:ext cx="8708572" cy="1097442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91440" rIns="274320" bIns="73152" rtlCol="0" anchor="ctr" wrap="square"/>
          <a:lstStyle/>
          <a:p>
            <a:pPr algn="l">
              <a:lnSpc>
                <a:spcPct val="135000"/>
              </a:lnSpc>
            </a:pPr>
            <a:r>
              <a:rPr sz="1500" b="1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3.  </a:t>
            </a:r>
            <a:r>
              <a:rPr sz="15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태그는 인원에 비례해 늘고, 앱은 제곱으로 는다</a:t>
            </a:r>
            <a:endParaRPr lang="en-US" altLang="ko-KR" sz="2100">
              <a:solidFill>
                <a:schemeClr val="tx1"/>
              </a:solidFill>
              <a:latin typeface="Microsoft GothicNeo"/>
              <a:ea typeface="Microsoft GothicNeo"/>
              <a:cs typeface="Microsoft GothicNeo"/>
            </a:endParaRP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현장 20명 기준 태그 80쌍 vs 앱 276쌍.  대상이 늘어도 추가 구매가 없다.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AAE395-54D8-5897-F888-F2F0F37E41A4}"/>
              </a:ext>
            </a:extLst>
          </p:cNvPr>
          <p:cNvSpPr txBox="1"/>
          <p:nvPr/>
        </p:nvSpPr>
        <p:spPr>
          <a:xfrm>
            <a:off x="703941" y="1184287"/>
            <a:ext cx="58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01.</a:t>
            </a:r>
            <a:endParaRPr lang="ko-KR" altLang="en-US" sz="200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C6C2F7-10F0-E1D0-B611-A234F258519C}"/>
              </a:ext>
            </a:extLst>
          </p:cNvPr>
          <p:cNvSpPr txBox="1"/>
          <p:nvPr/>
        </p:nvSpPr>
        <p:spPr>
          <a:xfrm>
            <a:off x="703941" y="1553619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결론</a:t>
            </a:r>
          </a:p>
        </p:txBody>
      </p:sp>
      <p:sp>
        <p:nvSpPr>
          <p:cNvPr id="2" name="사각형: 둥근 모서리 19">
            <a:extLst>
              <a:ext uri="{FF2B5EF4-FFF2-40B4-BE49-F238E27FC236}">
                <a16:creationId xmlns:a16="http://schemas.microsoft.com/office/drawing/2014/main" id="{A74CAE25-43BC-5204-0AA6-C2F3F3011115}"/>
              </a:ext>
            </a:extLst>
          </p:cNvPr>
          <p:cNvSpPr/>
          <p:nvPr/>
        </p:nvSpPr>
        <p:spPr>
          <a:xfrm>
            <a:off x="1687926" y="3317730"/>
            <a:ext cx="8708572" cy="1097442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91440" rIns="274320" bIns="73152" rtlCol="0" anchor="ctr" wrap="square"/>
          <a:lstStyle/>
          <a:p>
            <a:pPr algn="l">
              <a:lnSpc>
                <a:spcPct val="135000"/>
              </a:lnSpc>
            </a:pPr>
            <a:r>
              <a:rPr sz="1500" b="1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2.  </a:t>
            </a:r>
            <a:r>
              <a:rPr sz="15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제안이 아니라 이미 돌고 있다</a:t>
            </a:r>
            <a:endParaRPr lang="ko-KR" sz="2100">
              <a:solidFill>
                <a:schemeClr val="tx1"/>
              </a:solidFill>
              <a:latin typeface="Microsoft GothicNeo"/>
              <a:ea typeface="Microsoft GothicNeo"/>
              <a:cs typeface="Microsoft GothicNeo"/>
            </a:endParaRP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v1.0.1 → v1.1.70, 3개월 70회+ 배포.  WF11 · WF21 · WF25 에서 실사용 중.</a:t>
            </a:r>
          </a:p>
        </p:txBody>
      </p:sp>
    </p:spTree>
    <p:extLst>
      <p:ext uri="{BB962C8B-B14F-4D97-AF65-F5344CB8AC3E}">
        <p14:creationId xmlns:p14="http://schemas.microsoft.com/office/powerpoint/2010/main" val="341781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38A7B-0BDF-08D4-0C43-01EA51BE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15CA0ECD-6435-9BC3-6B9E-DDBDC12E8D2A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FAA26E14-731F-5390-CB44-107FE336271E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85863F82-7427-BAC8-98C9-053CAD00A542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B2AA5870-0753-19EF-9FB0-6D3F7321DB65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B39BCA1E-C0B3-D387-F459-485EF0C15C88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45D84629-4A39-C20B-DA0E-A87D63C04750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CB5B37C3-047C-8EB6-8653-F5C8E5A11FC7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2A1A547-8092-38A1-67DA-F2E054C37D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6FAC12-5EF9-A4D5-CC94-FA44D4B7A84B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48C4E-2501-23D4-CE08-82F0BE6DC80D}"/>
              </a:ext>
            </a:extLst>
          </p:cNvPr>
          <p:cNvSpPr txBox="1"/>
          <p:nvPr/>
        </p:nvSpPr>
        <p:spPr>
          <a:xfrm>
            <a:off x="703941" y="1553619"/>
            <a:ext cx="1581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Summary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C5F208C-7AF7-113E-5DAC-DA1726BD4F7A}"/>
              </a:ext>
            </a:extLst>
          </p:cNvPr>
          <p:cNvGrpSpPr/>
          <p:nvPr/>
        </p:nvGrpSpPr>
        <p:grpSpPr>
          <a:xfrm>
            <a:off x="703940" y="2173041"/>
            <a:ext cx="4862359" cy="1255960"/>
            <a:chOff x="703941" y="2173041"/>
            <a:chExt cx="4468430" cy="125596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EDB62EE-88AA-0D98-4EF5-5F62A4BF5833}"/>
                </a:ext>
              </a:extLst>
            </p:cNvPr>
            <p:cNvSpPr/>
            <p:nvPr/>
          </p:nvSpPr>
          <p:spPr>
            <a:xfrm>
              <a:off x="703941" y="2173041"/>
              <a:ext cx="4468430" cy="1255960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365760" rIns="182880" bIns="73152" rtlCol="0" anchor="t" wrap="square"/>
            <a:lstStyle/>
            <a:p>
              <a:pPr algn="l">
                <a:lnSpc>
                  <a:spcPct val="130000"/>
                </a:lnSpc>
              </a:pP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I-PAS 는 태그를 단 장비 · 인원만 덮는다. 보행자끼리 · EPJ · 미장착 장비 구간에는 감지도 알림도 없어, 적재 파렛트에 시야가 가리고 소음에 경적이 묻히는 교차 구간이 주의력에만 맡겨져 있다.</a:t>
              </a:r>
              <a:endParaRPr lang="ko-KR" altLang="en-US" sz="1200">
                <a:solidFill>
                  <a:srgbClr val="404040"/>
                </a:solidFill>
                <a:ea typeface="+mn-lt"/>
                <a:cs typeface="+mn-lt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FC47DC15-D4C2-6D8C-DCFF-CA8C3CB946DC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Background</a:t>
              </a:r>
              <a:endPara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A9817B9-79F2-B90B-E3F7-081C113F62BD}"/>
              </a:ext>
            </a:extLst>
          </p:cNvPr>
          <p:cNvGrpSpPr/>
          <p:nvPr/>
        </p:nvGrpSpPr>
        <p:grpSpPr>
          <a:xfrm>
            <a:off x="695325" y="3504472"/>
            <a:ext cx="4862359" cy="2840766"/>
            <a:chOff x="703941" y="2173041"/>
            <a:chExt cx="4468430" cy="2840766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CFD98441-2412-577A-EB81-96F70A5D6EFB}"/>
                </a:ext>
              </a:extLst>
            </p:cNvPr>
            <p:cNvSpPr/>
            <p:nvPr/>
          </p:nvSpPr>
          <p:spPr>
            <a:xfrm>
              <a:off x="703941" y="2173041"/>
              <a:ext cx="4468430" cy="2840766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182880" rIns="182880" tIns="365760" bIns="73152"/>
            <a:lstStyle/>
            <a:p>
              <a:pPr algn="l">
                <a:lnSpc>
                  <a:spcPct val="130000"/>
                </a:lnSpc>
              </a:pPr>
              <a:r>
                <a:rPr sz="1150" b="1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이미 지급된 단말에 앱을 설치해 BLE 로 서로를 감지한다.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500"/>
                </a:spcBef>
              </a:pPr>
              <a:r>
                <a:rPr sz="1000" b="0" i="0" u="none">
                  <a:solidFill>
                    <a:srgbClr val="6B7278"/>
                  </a:solidFill>
                  <a:latin typeface="맑은 고딕"/>
                  <a:ea typeface="맑은 고딕"/>
                  <a:cs typeface="맑은 고딕"/>
                </a:rPr>
                <a:t>앵커 · 배선 · 서버가 없다. 착용할 태그도 없다.</a:t>
              </a:r>
            </a:p>
            <a:p>
              <a:pPr algn="l">
                <a:lnSpc>
                  <a:spcPct val="130000"/>
                </a:lnSpc>
                <a:spcBef>
                  <a:spcPts val="500"/>
                </a:spcBef>
              </a:pPr>
              <a:r>
                <a:rPr sz="110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신호 수신  →  거리 추정  →  등급 판정  →  3중 경보</a:t>
              </a:r>
            </a:p>
            <a:p>
              <a:pPr algn="l">
                <a:lnSpc>
                  <a:spcPct val="130000"/>
                </a:lnSpc>
                <a:spcBef>
                  <a:spcPts val="500"/>
                </a:spcBef>
              </a:pPr>
              <a:r>
                <a:rPr sz="900" b="0" i="1" u="none">
                  <a:solidFill>
                    <a:srgbClr val="9AA0A6"/>
                  </a:solidFill>
                  <a:latin typeface="맑은 고딕"/>
                  <a:ea typeface="맑은 고딕"/>
                  <a:cs typeface="맑은 고딕"/>
                </a:rPr>
                <a:t>BLE 광고  →  3단 필터  →  상태머신  →  소리 · 진동 · 화면</a:t>
              </a:r>
            </a:p>
            <a:p>
              <a:pPr algn="l">
                <a:lnSpc>
                  <a:spcPct val="130000"/>
                </a:lnSpc>
                <a:spcBef>
                  <a:spcPts val="500"/>
                </a:spcBef>
              </a:pPr>
              <a:r>
                <a:rPr sz="10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판정 반경 — 지게차가 낀 조합 경고 15m / 위험 8m,  그 밖의 조합 5m / 3m.</a:t>
              </a:r>
            </a:p>
            <a:p>
              <a:pPr algn="l">
                <a:lnSpc>
                  <a:spcPct val="130000"/>
                </a:lnSpc>
                <a:spcBef>
                  <a:spcPts val="500"/>
                </a:spcBef>
              </a:pPr>
              <a:r>
                <a:rPr sz="1000" b="0" i="0" u="none">
                  <a:solidFill>
                    <a:srgbClr val="C0392B"/>
                  </a:solidFill>
                  <a:latin typeface="맑은 고딕"/>
                  <a:ea typeface="맑은 고딕"/>
                  <a:cs typeface="맑은 고딕"/>
                </a:rPr>
                <a:t>장비 정지는 하지 않는다. 3m 자동 셧다운은 I-PAS EOD 가 그대로 맡는다.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DA23A4E-EA23-B42F-DCEC-6DAB8AD10A62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Solution</a:t>
              </a:r>
              <a:endPara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BBC8470-BF25-9607-7D28-3240CB222578}"/>
              </a:ext>
            </a:extLst>
          </p:cNvPr>
          <p:cNvGrpSpPr/>
          <p:nvPr/>
        </p:nvGrpSpPr>
        <p:grpSpPr>
          <a:xfrm>
            <a:off x="5760174" y="2173040"/>
            <a:ext cx="5736500" cy="4172197"/>
            <a:chOff x="703941" y="2173040"/>
            <a:chExt cx="5271752" cy="4172197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ACF0092F-1E9F-84E9-BC7A-26C12BF876E9}"/>
                </a:ext>
              </a:extLst>
            </p:cNvPr>
            <p:cNvSpPr/>
            <p:nvPr/>
          </p:nvSpPr>
          <p:spPr>
            <a:xfrm>
              <a:off x="703941" y="2173040"/>
              <a:ext cx="5271752" cy="4172197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18288" rIns="18288" tIns="91440" bIns="73152"/>
            <a:lstStyle/>
            <a:p>
              <a:pPr algn="l">
                <a:lnSpc>
                  <a:spcPct val="125000"/>
                </a:lnSpc>
              </a:pPr>
              <a:r>
                <a:rPr sz="11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/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BBA688A-ECC0-F043-B9B9-0B57AF642DCC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Result</a:t>
              </a:r>
              <a:endPara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980176" y="2651760"/>
            <a:ext cx="5294375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덮이는 접근 조합 — 현장 인원이 늘 때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888736" y="2907791"/>
          <a:ext cx="5477255" cy="17556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980176" y="4791456"/>
            <a:ext cx="5294375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1교대(9시간) 접근 조우 추정</a:t>
            </a:r>
            <a:r>
              <a:rPr sz="850" b="0" i="0" u="sng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   밑줄 = 추정치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5047488"/>
            <a:ext cx="2578608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035040" y="5148072"/>
            <a:ext cx="50292" cy="694944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81344" y="5111496"/>
            <a:ext cx="221284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050" b="1" i="0" u="none">
                <a:solidFill>
                  <a:srgbClr val="B9770B"/>
                </a:solidFill>
                <a:latin typeface="맑은 고딕"/>
                <a:ea typeface="맑은 고딕"/>
                <a:cs typeface="맑은 고딕"/>
              </a:rPr>
              <a:t>경고 반경 15m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5303520"/>
            <a:ext cx="221284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Firebase 경보 이력 집계 예정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5669280"/>
            <a:ext cx="2212848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u="sng">
                <a:solidFill>
                  <a:srgbClr val="B9770B"/>
                </a:solidFill>
                <a:latin typeface="맑은 고딕"/>
                <a:ea typeface="맑은 고딕"/>
                <a:cs typeface="맑은 고딕"/>
              </a:rPr>
              <a:t>95회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68512" y="5047488"/>
            <a:ext cx="2578608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759952" y="5148072"/>
            <a:ext cx="50292" cy="6949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906256" y="5111496"/>
            <a:ext cx="221284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050" b="1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위험 반경 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5303520"/>
            <a:ext cx="221284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Firebase 경보 이력 집계 예정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669280"/>
            <a:ext cx="2212848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u="sng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27회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0176" y="6053328"/>
            <a:ext cx="5294375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산출 근거 12장 · 가정값은 ‘쌍당 시간당 0.5회’ 하나뿐이다</a:t>
            </a:r>
          </a:p>
        </p:txBody>
      </p:sp>
    </p:spTree>
    <p:extLst>
      <p:ext uri="{BB962C8B-B14F-4D97-AF65-F5344CB8AC3E}">
        <p14:creationId xmlns:p14="http://schemas.microsoft.com/office/powerpoint/2010/main" val="5456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8B74D6B8-1B56-F83C-C646-E8ED34853DA7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131C03CD-41F1-C398-9054-4215B06640FC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6CF68896-BE54-40C4-6FD6-3416B5828141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B2306938-CF23-A0A2-9B9D-195712E47513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A6B1A60A-3AF2-4956-CC61-2727BFFF81BD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8C826FB2-B110-FBF3-3357-5A26AB63EF24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D240C5F3-80B6-D7F8-482C-060C14B07BD0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B8A6845-5340-A3DC-52CA-1C75BA0FE0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AAE395-54D8-5897-F888-F2F0F37E41A4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맑은 고딕" panose="020B0503020000020004" pitchFamily="50" charset="-127"/>
              </a:rPr>
              <a:t>01.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C6C2F7-10F0-E1D0-B611-A234F258519C}"/>
              </a:ext>
            </a:extLst>
          </p:cNvPr>
          <p:cNvSpPr txBox="1"/>
          <p:nvPr/>
        </p:nvSpPr>
        <p:spPr>
          <a:xfrm>
            <a:off x="703941" y="1553619"/>
            <a:ext cx="1581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anose="020B0503020000020004" pitchFamily="50" charset="-127"/>
              </a:rPr>
              <a:t>Summary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B228495-0EDB-9D35-705F-4EE4BA7809EF}"/>
              </a:ext>
            </a:extLst>
          </p:cNvPr>
          <p:cNvSpPr/>
          <p:nvPr/>
        </p:nvSpPr>
        <p:spPr>
          <a:xfrm>
            <a:off x="712557" y="2164947"/>
            <a:ext cx="10784118" cy="4180291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0" bIns="73152"/>
          <a:lstStyle/>
          <a:p>
            <a:pPr algn="l">
              <a:lnSpc>
                <a:spcPct val="125000"/>
              </a:lnSpc>
            </a:pPr>
            <a:r>
              <a:rPr sz="11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340864"/>
            <a:ext cx="1042416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무엇이 어떻게 보이는가</a:t>
            </a:r>
            <a:r>
              <a:rPr sz="10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   상시 알림 · 경보 화면 · 판정 반경</a:t>
            </a:r>
          </a:p>
        </p:txBody>
      </p:sp>
      <p:pic>
        <p:nvPicPr>
          <p:cNvPr id="24" name="Picture 23" descr="fig_rad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24912"/>
            <a:ext cx="3474720" cy="19196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0120" y="4690307"/>
            <a:ext cx="34747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역할 조합별 판정 반경 — 실제 비례 축척</a:t>
            </a:r>
          </a:p>
        </p:txBody>
      </p:sp>
      <p:pic>
        <p:nvPicPr>
          <p:cNvPr id="26" name="Picture 25" descr="fig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218688"/>
            <a:ext cx="3246120" cy="123958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46320" y="4503997"/>
            <a:ext cx="32461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단말이 늘수록 감지쌍은 제곱으로 (3대 3쌍 → 10대 45쌍)</a:t>
            </a:r>
          </a:p>
        </p:txBody>
      </p:sp>
      <p:pic>
        <p:nvPicPr>
          <p:cNvPr id="28" name="Picture 27" descr="fig_z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3218688"/>
            <a:ext cx="2788920" cy="12024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03920" y="4466816"/>
            <a:ext cx="27889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세이프존 — 존 안에서는 경보를 억제한다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138928"/>
            <a:ext cx="10332720" cy="2834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경보는 소리 · 진동 · 화면 세 갈래로 동시에 난다</a:t>
            </a: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—  소음 · 장갑 · 시야 어느 하나가 막혀도 나머지가 전달된다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422392"/>
            <a:ext cx="10332720" cy="2834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같은 기기 · 같은 등급에 5초 이상 머물면 자동 음소거</a:t>
            </a: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—  표시 · 기록은 유지하고, 등급이 오르면 즉시 재발령 (v1.1.61)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705856"/>
            <a:ext cx="10332720" cy="2834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휴게실 · 충전 구역에는 세이프존 비콘</a:t>
            </a: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—  존 안의 기기는 상대에게도 안전으로 보인다 (v1.1.62)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989320"/>
            <a:ext cx="10332720" cy="2834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감지가 멈추면 상시 알림에 이상 표시</a:t>
            </a: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—  꺼진 줄 모르고 쓰는 상황을 없앤다 (v1.1.64)</a:t>
            </a:r>
          </a:p>
        </p:txBody>
      </p:sp>
    </p:spTree>
    <p:extLst>
      <p:ext uri="{BB962C8B-B14F-4D97-AF65-F5344CB8AC3E}">
        <p14:creationId xmlns:p14="http://schemas.microsoft.com/office/powerpoint/2010/main" val="2850019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328A-8D6B-F156-D2E2-372F2BA6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998F1665-88C9-D257-6586-557F235A2D01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A1AF56F4-395B-9760-38FF-26656CDE4D89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7D476F32-01B4-32A2-2B7B-60F5A880A156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B3B5564A-3B76-4772-4731-3CF749A7DEDB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A629AD05-4945-43E8-2B81-988788CFBFAA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E670250A-C18D-C540-B040-1E7656BCC323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FFC08809-583E-718A-F60B-6346C8AA1AE5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E46C5F8-C76C-7C7B-50F4-024F650A8F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E01356-08D8-1A98-6F7B-6561EB5F0372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4589D2-1098-9B03-7622-FFA8B56B07BA}"/>
              </a:ext>
            </a:extLst>
          </p:cNvPr>
          <p:cNvSpPr txBox="1"/>
          <p:nvPr/>
        </p:nvSpPr>
        <p:spPr>
          <a:xfrm>
            <a:off x="703941" y="1553619"/>
            <a:ext cx="30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7AE7396-20A6-15A5-C258-1B4E33FC8705}"/>
              </a:ext>
            </a:extLst>
          </p:cNvPr>
          <p:cNvGrpSpPr/>
          <p:nvPr/>
        </p:nvGrpSpPr>
        <p:grpSpPr>
          <a:xfrm>
            <a:off x="703940" y="2173040"/>
            <a:ext cx="5826333" cy="2131924"/>
            <a:chOff x="703941" y="2173040"/>
            <a:chExt cx="5354307" cy="2131924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EC24772-20AF-D9A7-5F6D-BF21C9B11FE7}"/>
                </a:ext>
              </a:extLst>
            </p:cNvPr>
            <p:cNvSpPr/>
            <p:nvPr/>
          </p:nvSpPr>
          <p:spPr>
            <a:xfrm>
              <a:off x="703941" y="2173040"/>
              <a:ext cx="5354307" cy="2131924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365760" rIns="182880" bIns="73152" rtlCol="0" anchor="t" wrap="square"/>
            <a:lstStyle/>
            <a:p>
              <a:pPr algn="l">
                <a:lnSpc>
                  <a:spcPct val="135000"/>
                </a:lnSpc>
              </a:pPr>
              <a:r>
                <a:rPr sz="105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AS-IS</a:t>
              </a:r>
              <a:r>
                <a:rPr sz="1050" b="0" i="0" u="none">
                  <a:solidFill>
                    <a:srgbClr val="9AA0A6"/>
                  </a:solidFill>
                  <a:latin typeface="맑은 고딕"/>
                  <a:ea typeface="맑은 고딕"/>
                  <a:cs typeface="맑은 고딕"/>
                </a:rPr>
                <a:t> :  </a:t>
              </a: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존과 로케이션 사이 교차 구간에서 PIT 와 보행자가 서로를 보지 못한 채 접근한다.</a:t>
              </a:r>
              <a:endParaRPr lang="ko-KR" altLang="en-US">
                <a:solidFill>
                  <a:srgbClr val="404040"/>
                </a:solidFill>
                <a:ea typeface="+mn-lt"/>
                <a:cs typeface="+mn-lt"/>
              </a:endParaRPr>
            </a:p>
            <a:p>
              <a:pPr algn="l">
                <a:lnSpc>
                  <a:spcPct val="135000"/>
                </a:lnSpc>
                <a:spcBef>
                  <a:spcPts val="500"/>
                </a:spcBef>
              </a:pPr>
              <a:r>
                <a:rPr sz="105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Pain Point</a:t>
              </a:r>
              <a:r>
                <a:rPr sz="1050" b="0" i="0" u="none">
                  <a:solidFill>
                    <a:srgbClr val="9AA0A6"/>
                  </a:solidFill>
                  <a:latin typeface="맑은 고딕"/>
                  <a:ea typeface="맑은 고딕"/>
                  <a:cs typeface="맑은 고딕"/>
                </a:rPr>
                <a:t> :  </a:t>
              </a: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적재 파렛트가 시야를 가리고, 장비 소음에 경적이 묻혀 인지가 늦다.</a:t>
              </a:r>
            </a:p>
            <a:p>
              <a:pPr algn="l">
                <a:lnSpc>
                  <a:spcPct val="135000"/>
                </a:lnSpc>
                <a:spcBef>
                  <a:spcPts val="500"/>
                </a:spcBef>
              </a:pPr>
              <a:r>
                <a:rPr sz="1050" b="0" i="0" u="none">
                  <a:solidFill>
                    <a:srgbClr val="6B7278"/>
                  </a:solidFill>
                  <a:latin typeface="맑은 고딕"/>
                  <a:ea typeface="맑은 고딕"/>
                  <a:cs typeface="맑은 고딕"/>
                </a:rPr>
                <a:t>현행 I-PAS 는 3m 안에서 장비를 자동 셧다운한다. 그 앞 구간, 그리고 태그가 없는 조합에는 감지 수단이 없다.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576F0E32-5025-FE80-A485-5F6D0402D9F9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문제의 배경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6FE3D44-3247-78E5-240E-ADDDFB17D685}"/>
              </a:ext>
            </a:extLst>
          </p:cNvPr>
          <p:cNvGrpSpPr/>
          <p:nvPr/>
        </p:nvGrpSpPr>
        <p:grpSpPr>
          <a:xfrm>
            <a:off x="703940" y="4462720"/>
            <a:ext cx="10792735" cy="1882518"/>
            <a:chOff x="703940" y="2173040"/>
            <a:chExt cx="10792735" cy="1882518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C968FAE4-E83B-0591-CC57-BE4A62522078}"/>
                </a:ext>
              </a:extLst>
            </p:cNvPr>
            <p:cNvSpPr/>
            <p:nvPr/>
          </p:nvSpPr>
          <p:spPr>
            <a:xfrm>
              <a:off x="703940" y="2173040"/>
              <a:ext cx="10792735" cy="1882518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91440" rIns="18288" bIns="73152" rtlCol="0" anchor="t" wrap="square"/>
            <a:lstStyle/>
            <a:p>
              <a:pPr algn="l">
                <a:lnSpc>
                  <a:spcPct val="125000"/>
                </a:lnSpc>
              </a:pPr>
              <a:r>
                <a:rPr sz="11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/>
              </a:r>
              <a:endParaRPr lang="ko-KR" altLang="en-US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CC0B07E1-7C42-C9DD-DE2D-C5901C4162C4}"/>
                </a:ext>
              </a:extLst>
            </p:cNvPr>
            <p:cNvSpPr/>
            <p:nvPr/>
          </p:nvSpPr>
          <p:spPr>
            <a:xfrm>
              <a:off x="754739" y="2227294"/>
              <a:ext cx="1944917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문제를 해결해야 하는 이유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4E4F171-DA7D-D1B8-C6FB-7E861D49BABD}"/>
              </a:ext>
            </a:extLst>
          </p:cNvPr>
          <p:cNvGrpSpPr/>
          <p:nvPr/>
        </p:nvGrpSpPr>
        <p:grpSpPr>
          <a:xfrm>
            <a:off x="6665479" y="2173040"/>
            <a:ext cx="4831196" cy="1023314"/>
            <a:chOff x="703941" y="2173040"/>
            <a:chExt cx="4831196" cy="1023314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700C10E3-4CE1-CA17-2869-FE20EE725DEB}"/>
                </a:ext>
              </a:extLst>
            </p:cNvPr>
            <p:cNvSpPr/>
            <p:nvPr/>
          </p:nvSpPr>
          <p:spPr>
            <a:xfrm>
              <a:off x="703941" y="2173040"/>
              <a:ext cx="4831196" cy="1023314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592" tIns="365760" rIns="164592" bIns="73152" rtlCol="0" anchor="t" wrap="square"/>
            <a:lstStyle/>
            <a:p>
              <a:pPr algn="l">
                <a:lnSpc>
                  <a:spcPct val="130000"/>
                </a:lnSpc>
              </a:pPr>
              <a:r>
                <a:rPr sz="100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Target</a:t>
              </a:r>
              <a:r>
                <a:rPr sz="1000" b="0" i="0" u="none">
                  <a:solidFill>
                    <a:srgbClr val="9AA0A6"/>
                  </a:solidFill>
                  <a:latin typeface="맑은 고딕"/>
                  <a:ea typeface="맑은 고딕"/>
                  <a:cs typeface="맑은 고딕"/>
                </a:rPr>
                <a:t> :  </a:t>
              </a:r>
              <a:r>
                <a:rPr sz="10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접근을 사전에 감지해 사람에게 알린다 — 태그 유무와 무관하게.</a:t>
              </a: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  <a:p>
              <a:pPr algn="l">
                <a:lnSpc>
                  <a:spcPct val="130000"/>
                </a:lnSpc>
              </a:pPr>
              <a:r>
                <a:rPr sz="100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Vision</a:t>
              </a:r>
              <a:r>
                <a:rPr sz="1000" b="0" i="0" u="none">
                  <a:solidFill>
                    <a:srgbClr val="9AA0A6"/>
                  </a:solidFill>
                  <a:latin typeface="맑은 고딕"/>
                  <a:ea typeface="맑은 고딕"/>
                  <a:cs typeface="맑은 고딕"/>
                </a:rPr>
                <a:t> :  </a:t>
              </a:r>
              <a:r>
                <a:rPr sz="10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장비가 3m 에서 멈추기 전에, 15m · 8m 에서 사람이 먼저 안다.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4A8389F-3629-3A8A-5AC1-C7C54CE1A4F9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표준</a:t>
              </a:r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목표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CE9F48C-3A0C-E93D-8AE7-2C176CC62C8B}"/>
              </a:ext>
            </a:extLst>
          </p:cNvPr>
          <p:cNvGrpSpPr/>
          <p:nvPr/>
        </p:nvGrpSpPr>
        <p:grpSpPr>
          <a:xfrm>
            <a:off x="6665479" y="3281650"/>
            <a:ext cx="4831196" cy="1023314"/>
            <a:chOff x="703941" y="2173040"/>
            <a:chExt cx="4831196" cy="1023314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9B21D4E-1384-178D-D628-20B1E64BB53C}"/>
                </a:ext>
              </a:extLst>
            </p:cNvPr>
            <p:cNvSpPr/>
            <p:nvPr/>
          </p:nvSpPr>
          <p:spPr>
            <a:xfrm>
              <a:off x="703941" y="2173040"/>
              <a:ext cx="4831196" cy="1023314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592" tIns="365760" rIns="164592" bIns="73152" rtlCol="0" anchor="t" wrap="square"/>
            <a:lstStyle/>
            <a:p>
              <a:pPr algn="l">
                <a:lnSpc>
                  <a:spcPct val="130000"/>
                </a:lnSpc>
              </a:pPr>
              <a:r>
                <a:rPr sz="100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Data</a:t>
              </a:r>
              <a:r>
                <a:rPr sz="1000" b="0" i="0" u="none">
                  <a:solidFill>
                    <a:srgbClr val="9AA0A6"/>
                  </a:solidFill>
                  <a:latin typeface="맑은 고딕"/>
                  <a:ea typeface="맑은 고딕"/>
                  <a:cs typeface="맑은 고딕"/>
                </a:rPr>
                <a:t> :  </a:t>
              </a:r>
              <a:r>
                <a:rPr sz="10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덮이는 접근 조합은 12쌍 (차량 4대 × 상시 3명). 태그를 산 만큼만 는다.</a:t>
              </a: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  <a:p>
              <a:pPr algn="l">
                <a:lnSpc>
                  <a:spcPct val="130000"/>
                </a:lnSpc>
              </a:pPr>
              <a:r>
                <a:rPr sz="100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Issue</a:t>
              </a:r>
              <a:r>
                <a:rPr sz="1000" b="0" i="0" u="none">
                  <a:solidFill>
                    <a:srgbClr val="9AA0A6"/>
                  </a:solidFill>
                  <a:latin typeface="맑은 고딕"/>
                  <a:ea typeface="맑은 고딕"/>
                  <a:cs typeface="맑은 고딕"/>
                </a:rPr>
                <a:t> :  </a:t>
              </a:r>
              <a:r>
                <a:rPr sz="10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보행자끼리 · EPJ · 미장착 장비는 대상 밖 — 위험을 확인할 방법 자체가 없다.</a:t>
              </a: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2496939B-AC1A-45D7-6DF8-2B3370DDF16F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 상황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960120" y="4864608"/>
            <a:ext cx="1027785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1. 사각지대 해소</a:t>
            </a:r>
            <a:r>
              <a:rPr sz="12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        2. 인프라 없는 확산</a:t>
            </a:r>
            <a:r>
              <a:rPr sz="12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        3. 오경보 억제</a:t>
            </a:r>
            <a:r>
              <a:rPr sz="12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        4. 조용한 실패 제거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248656"/>
            <a:ext cx="1027785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1교대(9시간) 기준 경고 반경 진입 </a:t>
            </a:r>
            <a:r>
              <a:rPr sz="1100" b="1" i="0" u="sng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약 95회</a:t>
            </a:r>
            <a:r>
              <a:rPr sz="11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, 그중 위험 반경까지 </a:t>
            </a:r>
            <a:r>
              <a:rPr sz="1100" b="1" i="0" u="sng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약 27회</a:t>
            </a: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(밑줄 = 추정치, 산출 근거 12장).  사고 건수는 감지 수단이 없어 집계된 적이 없다.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632704"/>
            <a:ext cx="1027785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1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“지금 이 구간은 </a:t>
            </a:r>
            <a:r>
              <a:rPr sz="1050" b="1" i="1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설비가 아니라 사람의 주의력</a:t>
            </a:r>
            <a:r>
              <a:rPr sz="1050" b="0" i="1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이 지키고 있습니다. 주의력은 교대 끝에 떨어집니다.”</a:t>
            </a:r>
          </a:p>
        </p:txBody>
      </p:sp>
    </p:spTree>
    <p:extLst>
      <p:ext uri="{BB962C8B-B14F-4D97-AF65-F5344CB8AC3E}">
        <p14:creationId xmlns:p14="http://schemas.microsoft.com/office/powerpoint/2010/main" val="586640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E4A5-2CFE-88F8-53F3-8E720CB2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3FA8BE2A-EC18-346B-FC8C-3186C896FE89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B0ED0BFE-8ED5-7F7A-8C6E-74F707AA4818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01695180-C4D9-234C-6228-6C16EA7190FF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83575AC3-2F4A-64D6-BD0C-55325D10C9B5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AFF475B4-0EC4-2624-D94F-2E51D56ECA1C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755C2CE8-43C6-FF11-2F49-633D5E40B3CF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24465DA8-A397-2A44-13A9-C01613025F40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157984-86F7-3EE4-F7D7-E616DED45D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269D63-F9EC-52DE-958B-6900B3E7DEF8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B6AC5A-9878-4113-AF66-EF0C6A9FF535}"/>
              </a:ext>
            </a:extLst>
          </p:cNvPr>
          <p:cNvSpPr txBox="1"/>
          <p:nvPr/>
        </p:nvSpPr>
        <p:spPr>
          <a:xfrm>
            <a:off x="703941" y="1553619"/>
            <a:ext cx="3852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_5Why?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B4DD43F-ACD6-1377-5FA4-A62EB0EF3A66}"/>
              </a:ext>
            </a:extLst>
          </p:cNvPr>
          <p:cNvGraphicFramePr>
            <a:graphicFrameLocks noGrp="1"/>
          </p:cNvGraphicFramePr>
          <p:nvPr/>
        </p:nvGraphicFramePr>
        <p:xfrm>
          <a:off x="1065212" y="2533173"/>
          <a:ext cx="10059987" cy="33741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59298">
                  <a:extLst>
                    <a:ext uri="{9D8B030D-6E8A-4147-A177-3AD203B41FA5}">
                      <a16:colId xmlns:a16="http://schemas.microsoft.com/office/drawing/2014/main" val="3358672757"/>
                    </a:ext>
                  </a:extLst>
                </a:gridCol>
                <a:gridCol w="8500689">
                  <a:extLst>
                    <a:ext uri="{9D8B030D-6E8A-4147-A177-3AD203B41FA5}">
                      <a16:colId xmlns:a16="http://schemas.microsoft.com/office/drawing/2014/main" val="1014460790"/>
                    </a:ext>
                  </a:extLst>
                </a:gridCol>
              </a:tblGrid>
              <a:tr h="337414"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Why ?</a:t>
                      </a:r>
                      <a:endParaRPr lang="en-US" altLang="ko-KR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 fontAlgn="base">
                        <a:lnSpc>
                          <a:spcPct val="115000"/>
                        </a:lnSpc>
                      </a:pPr>
                      <a:r>
                        <a:rPr sz="1100" b="1" i="0" u="none">
                          <a:solidFill>
                            <a:srgbClr val="0538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왜 사각지대에서 위험한가?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38779"/>
                  </a:ext>
                </a:extLst>
              </a:tr>
              <a:tr h="337414"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endParaRPr lang="en-US" altLang="ko-KR" sz="1600" b="0" i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base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9AA0A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→  </a:t>
                      </a: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서로를 보지 못한 채 접근하기 때문이다.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066655"/>
                  </a:ext>
                </a:extLst>
              </a:tr>
              <a:tr h="337414"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Why ?</a:t>
                      </a:r>
                      <a:endParaRPr lang="en-US" altLang="ko-KR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base">
                        <a:lnSpc>
                          <a:spcPct val="115000"/>
                        </a:lnSpc>
                      </a:pPr>
                      <a:r>
                        <a:rPr sz="1100" b="1" i="0" u="none">
                          <a:solidFill>
                            <a:srgbClr val="0538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왜 보지 못하는가?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978005"/>
                  </a:ext>
                </a:extLst>
              </a:tr>
              <a:tr h="337414"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endParaRPr lang="en-US" altLang="ko-KR" sz="1600" b="0" i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base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9AA0A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→  </a:t>
                      </a: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적재 파렛트가 시야를 가리고, 장비 소음에 경적이 묻히기 때문이다.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384580"/>
                  </a:ext>
                </a:extLst>
              </a:tr>
              <a:tr h="337414"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Why ?</a:t>
                      </a:r>
                      <a:endParaRPr lang="en-US" altLang="ko-KR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base">
                        <a:lnSpc>
                          <a:spcPct val="115000"/>
                        </a:lnSpc>
                      </a:pPr>
                      <a:r>
                        <a:rPr sz="1100" b="1" i="0" u="none">
                          <a:solidFill>
                            <a:srgbClr val="0538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왜 그 구간에 보완 수단이 없는가?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629005"/>
                  </a:ext>
                </a:extLst>
              </a:tr>
              <a:tr h="337414"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endParaRPr lang="en-US" altLang="ko-KR" sz="1600" b="0" i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base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9AA0A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→  </a:t>
                      </a: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 설비를 장비 단위로 도입해 왔기 때문이다 — 차량에 리더를 달고, 그 차량이 감지한다.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286702"/>
                  </a:ext>
                </a:extLst>
              </a:tr>
              <a:tr h="337414"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Why ?</a:t>
                      </a:r>
                      <a:endParaRPr lang="en-US" altLang="ko-KR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base">
                        <a:lnSpc>
                          <a:spcPct val="115000"/>
                        </a:lnSpc>
                      </a:pPr>
                      <a:r>
                        <a:rPr sz="1100" b="1" i="0" u="none">
                          <a:solidFill>
                            <a:srgbClr val="0538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왜 장비 단위인가?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020413"/>
                  </a:ext>
                </a:extLst>
              </a:tr>
              <a:tr h="337414"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endParaRPr lang="en-US" altLang="ko-KR" sz="1600" b="0" i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base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9AA0A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→  </a:t>
                      </a: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감지 대상이 ‘차량’ 으로 정의돼 있고, 사람은 태그를 받은 만큼만 대상이 되기 때문이다.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218879"/>
                  </a:ext>
                </a:extLst>
              </a:tr>
              <a:tr h="337414"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Why ?</a:t>
                      </a:r>
                      <a:endParaRPr lang="en-US" altLang="ko-KR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base">
                        <a:lnSpc>
                          <a:spcPct val="115000"/>
                        </a:lnSpc>
                      </a:pPr>
                      <a:r>
                        <a:rPr sz="1100" b="1" i="0" u="none">
                          <a:solidFill>
                            <a:srgbClr val="0538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왜 인원 전원이 대상이 아닌가?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267167"/>
                  </a:ext>
                </a:extLst>
              </a:tr>
              <a:tr h="337414"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endParaRPr lang="en-US" altLang="ko-KR" sz="1600" b="0" i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base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9AA0A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→  </a:t>
                      </a: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 수만큼 태그를 사야 하는 구조라, 대상을 상시 인원 3명으로 한정했기 때문이다.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marL="54864" marR="54864" marT="18288" marB="18288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6786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1E01E2F-3723-77E6-1236-A363B569C9B7}"/>
              </a:ext>
            </a:extLst>
          </p:cNvPr>
          <p:cNvSpPr txBox="1"/>
          <p:nvPr/>
        </p:nvSpPr>
        <p:spPr>
          <a:xfrm>
            <a:off x="1065212" y="2173839"/>
            <a:ext cx="10058400" cy="276999"/>
          </a:xfrm>
          <a:prstGeom prst="rect">
            <a:avLst/>
          </a:prstGeom>
          <a:noFill/>
        </p:spPr>
        <p:txBody>
          <a:bodyPr wrap="square" lIns="0" tIns="91440" rIns="0" bIns="73152" rtlCol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Most likely Causes :  </a:t>
            </a:r>
            <a:r>
              <a:rPr sz="10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감지 대상이 태그를 단 장비와 태그를 받은 인원으로만 정의돼 있다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16C8B4-FEF2-1DFF-11BA-C418B4DB5E4E}"/>
              </a:ext>
            </a:extLst>
          </p:cNvPr>
          <p:cNvSpPr txBox="1"/>
          <p:nvPr/>
        </p:nvSpPr>
        <p:spPr>
          <a:xfrm>
            <a:off x="1064703" y="5989648"/>
            <a:ext cx="10058400" cy="276999"/>
          </a:xfrm>
          <a:prstGeom prst="rect">
            <a:avLst/>
          </a:prstGeom>
          <a:noFill/>
        </p:spPr>
        <p:txBody>
          <a:bodyPr wrap="square" rtlCol="0" lIns="0" rIns="0" tIns="91440" bIns="7315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Root Causes :  </a:t>
            </a:r>
            <a:r>
              <a:rPr sz="1050" b="1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감지 대상 범위가 안전 요구가 아니라 태그 구매 수량으로 결정되고 있다</a:t>
            </a:r>
            <a:r>
              <a:rPr sz="9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   (외부 상용 제품도 같은 구조 — 8장)</a:t>
            </a:r>
            <a:endParaRPr kumimoji="1"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7828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667E6-F3CC-2803-DB9B-E52F2366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40C832AA-9512-68DC-86A4-CBAA9D7F2260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D2BC2940-FCAA-2321-2C9E-64AFF9A527D3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D00C5E0D-0BA6-412A-A273-F3B53DF6EE87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AEB89DC3-F598-5905-2FFF-E8C475664935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23139894-1F6C-9D36-9F4A-EA05FED52DC3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940C8A6-6AD7-6287-5C7B-6B1EF287270D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4A325569-7902-5D7E-CCB3-1A9AF5F37891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379DCCB-7AF5-D302-6555-5F59D519D7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B5B2F8-B08D-068C-D53C-3CA674B2239C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17A253-A887-5506-7F08-294C291BC448}"/>
              </a:ext>
            </a:extLst>
          </p:cNvPr>
          <p:cNvSpPr txBox="1"/>
          <p:nvPr/>
        </p:nvSpPr>
        <p:spPr>
          <a:xfrm>
            <a:off x="703941" y="1553619"/>
            <a:ext cx="1548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B3E2879-37D3-7307-0571-2759B8093414}"/>
              </a:ext>
            </a:extLst>
          </p:cNvPr>
          <p:cNvSpPr/>
          <p:nvPr/>
        </p:nvSpPr>
        <p:spPr>
          <a:xfrm>
            <a:off x="708249" y="2164948"/>
            <a:ext cx="5073772" cy="1264052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73152"/>
          <a:lstStyle/>
          <a:p>
            <a:pPr algn="l">
              <a:lnSpc>
                <a:spcPct val="130000"/>
              </a:lnSpc>
            </a:pPr>
            <a:r>
              <a:rPr sz="12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감지 민감도  vs.  경보 피로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넓게 울리면 작업자가 꺼버린다. 꺼 둔 단말은 보호가 0 이다.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57C11AF-5833-3F46-DECD-F58645335E34}"/>
              </a:ext>
            </a:extLst>
          </p:cNvPr>
          <p:cNvSpPr/>
          <p:nvPr/>
        </p:nvSpPr>
        <p:spPr>
          <a:xfrm>
            <a:off x="6418595" y="2164948"/>
            <a:ext cx="5073772" cy="1264052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73152"/>
          <a:lstStyle/>
          <a:p>
            <a:pPr algn="l">
              <a:lnSpc>
                <a:spcPct val="130000"/>
              </a:lnSpc>
            </a:pPr>
            <a:r>
              <a:rPr sz="12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민감도를 택하고, 울릴 곳을 좁혔다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9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같은 기기 · 같은 등급 5초 이상이면 자동 음소거 (v1.1.61) · 휴게실 · 충전 구역 세이프존 (v1.1.62) · 이탈 후 재발령 억제 (v1.1.51)</a:t>
            </a: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33E788B-22A1-627C-B08F-418A4ED61A4D}"/>
              </a:ext>
            </a:extLst>
          </p:cNvPr>
          <p:cNvSpPr/>
          <p:nvPr/>
        </p:nvSpPr>
        <p:spPr>
          <a:xfrm>
            <a:off x="5853849" y="2597543"/>
            <a:ext cx="492918" cy="485522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2ED3035-46AC-0880-58A6-5ED2739E63A4}"/>
              </a:ext>
            </a:extLst>
          </p:cNvPr>
          <p:cNvSpPr/>
          <p:nvPr/>
        </p:nvSpPr>
        <p:spPr>
          <a:xfrm>
            <a:off x="708249" y="3623067"/>
            <a:ext cx="5073772" cy="1264052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73152"/>
          <a:lstStyle/>
          <a:p>
            <a:pPr algn="l">
              <a:lnSpc>
                <a:spcPct val="130000"/>
              </a:lnSpc>
            </a:pPr>
            <a:r>
              <a:rPr sz="12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앱 경보  vs.  물리적 정지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경보는 사람이 반응해야 효과가 난다. 통제 위계상 하위다.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3FF29BE-0AB2-E8AF-27B1-E9939C2E415F}"/>
              </a:ext>
            </a:extLst>
          </p:cNvPr>
          <p:cNvSpPr/>
          <p:nvPr/>
        </p:nvSpPr>
        <p:spPr>
          <a:xfrm>
            <a:off x="6418595" y="3623067"/>
            <a:ext cx="5073772" cy="1264052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73152"/>
          <a:lstStyle/>
          <a:p>
            <a:pPr algn="l">
              <a:lnSpc>
                <a:spcPct val="130000"/>
              </a:lnSpc>
            </a:pPr>
            <a:r>
              <a:rPr sz="1200" b="1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물리적 정지는 포기했다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9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자동 정지(공학적 제어)가 상위, 경보(관리적 제어)가 하위다. 상위를 대체하지 않는다 — I-PAS EOD 를 그대로 두고, 상위가 닿지 않는 조합에만 하위를 새로 넣는다.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8DA2C450-2703-2579-40E4-81B44B2CA702}"/>
              </a:ext>
            </a:extLst>
          </p:cNvPr>
          <p:cNvSpPr/>
          <p:nvPr/>
        </p:nvSpPr>
        <p:spPr>
          <a:xfrm>
            <a:off x="5853849" y="4055662"/>
            <a:ext cx="492918" cy="485522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4A7B181-D638-442E-C6F6-458A315621AA}"/>
              </a:ext>
            </a:extLst>
          </p:cNvPr>
          <p:cNvSpPr/>
          <p:nvPr/>
        </p:nvSpPr>
        <p:spPr>
          <a:xfrm>
            <a:off x="708249" y="5081186"/>
            <a:ext cx="5073772" cy="1264052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73152"/>
          <a:lstStyle/>
          <a:p>
            <a:pPr algn="l">
              <a:lnSpc>
                <a:spcPct val="130000"/>
              </a:lnSpc>
            </a:pPr>
            <a:r>
              <a:rPr sz="12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배포 속도  vs.  판정 재현성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3개월 70회 배포로 즉시 대응했지만, 고친 증상이 되돌아왔다.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C603B41-FCC3-8BC3-C2C4-5E5B14F507A6}"/>
              </a:ext>
            </a:extLst>
          </p:cNvPr>
          <p:cNvSpPr/>
          <p:nvPr/>
        </p:nvSpPr>
        <p:spPr>
          <a:xfrm>
            <a:off x="6418595" y="5081186"/>
            <a:ext cx="5073772" cy="1264052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73152"/>
          <a:lstStyle/>
          <a:p>
            <a:pPr algn="l">
              <a:lnSpc>
                <a:spcPct val="130000"/>
              </a:lnSpc>
            </a:pPr>
            <a:r>
              <a:rPr sz="12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재현성을 택하고, 속도를 늦췄다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9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고친 증상을 테스트로 고정한다. 안전 크리티컬 경로 골든 테스트가 실패하면 릴리스가 자동 차단된다 (Phase 1 완료).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FEA36ED3-4F40-500D-75F9-BA82765FB620}"/>
              </a:ext>
            </a:extLst>
          </p:cNvPr>
          <p:cNvSpPr/>
          <p:nvPr/>
        </p:nvSpPr>
        <p:spPr>
          <a:xfrm>
            <a:off x="5853849" y="5513781"/>
            <a:ext cx="492918" cy="485522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09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D83A-AB98-025B-53C7-153DE9ED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90661737-A9A5-FED8-953D-7718D71B83E4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6D1E24FC-F4B0-9C27-16D0-96DFAAD68B4D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6F9E3693-A72B-9DCE-FC19-242CF6DE28CB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6D0B3EBB-0E0C-732D-6B1F-0FA9EEFB26BE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99A063FD-2A10-7263-F85E-10A397DFF2B9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168540D2-0B96-C100-0993-E0BBE4947EF6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B4BF8FD8-2A9B-3E11-C99C-CF6D67C891E6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03C6E86-4685-F7A2-5D4F-CAB2DC7280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402638-409E-C099-C76F-E92915E75D16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3243CC-D366-2C5C-A3D7-9B7FA8F160C7}"/>
              </a:ext>
            </a:extLst>
          </p:cNvPr>
          <p:cNvSpPr txBox="1"/>
          <p:nvPr/>
        </p:nvSpPr>
        <p:spPr>
          <a:xfrm>
            <a:off x="703941" y="1553619"/>
            <a:ext cx="1819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96ED121-1084-3A94-07B5-9FC08C5AC782}"/>
              </a:ext>
            </a:extLst>
          </p:cNvPr>
          <p:cNvGrpSpPr/>
          <p:nvPr/>
        </p:nvGrpSpPr>
        <p:grpSpPr>
          <a:xfrm>
            <a:off x="703941" y="2173040"/>
            <a:ext cx="10792734" cy="853381"/>
            <a:chOff x="703942" y="2173040"/>
            <a:chExt cx="9918349" cy="85338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052DFBF3-364A-7C2E-46A5-3E20B2A9B2E0}"/>
                </a:ext>
              </a:extLst>
            </p:cNvPr>
            <p:cNvSpPr/>
            <p:nvPr/>
          </p:nvSpPr>
          <p:spPr>
            <a:xfrm>
              <a:off x="703942" y="2173040"/>
              <a:ext cx="9918349" cy="853381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01168" rIns="201168" tIns="365760" bIns="73152"/>
            <a:lstStyle/>
            <a:p>
              <a:pPr algn="l">
                <a:lnSpc>
                  <a:spcPct val="130000"/>
                </a:lnSpc>
              </a:pPr>
              <a:r>
                <a:rPr sz="1100" b="1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지게차 ↔ 보행자 근접 경보는 이미 상용 제품군이 있다. 현행 I-PAS 도 그중 하나다.</a:t>
              </a:r>
            </a:p>
            <a:p>
              <a:pPr algn="l">
                <a:lnSpc>
                  <a:spcPct val="130000"/>
                </a:lnSpc>
              </a:pPr>
              <a:r>
                <a:rPr sz="1000" b="0" i="0" u="none">
                  <a:solidFill>
                    <a:srgbClr val="6B7278"/>
                  </a:solidFill>
                  <a:latin typeface="맑은 고딕"/>
                  <a:ea typeface="맑은 고딕"/>
                  <a:cs typeface="맑은 고딕"/>
                </a:rPr>
                <a:t>감지 거리 10~25m 는 SafeAlert 의 경고 15m 와 같은 범위 — 반경 설정이 업계 관행에서 벗어나 있지 않다.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73F1073-6AE3-6DD6-3D69-046C2C8D9A8E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대상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B39597-205F-7378-4D26-5880CBB250AF}"/>
              </a:ext>
            </a:extLst>
          </p:cNvPr>
          <p:cNvGrpSpPr/>
          <p:nvPr/>
        </p:nvGrpSpPr>
        <p:grpSpPr>
          <a:xfrm>
            <a:off x="695325" y="3184177"/>
            <a:ext cx="10792734" cy="3161061"/>
            <a:chOff x="703942" y="2173040"/>
            <a:chExt cx="9918349" cy="3161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C9A89B43-DA1A-80EC-116D-9D465B19E4A9}"/>
                </a:ext>
              </a:extLst>
            </p:cNvPr>
            <p:cNvSpPr/>
            <p:nvPr/>
          </p:nvSpPr>
          <p:spPr>
            <a:xfrm>
              <a:off x="703942" y="2173040"/>
              <a:ext cx="9918349" cy="3161061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18288" rIns="18288" tIns="365760" bIns="73152"/>
            <a:lstStyle/>
            <a:p>
              <a:pPr algn="l">
                <a:lnSpc>
                  <a:spcPct val="125000"/>
                </a:lnSpc>
              </a:pPr>
              <a:r>
                <a:rPr sz="11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/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26FC43A-062E-B886-B32C-9BD93C2137C2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내용</a:t>
              </a:r>
            </a:p>
          </p:txBody>
        </p:sp>
      </p:grp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14400" y="3584448"/>
          <a:ext cx="10351007" cy="151333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40280"/>
                <a:gridCol w="960120"/>
                <a:gridCol w="3703320"/>
                <a:gridCol w="1874519"/>
                <a:gridCol w="1572768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감지 거리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착용물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개입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ZoneSafe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RFID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주위 360° 최대 10m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태그 필요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경보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ELOKON ELOshield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UWB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 / 보호 구역 분리 · 비가시선 감지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태그 필요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경보 + 자동 감속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Pozyx RTLS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UWB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주위 360° 최대 25m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태그 필요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경보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I-PAS  (현행)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태그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3m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태그 필요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경보 + 자동 셧다운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 u="none">
                          <a:solidFill>
                            <a:srgbClr val="1B8A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SafeAlert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BLE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 15m / 위험 8m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i="0" u="none">
                          <a:solidFill>
                            <a:srgbClr val="1B8A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— 지급 단말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경보만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50976" y="5193792"/>
            <a:ext cx="10277856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시사점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68112"/>
            <a:ext cx="10168128" cy="2240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외부 제품은 예외 없이 </a:t>
            </a: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‘차량에 리더, 사람에 태그’</a:t>
            </a:r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구조다. 대상이 늘면 태그를 산다 — I-PAS 와 같다.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92140"/>
            <a:ext cx="10168128" cy="2240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·  상위 제품은 자동 감속까지 간다. 그 자리는 I-PAS EOD 가 이미 맡고 있고, SafeAlert 는 그 앞단만 맡는다.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916168"/>
            <a:ext cx="10168128" cy="2240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다른 점은 </a:t>
            </a: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착용물의 유무 하나</a:t>
            </a:r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다. 대상 확대 비용의 차이가 전부 거기서 나온다 (3장 막대).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140196"/>
            <a:ext cx="10168128" cy="2240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·  벤더 공개 자료 기준 (2026.09 조회). ‘아차사고 감소 · ROI 3~6개월’ 은 벤더 주장이라 인용하지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51998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3BDA-7787-48C8-FEC3-2D12812B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98507971-6917-0999-510D-F34FDF88396F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4D9341D9-C08D-B33C-E068-FF4BBB4C6373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D2775B4B-394B-4FB9-34AB-9C7D2BF8DA29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34E33077-1385-D1DE-970E-3B040943E00C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63077203-23CB-1A66-B4AA-B6F546793E22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2F2CFBD5-9D58-21FB-C6A5-0676DDDF6CB7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A91864A1-F78F-83F2-1C17-F39CC47484C2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4A88601-164C-4896-D014-38B90C6459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1C49B-BA5F-0998-4D83-91D8317AB112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DC80F4-751E-621D-1998-B8BF9583D425}"/>
              </a:ext>
            </a:extLst>
          </p:cNvPr>
          <p:cNvSpPr txBox="1"/>
          <p:nvPr/>
        </p:nvSpPr>
        <p:spPr>
          <a:xfrm>
            <a:off x="703941" y="1553619"/>
            <a:ext cx="1404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5138A0D9-ED0E-BD8C-E2E4-33F02627F0FA}"/>
              </a:ext>
            </a:extLst>
          </p:cNvPr>
          <p:cNvSpPr/>
          <p:nvPr/>
        </p:nvSpPr>
        <p:spPr>
          <a:xfrm>
            <a:off x="4853929" y="4694007"/>
            <a:ext cx="2484142" cy="689883"/>
          </a:xfrm>
          <a:prstGeom prst="downArrow">
            <a:avLst>
              <a:gd name="adj1" fmla="val 49408"/>
              <a:gd name="adj2" fmla="val 324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DFAAE3B-85E6-B061-A566-FE0E7C87BBBF}"/>
              </a:ext>
            </a:extLst>
          </p:cNvPr>
          <p:cNvGrpSpPr/>
          <p:nvPr/>
        </p:nvGrpSpPr>
        <p:grpSpPr>
          <a:xfrm>
            <a:off x="6160736" y="2164947"/>
            <a:ext cx="5341260" cy="2819747"/>
            <a:chOff x="6096000" y="2164947"/>
            <a:chExt cx="5341260" cy="2819747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1DE913D-C723-8F8C-9EEA-F15D5E9F5AE2}"/>
                </a:ext>
              </a:extLst>
            </p:cNvPr>
            <p:cNvSpPr/>
            <p:nvPr/>
          </p:nvSpPr>
          <p:spPr>
            <a:xfrm>
              <a:off x="6096000" y="2164947"/>
              <a:ext cx="5341260" cy="2819747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201168" rIns="201168" tIns="365760" bIns="73152"/>
            <a:lstStyle/>
            <a:p>
              <a:pPr algn="l">
                <a:lnSpc>
                  <a:spcPct val="132000"/>
                </a:lnSpc>
              </a:pPr>
              <a:r>
                <a:rPr sz="120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신뢰성 로드맵 Phase 1~5 + PDA 이식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·  새 기능을 붙이는 작업이 아니다. 판정이 흔들리는 구조적 원인을 걷어낸다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·  Phase 1 완료 — 테스트 하네스와 CI 회귀 게이트 (동작 중)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·  Phase 2 — 안전 크리티컬 경로 골든 테스트 + PDA 이식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·  Phase 3~5 — BleService 분해 · 기기 상태 단일화 · 판정 워커 분리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1" i="0" u="none">
                  <a:solidFill>
                    <a:srgbClr val="1B8A6B"/>
                  </a:solidFill>
                  <a:latin typeface="맑은 고딕"/>
                  <a:ea typeface="맑은 고딕"/>
                  <a:cs typeface="맑은 고딕"/>
                </a:rPr>
                <a:t>PDA 이식이 개인 폰 임시 설치를 끝낸다.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00" b="0" i="0" u="none">
                  <a:solidFill>
                    <a:srgbClr val="6B7278"/>
                  </a:solidFill>
                  <a:latin typeface="맑은 고딕"/>
                  <a:ea typeface="맑은 고딕"/>
                  <a:cs typeface="맑은 고딕"/>
                </a:rPr>
                <a:t>업무 단말이라 배포 · 회수 경로가 이미 있고, 개인 폰 의존과 배터리 부담이 함께 없어진다.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E82E4629-0B97-C469-A3C3-21232992667F}"/>
                </a:ext>
              </a:extLst>
            </p:cNvPr>
            <p:cNvSpPr/>
            <p:nvPr/>
          </p:nvSpPr>
          <p:spPr>
            <a:xfrm>
              <a:off x="6146800" y="2219202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Long term</a:t>
              </a:r>
              <a:endParaRPr lang="ko-KR" altLang="en-US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4F47DEA-4B3F-9633-7D79-02716FED97C8}"/>
              </a:ext>
            </a:extLst>
          </p:cNvPr>
          <p:cNvGrpSpPr/>
          <p:nvPr/>
        </p:nvGrpSpPr>
        <p:grpSpPr>
          <a:xfrm>
            <a:off x="703940" y="2164947"/>
            <a:ext cx="5341260" cy="2819747"/>
            <a:chOff x="703940" y="2164947"/>
            <a:chExt cx="5341260" cy="281974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C77B205-12FC-CD71-16B5-3682553DFC9E}"/>
                </a:ext>
              </a:extLst>
            </p:cNvPr>
            <p:cNvSpPr/>
            <p:nvPr/>
          </p:nvSpPr>
          <p:spPr>
            <a:xfrm>
              <a:off x="703940" y="2164947"/>
              <a:ext cx="5341260" cy="2819747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201168" rIns="201168" tIns="365760" bIns="73152"/>
            <a:lstStyle/>
            <a:p>
              <a:pPr algn="l">
                <a:lnSpc>
                  <a:spcPct val="132000"/>
                </a:lnSpc>
              </a:pPr>
              <a:r>
                <a:rPr sz="120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지급 단말에 SafeAlert 를 설치해 BLE 로 상호 감지한다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·  지게차가 낀 조합 경고 15m / 위험 8m, 그 밖의 조합 5m / 3m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·  소리 · 진동 · 화면 3중 경보 — 소음 · 장갑 · 시야 중 하나가 막혀도 전달된다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·  1바이트 비트팩 페이로드로 역할 · 상태 · 방향 · 위험도를 함께 보낸다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·  자동 음소거 · 세이프존으로 울릴 곳에서만 울린다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50" b="1" i="0" u="none">
                  <a:solidFill>
                    <a:srgbClr val="1B8A6B"/>
                  </a:solidFill>
                  <a:latin typeface="맑은 고딕"/>
                  <a:ea typeface="맑은 고딕"/>
                  <a:cs typeface="맑은 고딕"/>
                </a:rPr>
                <a:t>v1.1.70 이 WF11 · WF21 · WF25 에서 운영 중이다.</a:t>
              </a:r>
            </a:p>
            <a:p>
              <a:pPr algn="l">
                <a:lnSpc>
                  <a:spcPct val="132000"/>
                </a:lnSpc>
                <a:spcBef>
                  <a:spcPts val="400"/>
                </a:spcBef>
              </a:pPr>
              <a:r>
                <a:rPr sz="1000" b="0" i="0" u="none">
                  <a:solidFill>
                    <a:srgbClr val="6B7278"/>
                  </a:solidFill>
                  <a:latin typeface="맑은 고딕"/>
                  <a:ea typeface="맑은 고딕"/>
                  <a:cs typeface="맑은 고딕"/>
                </a:rPr>
                <a:t>추가 하드웨어 없이 I-PAS 가 비워 둔 조합을 지금 덮는다. 대상이 늘어도 구매가 없다.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B0B344E-6CD4-7CD2-CBC2-84C5426572EB}"/>
                </a:ext>
              </a:extLst>
            </p:cNvPr>
            <p:cNvSpPr/>
            <p:nvPr/>
          </p:nvSpPr>
          <p:spPr>
            <a:xfrm>
              <a:off x="754740" y="2219202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Short term</a:t>
              </a:r>
              <a:endParaRPr lang="ko-KR" altLang="en-US"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AB342F3-2BA3-6BC3-DA79-E8A213F03CCD}"/>
              </a:ext>
            </a:extLst>
          </p:cNvPr>
          <p:cNvSpPr/>
          <p:nvPr/>
        </p:nvSpPr>
        <p:spPr>
          <a:xfrm>
            <a:off x="703940" y="5445940"/>
            <a:ext cx="10784120" cy="899298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73152"/>
          <a:lstStyle/>
          <a:p>
            <a:pPr algn="ctr">
              <a:lnSpc>
                <a:spcPct val="130000"/>
              </a:lnSpc>
            </a:pPr>
            <a:r>
              <a:rPr sz="12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기대 효과  —  </a:t>
            </a:r>
            <a:r>
              <a:rPr sz="12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I-PAS 가 3m 에서 장비를 세우기 전에, 15m · 8m 에서 사람이 먼저 안다. 태그를 사지 않고 덮는 조합이 늘어난다.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30000"/>
              </a:lnSpc>
              <a:spcBef>
                <a:spcPts val="300"/>
              </a:spcBef>
            </a:pPr>
            <a:r>
              <a:rPr sz="1000" b="0" i="1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“정확한 100% 판정이 아니라, 피할 시간을 만드는 것이 핵심입니다.”</a:t>
            </a:r>
          </a:p>
        </p:txBody>
      </p:sp>
    </p:spTree>
    <p:extLst>
      <p:ext uri="{BB962C8B-B14F-4D97-AF65-F5344CB8AC3E}">
        <p14:creationId xmlns:p14="http://schemas.microsoft.com/office/powerpoint/2010/main" val="11912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C5E66-1130-4D8B-B9CA-2F27EA9A4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59F1BBBC-0A71-745E-0F7B-77C256448BB2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81104A2C-1552-5A95-F41A-DD7F68958594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198D1858-7B36-13B2-E863-D3F9CFC635B1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C3EEC83C-A789-8C93-A7E5-B1DBF0E57E83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3229EA36-8038-D1A7-E666-DD50875AE7F3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B283D51C-7146-1B15-93BB-0337473407F2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531777DC-9662-22F4-FD23-441A9FA2BA66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E5C14F1-30D5-9EA7-EA77-A4289D264E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4B55BD-CA7D-6A0F-FA5B-9BDA09AC52FE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B63024-A249-3BAB-6E47-B65B24B1A1A5}"/>
              </a:ext>
            </a:extLst>
          </p:cNvPr>
          <p:cNvSpPr txBox="1"/>
          <p:nvPr/>
        </p:nvSpPr>
        <p:spPr>
          <a:xfrm>
            <a:off x="703941" y="1553619"/>
            <a:ext cx="1404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0DC14B5-5244-26A8-471B-BAD8D7127B5C}"/>
              </a:ext>
            </a:extLst>
          </p:cNvPr>
          <p:cNvGraphicFramePr>
            <a:graphicFrameLocks noGrp="1"/>
          </p:cNvGraphicFramePr>
          <p:nvPr/>
        </p:nvGraphicFramePr>
        <p:xfrm>
          <a:off x="703942" y="2168525"/>
          <a:ext cx="10792734" cy="4176711"/>
        </p:xfrm>
        <a:graphic>
          <a:graphicData uri="http://schemas.openxmlformats.org/drawingml/2006/table">
            <a:tbl>
              <a:tblPr/>
              <a:tblGrid>
                <a:gridCol w="5938860">
                  <a:extLst>
                    <a:ext uri="{9D8B030D-6E8A-4147-A177-3AD203B41FA5}">
                      <a16:colId xmlns:a16="http://schemas.microsoft.com/office/drawing/2014/main" val="2252307753"/>
                    </a:ext>
                  </a:extLst>
                </a:gridCol>
                <a:gridCol w="1617958">
                  <a:extLst>
                    <a:ext uri="{9D8B030D-6E8A-4147-A177-3AD203B41FA5}">
                      <a16:colId xmlns:a16="http://schemas.microsoft.com/office/drawing/2014/main" val="27723600"/>
                    </a:ext>
                  </a:extLst>
                </a:gridCol>
                <a:gridCol w="1617958">
                  <a:extLst>
                    <a:ext uri="{9D8B030D-6E8A-4147-A177-3AD203B41FA5}">
                      <a16:colId xmlns:a16="http://schemas.microsoft.com/office/drawing/2014/main" val="3791432738"/>
                    </a:ext>
                  </a:extLst>
                </a:gridCol>
                <a:gridCol w="1617958">
                  <a:extLst>
                    <a:ext uri="{9D8B030D-6E8A-4147-A177-3AD203B41FA5}">
                      <a16:colId xmlns:a16="http://schemas.microsoft.com/office/drawing/2014/main" val="204628516"/>
                    </a:ext>
                  </a:extLst>
                </a:gridCol>
              </a:tblGrid>
              <a:tr h="3797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What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Who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When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Status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189584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  테스트 하네스 · CI 회귀 게이트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제안자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1B8A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801422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v1.0.1 ~ v1.1.70 현장 배포 · 3개 센터 실사용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제안자 · 현장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 중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1B8A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275645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경보 이력 4주 집계 — 추정치를 실측으로 대체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제안자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9월 중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1B8A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886245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서베이 회수 · 집계 (WF11 · WF21 · WF25)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제안자 · 현장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9월 중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1B8A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717012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2  안전 경로 골든 테스트 + PDA 이식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제안자 · IT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6B72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345523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3~5  분해 · 상태 단일화 · 워커 분리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제안자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2 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6B72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06257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실사용 테스트 승인 절차 정리 · 확대 승인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 · 운영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 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B977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454525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검토 — 난독화 미적용 · 이력 평문 저장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 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B977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139239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과제 등록 · 유지보수 주체 지정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/ 기획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 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B9770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071733"/>
                  </a:ext>
                </a:extLst>
              </a:tr>
              <a:tr h="379701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17개 센터 확산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016" marR="128016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· 현장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2 완료 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1050" b="1" i="0" u="none">
                          <a:solidFill>
                            <a:srgbClr val="6B72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902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497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A13E-4472-0DAA-3990-09AB2AA9A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465293AC-965B-E567-47C6-35E08BCC76AE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208D20D0-8D90-532F-0361-FF40CF8E6C22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403529F8-75F4-CD4B-8303-CF9D15A33C2C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ABC97A09-8B63-934B-1F76-4684EE497D72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2D3363D4-3B26-E4DD-2879-50B63275BF46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E46026E1-690F-1E91-636D-9DA630FD3793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7FFA0C69-823B-8040-EF7E-73E5E8B7DCBE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69A5873-60C7-FC34-C7D0-BEA29A6D1F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E11696-D0A7-AC76-FA66-AFF27078ACB6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ADDA19-2D96-CD3E-D212-567E2D289CA3}"/>
              </a:ext>
            </a:extLst>
          </p:cNvPr>
          <p:cNvSpPr txBox="1"/>
          <p:nvPr/>
        </p:nvSpPr>
        <p:spPr>
          <a:xfrm>
            <a:off x="703941" y="1553619"/>
            <a:ext cx="1404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000D86F-3343-3519-DC55-7EBC92C6671D}"/>
              </a:ext>
            </a:extLst>
          </p:cNvPr>
          <p:cNvSpPr/>
          <p:nvPr/>
        </p:nvSpPr>
        <p:spPr>
          <a:xfrm>
            <a:off x="712557" y="2164947"/>
            <a:ext cx="10784118" cy="4180291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0" bIns="73152"/>
          <a:lstStyle/>
          <a:p>
            <a:pPr algn="l">
              <a:lnSpc>
                <a:spcPct val="125000"/>
              </a:lnSpc>
            </a:pPr>
            <a:r>
              <a:rPr sz="11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340864"/>
            <a:ext cx="1042416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신뢰성 로드맵 Phase 1 ~ 5</a:t>
            </a:r>
            <a:r>
              <a:rPr sz="10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   새 기능이 아니라, 판정이 흔들리는 구조적 원인을 걷어내는 작업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14400" y="2724912"/>
          <a:ext cx="10378440" cy="193852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685800"/>
                <a:gridCol w="4023360"/>
                <a:gridCol w="4480560"/>
                <a:gridCol w="118872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 하는가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 시 현장에서 확인할 것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하네스와 CI 회귀 게이트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· 경보 동작이 이전과 같은가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 크리티컬 경로 골든 테스트 + PDA 이식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천천히 접근하는 지게차에 경고가 뜨는가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BleService 분해 (약 1,000줄 판정 로직)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달라진 게 없는가 — 동작 보존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기기 상태 단일화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 이상 구동 후에도 느려지지 않는가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워커 분리 (스캔 콜백 = 메인 스레드 해소)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20대 이상에서 화면이 끊기지 않는가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0120" y="4754880"/>
            <a:ext cx="103327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이 순서인 이유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2412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①  측정 수단이 먼저다</a:t>
            </a: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—  테스트 0건 상태에서 안전 로직을 분해하면, 회귀를 현장에서 발견하는 방식이 그대로 남는다.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21808"/>
            <a:ext cx="102412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②  단계마다 단독 배포한다</a:t>
            </a: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—  변경을 섞어 내보내면 현장에서 회귀가 나도 어느 변경 탓인지 특정할 수 없다.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14416"/>
            <a:ext cx="102412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③  전 단계가 출하 가능하다</a:t>
            </a:r>
            <a:r>
              <a:rPr sz="10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—  로드맵이 멈춰도 v1.1.70 이 현장에서 그대로 돌아 보호가 끊기지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8226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DF93A-6940-C420-8F04-09C5E04B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419B5E65-535B-4BE8-B265-F7A2ED484B0E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CBE16E6D-1B61-A34D-99F9-E24D1B249353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5D3D4D42-41D9-C74E-AB8D-75D1ADAE76E3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A51756E7-6209-AE7A-DFCC-499A91AB73A4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B461F38B-7A18-D769-5A40-68609D29B598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F98826E6-208A-11A4-CE61-9864EA0D10C3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6620885B-9B7B-8B38-A3E2-F86737F78672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E2F3A6A-B53A-B9C8-72CA-7C7EF42F93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B281D-0C9B-1359-E7D4-5E6E45ABF276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0736B-B649-D917-3D3E-2020C97C836E}"/>
              </a:ext>
            </a:extLst>
          </p:cNvPr>
          <p:cNvSpPr txBox="1"/>
          <p:nvPr/>
        </p:nvSpPr>
        <p:spPr>
          <a:xfrm>
            <a:off x="703941" y="1553619"/>
            <a:ext cx="1270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E57673A-F710-C6DC-E73C-12F62FD0C170}"/>
              </a:ext>
            </a:extLst>
          </p:cNvPr>
          <p:cNvGrpSpPr/>
          <p:nvPr/>
        </p:nvGrpSpPr>
        <p:grpSpPr>
          <a:xfrm>
            <a:off x="6160736" y="2164946"/>
            <a:ext cx="5341260" cy="4180291"/>
            <a:chOff x="6096000" y="2164946"/>
            <a:chExt cx="5341260" cy="418029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EA20687-C7E7-613F-A70E-CAEECD3A9333}"/>
                </a:ext>
              </a:extLst>
            </p:cNvPr>
            <p:cNvSpPr/>
            <p:nvPr/>
          </p:nvSpPr>
          <p:spPr>
            <a:xfrm>
              <a:off x="6096000" y="2164946"/>
              <a:ext cx="5341260" cy="4180291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18288" rIns="18288" tIns="365760" bIns="73152"/>
            <a:lstStyle/>
            <a:p>
              <a:pPr algn="l">
                <a:lnSpc>
                  <a:spcPct val="125000"/>
                </a:lnSpc>
              </a:pPr>
              <a:r>
                <a:rPr sz="11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/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A28C5CD-725E-8E27-8592-03238D2C424B}"/>
                </a:ext>
              </a:extLst>
            </p:cNvPr>
            <p:cNvSpPr/>
            <p:nvPr/>
          </p:nvSpPr>
          <p:spPr>
            <a:xfrm>
              <a:off x="6146800" y="2219202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지표 확보 방법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CE7117-4440-E729-9CD4-D8362B8638D3}"/>
              </a:ext>
            </a:extLst>
          </p:cNvPr>
          <p:cNvGrpSpPr/>
          <p:nvPr/>
        </p:nvGrpSpPr>
        <p:grpSpPr>
          <a:xfrm>
            <a:off x="703940" y="2164947"/>
            <a:ext cx="5341260" cy="4180291"/>
            <a:chOff x="703940" y="2164947"/>
            <a:chExt cx="5341260" cy="418029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E06F6B9-1C6C-987C-7E36-BA46EE1C3EEF}"/>
                </a:ext>
              </a:extLst>
            </p:cNvPr>
            <p:cNvSpPr/>
            <p:nvPr/>
          </p:nvSpPr>
          <p:spPr>
            <a:xfrm>
              <a:off x="703940" y="2164947"/>
              <a:ext cx="5341260" cy="4180291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18288" rIns="18288" tIns="365760" bIns="73152"/>
            <a:lstStyle/>
            <a:p>
              <a:pPr algn="l">
                <a:lnSpc>
                  <a:spcPct val="125000"/>
                </a:lnSpc>
              </a:pPr>
              <a:r>
                <a:rPr sz="11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/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6FB2000-CEC5-1606-A1C3-5700910809C9}"/>
                </a:ext>
              </a:extLst>
            </p:cNvPr>
            <p:cNvSpPr/>
            <p:nvPr/>
          </p:nvSpPr>
          <p:spPr>
            <a:xfrm>
              <a:off x="754740" y="2219202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성공 지표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923544" y="2569464"/>
            <a:ext cx="4901183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네 지표 모두 목표를 숫자로 둔다</a:t>
            </a:r>
            <a:r>
              <a:rPr sz="850" b="0" i="0" u="sng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   밑줄 = 추정치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" y="2825496"/>
            <a:ext cx="4974336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78408" y="2926079"/>
            <a:ext cx="50292" cy="530352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24712" y="2889503"/>
            <a:ext cx="4608575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KPI 1   </a:t>
            </a:r>
            <a:r>
              <a:rPr sz="1050" b="1" i="0" u="none">
                <a:solidFill>
                  <a:srgbClr val="B9770B"/>
                </a:solidFill>
                <a:latin typeface="맑은 고딕"/>
                <a:ea typeface="맑은 고딕"/>
                <a:cs typeface="맑은 고딕"/>
              </a:rPr>
              <a:t>접근 조우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081528"/>
            <a:ext cx="4608575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경고 반경 15m 진입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3282696"/>
            <a:ext cx="4608575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u="sng">
                <a:solidFill>
                  <a:srgbClr val="B9770B"/>
                </a:solidFill>
                <a:latin typeface="맑은 고딕"/>
                <a:ea typeface="맑은 고딕"/>
                <a:cs typeface="맑은 고딕"/>
              </a:rPr>
              <a:t>교대당 95회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" y="3611879"/>
            <a:ext cx="4974336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78408" y="3712463"/>
            <a:ext cx="50292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24712" y="3675887"/>
            <a:ext cx="4608575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KPI 2   </a:t>
            </a:r>
            <a:r>
              <a:rPr sz="1050" b="1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위험 조우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3867911"/>
            <a:ext cx="4608575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위험 반경 8m 진입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4069080"/>
            <a:ext cx="4608575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u="sng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교대당 27회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" y="4398264"/>
            <a:ext cx="4974336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78408" y="4498848"/>
            <a:ext cx="50292" cy="530352"/>
          </a:xfrm>
          <a:prstGeom prst="rect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24712" y="4462272"/>
            <a:ext cx="4608575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KPI 3   </a:t>
            </a:r>
            <a:r>
              <a:rPr sz="1050" b="1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오발령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4654296"/>
            <a:ext cx="4608575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정지 중 반복 · 이탈 후 재발령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4855464"/>
            <a:ext cx="4608575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u="sng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교대당 3회 미만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" y="5184648"/>
            <a:ext cx="4974336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78408" y="5285232"/>
            <a:ext cx="50292" cy="530352"/>
          </a:xfrm>
          <a:prstGeom prst="rect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24712" y="5248656"/>
            <a:ext cx="4608575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KPI 4   </a:t>
            </a:r>
            <a:r>
              <a:rPr sz="1050" b="1" i="0" u="none">
                <a:solidFill>
                  <a:srgbClr val="1B8A6B"/>
                </a:solidFill>
                <a:latin typeface="맑은 고딕"/>
                <a:ea typeface="맑은 고딕"/>
                <a:cs typeface="맑은 고딕"/>
              </a:rPr>
              <a:t>체감 만족도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" y="5440680"/>
            <a:ext cx="4608575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경보 타이밍 · 거리 정확도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" y="5641848"/>
            <a:ext cx="4608575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u="sng">
                <a:solidFill>
                  <a:srgbClr val="1B8A6B"/>
                </a:solidFill>
                <a:latin typeface="맑은 고딕"/>
                <a:ea typeface="맑은 고딕"/>
                <a:cs typeface="맑은 고딕"/>
              </a:rPr>
              <a:t>7.0 /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" y="5952744"/>
            <a:ext cx="4901183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「미발령 0건」은 지표에서 뺐다</a:t>
            </a:r>
            <a:r>
              <a:rPr sz="90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—  미발령은 정의상 관측되지 않는다. 서베이의 ‘경보가 늦었다’ 응답으로 간접 관측한다.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2569464"/>
            <a:ext cx="4901183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산출 근거 — 가정값은 하나뿐이다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6345936" y="2880360"/>
          <a:ext cx="4974336" cy="19751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07008"/>
                <a:gridCol w="1170432"/>
                <a:gridCol w="2596896"/>
              </a:tblGrid>
              <a:tr h="2468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감지 쌍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21쌍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4 + 상시 3 = 7대, C(7,2) — 실측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쌍당 경고 조우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i="0" u="sng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0.5회 / 시간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보수적 가정 — </a:t>
                      </a:r>
                      <a:r>
                        <a:rPr sz="850" b="1" i="0" u="none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유일한 가정값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 조우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sng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교대당 95회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 × 9시간 × 0.5 = 94.5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전이율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i="0" u="sng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0.28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반경 비의 제곱 (8m / 15m)²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조우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sng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교대당 27회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 × 0.28 = 26.6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오발령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i="0" u="sng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교대당 3회 미만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음소거 · 이탈 억제 적용 후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체감 만족도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i="0" u="sng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7.0 / 10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4건 전량 반영 · 3개 센터 사용 지속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382512" y="4873752"/>
            <a:ext cx="4901183" cy="3063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경보 이력은 이미 쌓이고 있다 — </a:t>
            </a:r>
            <a:r>
              <a:rPr sz="8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alerts/{yyyyMMdd} = timestamp · deviceId · walkerId · rssi · alertLevel</a:t>
            </a:r>
            <a:r>
              <a:rPr sz="850" b="0" i="0" u="none">
                <a:solidFill>
                  <a:srgbClr val="9AA0A6"/>
                </a:solidFill>
                <a:latin typeface="맑은 고딕"/>
                <a:ea typeface="맑은 고딕"/>
                <a:cs typeface="맑은 고딕"/>
              </a:rPr>
              <a:t>  (FirebaseManager.kt:15-29)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5180076"/>
            <a:ext cx="4901183" cy="3063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기기당 1분 1회 스로틀(BleService.kt:2529) 이라 1건 = 조우 1분이다. 중복이 걷힌 값이라 아차사고 대리지표로 쓴다 — 사고 건수가 아니다.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486400"/>
            <a:ext cx="4901183" cy="3063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4주 집계 한 번이면 가정값이 실측으로 바뀌고, 위 표의 나머지가 전부 따라 교체된다.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5792724"/>
            <a:ext cx="4901183" cy="3063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회귀 재발은 CI 골든 테스트가 잡는다 — 실패 시 릴리스가 자동 차단된다 (Phase 1, 동작 중).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6099048"/>
            <a:ext cx="4901183" cy="3063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·  사고 건수 · 셧다운 건수는 회사 데이터로 존재하지 않아 지표에서 제외했다.</a:t>
            </a:r>
          </a:p>
        </p:txBody>
      </p:sp>
    </p:spTree>
    <p:extLst>
      <p:ext uri="{BB962C8B-B14F-4D97-AF65-F5344CB8AC3E}">
        <p14:creationId xmlns:p14="http://schemas.microsoft.com/office/powerpoint/2010/main" val="2297959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53179-4997-7A14-8E32-7B026191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FB861D27-878D-BC62-9447-E6B6C5A15679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A5AF7A6B-81B8-C666-68C8-5475387E218C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0BA1BA75-F17C-D403-3B41-FD6C3EF27783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230E83A9-8614-D409-2FE9-F6193F200FBD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73FBD945-0408-B5CB-9468-30BC8632B193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EF77CF77-1300-0D90-8A77-6A2FB528B969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A484BB01-57D4-F3AD-EF0B-A734E5CABDE7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49F1FC-7F54-9732-8890-EC2CC4E908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C86447-D02C-5C04-CD6F-D1C60502C2ED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0403D0-D49A-CFBA-7C24-510845F99109}"/>
              </a:ext>
            </a:extLst>
          </p:cNvPr>
          <p:cNvSpPr txBox="1"/>
          <p:nvPr/>
        </p:nvSpPr>
        <p:spPr>
          <a:xfrm>
            <a:off x="703941" y="1553619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82BAAD4-F4F6-12CE-7E95-DF7C1D981D03}"/>
              </a:ext>
            </a:extLst>
          </p:cNvPr>
          <p:cNvGrpSpPr/>
          <p:nvPr/>
        </p:nvGrpSpPr>
        <p:grpSpPr>
          <a:xfrm>
            <a:off x="6160736" y="2164946"/>
            <a:ext cx="5341260" cy="4180291"/>
            <a:chOff x="6096000" y="2164946"/>
            <a:chExt cx="5341260" cy="418029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0F014A21-20F8-D823-836A-76B3B57BAE23}"/>
                </a:ext>
              </a:extLst>
            </p:cNvPr>
            <p:cNvSpPr/>
            <p:nvPr/>
          </p:nvSpPr>
          <p:spPr>
            <a:xfrm>
              <a:off x="6096000" y="2164946"/>
              <a:ext cx="5341260" cy="4180291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18288" rIns="18288" tIns="365760" bIns="73152"/>
            <a:lstStyle/>
            <a:p>
              <a:pPr algn="l">
                <a:lnSpc>
                  <a:spcPct val="125000"/>
                </a:lnSpc>
              </a:pPr>
              <a:r>
                <a:rPr sz="11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/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826C1C10-F67A-A9FE-AED3-166F61A94A4E}"/>
                </a:ext>
              </a:extLst>
            </p:cNvPr>
            <p:cNvSpPr/>
            <p:nvPr/>
          </p:nvSpPr>
          <p:spPr>
            <a:xfrm>
              <a:off x="6146800" y="2219202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지표 확보 방법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4EE4EFD-AC99-1B86-AC5B-88EC167701F4}"/>
              </a:ext>
            </a:extLst>
          </p:cNvPr>
          <p:cNvGrpSpPr/>
          <p:nvPr/>
        </p:nvGrpSpPr>
        <p:grpSpPr>
          <a:xfrm>
            <a:off x="703940" y="2164947"/>
            <a:ext cx="5341260" cy="4180291"/>
            <a:chOff x="703940" y="2164947"/>
            <a:chExt cx="5341260" cy="418029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BEB07C6-B24D-0712-D330-5EA4615BDCF3}"/>
                </a:ext>
              </a:extLst>
            </p:cNvPr>
            <p:cNvSpPr/>
            <p:nvPr/>
          </p:nvSpPr>
          <p:spPr>
            <a:xfrm>
              <a:off x="703940" y="2164947"/>
              <a:ext cx="5341260" cy="4180291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18288" rIns="18288" tIns="365760" bIns="73152"/>
            <a:lstStyle/>
            <a:p>
              <a:pPr algn="l">
                <a:lnSpc>
                  <a:spcPct val="125000"/>
                </a:lnSpc>
              </a:pPr>
              <a:r>
                <a:rPr sz="11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/>
              </a:r>
              <a:endPara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0CE46924-0EF2-FDDE-49AA-9149BDC873EB}"/>
                </a:ext>
              </a:extLst>
            </p:cNvPr>
            <p:cNvSpPr/>
            <p:nvPr/>
          </p:nvSpPr>
          <p:spPr>
            <a:xfrm>
              <a:off x="754740" y="2219202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중단 지표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923544" y="2551176"/>
            <a:ext cx="4901183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현장 운영 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2825496"/>
            <a:ext cx="4791456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미발령</a:t>
            </a:r>
            <a:r>
              <a:rPr sz="850" b="1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  즉시 중단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2999232"/>
            <a:ext cx="4791456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접근했는데 경보가 뜨지 않은 사례 1건이라도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3209544"/>
            <a:ext cx="4791456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오발령 지속</a:t>
            </a:r>
            <a:r>
              <a:rPr sz="850" b="1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  즉시 중단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" y="3383279"/>
            <a:ext cx="4791456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정지 중 계속 울림 · 이탈 후 다시 울림이 반복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" y="3593591"/>
            <a:ext cx="4791456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감지 중단</a:t>
            </a:r>
            <a:r>
              <a:rPr sz="850" b="1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 관측 시 판단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3767328"/>
            <a:ext cx="4791456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상시 알림이 ‘이상’ 으로 바뀌거나 사라짐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" y="3977639"/>
            <a:ext cx="4791456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경보 피로</a:t>
            </a:r>
            <a:r>
              <a:rPr sz="850" b="1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 관측 시 판단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" y="4151376"/>
            <a:ext cx="4791456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무음으로 두거나 앱을 꺼 둔 단말이 늘어남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4453127"/>
            <a:ext cx="4901183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업데이트 · 수정 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" y="4727448"/>
            <a:ext cx="4791456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버전 혼재</a:t>
            </a:r>
            <a:r>
              <a:rPr sz="850" b="1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  즉시 중단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" y="4901184"/>
            <a:ext cx="4791456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구버전 단말이 신버전을 감지하지 못함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" y="5111496"/>
            <a:ext cx="4791456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회귀 재발</a:t>
            </a:r>
            <a:r>
              <a:rPr sz="850" b="1" i="0" u="none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  즉시 중단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" y="5285232"/>
            <a:ext cx="4791456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이전에 고친 증상이 다시 관측됨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" y="5495544"/>
            <a:ext cx="4791456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보호 공백</a:t>
            </a:r>
            <a:r>
              <a:rPr sz="850" b="1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 관측 시 판단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" y="5669280"/>
            <a:ext cx="4791456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작업 시간 중 일괄 업데이트 — 교대 전환 때만 배포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" y="5879592"/>
            <a:ext cx="4791456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서비스 미기동</a:t>
            </a:r>
            <a:r>
              <a:rPr sz="850" b="1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   관측 시 판단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" y="6053328"/>
            <a:ext cx="4791456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업데이트 · 역할 전환 후 백그라운드 실행 미복구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551176"/>
            <a:ext cx="4901183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무엇으로 관측하는가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2825496"/>
            <a:ext cx="4828031" cy="2971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미발령 · 오발령 — 작업자 신고와 Firebase 경보 이력을 맞춰 판정한다.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3122676"/>
            <a:ext cx="4828031" cy="2971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감지 중단 · 서비스 미기동 — 상시 알림이 스스로 이상 상태를 드러낸다 (v1.1.64).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3419856"/>
            <a:ext cx="4828031" cy="2971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버전 혼재 — 배포 후 전 단말 버전 확인. 1바이트 프로토콜은 구버전과 호환된다.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3717035"/>
            <a:ext cx="4828031" cy="2971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회귀 재발 — CI 골든 테스트가 잡는다. 실패 시 릴리스 자동 차단.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7376" y="4014215"/>
            <a:ext cx="4828031" cy="2971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 경보 피로 — 서베이와 무음 설정 비율로 본다.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416552"/>
            <a:ext cx="4901183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Rollback 기준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4709160"/>
            <a:ext cx="482803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즉시 롤백</a:t>
            </a:r>
          </a:p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직전 태그 APK 로 되돌린다 — 현장 재설치 없이 배포된다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7376" y="5038344"/>
            <a:ext cx="482803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선행 확인</a:t>
            </a:r>
          </a:p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전 단말 배포 전 1대에서 먼저 확인한다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5367528"/>
            <a:ext cx="482803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빌드 차단</a:t>
            </a:r>
          </a:p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골든 테스트가 실패하면 릴리스가 자동 차단된다 (동작 중)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7376" y="5696712"/>
            <a:ext cx="482803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원인 귀속</a:t>
            </a:r>
          </a:p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단계를 단독 배포하므로 어느 변경 탓인지 특정된다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7376" y="6025896"/>
            <a:ext cx="482803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재개 조건</a:t>
            </a:r>
          </a:p>
          <a:p>
            <a:pPr algn="l">
              <a:lnSpc>
                <a:spcPct val="120000"/>
              </a:lnSpc>
            </a:pPr>
            <a:r>
              <a:rPr sz="850" b="0" i="0" u="none">
                <a:solidFill>
                  <a:srgbClr val="6B7278"/>
                </a:solidFill>
                <a:latin typeface="맑은 고딕"/>
                <a:ea typeface="맑은 고딕"/>
                <a:cs typeface="맑은 고딕"/>
              </a:rPr>
              <a:t>실패한 상황을 테스트로 고정한 뒤에만 다음 단계로</a:t>
            </a:r>
          </a:p>
        </p:txBody>
      </p:sp>
    </p:spTree>
    <p:extLst>
      <p:ext uri="{BB962C8B-B14F-4D97-AF65-F5344CB8AC3E}">
        <p14:creationId xmlns:p14="http://schemas.microsoft.com/office/powerpoint/2010/main" val="3959081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8FEA-475F-5C95-271A-2B2EDE765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7DF67BD0-3452-DEA9-F90F-0BB7CAA828DB}"/>
              </a:ext>
            </a:extLst>
          </p:cNvPr>
          <p:cNvSpPr/>
          <p:nvPr/>
        </p:nvSpPr>
        <p:spPr>
          <a:xfrm>
            <a:off x="968013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rgbClr val="0538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11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4A41BF43-2E78-AC0C-BD86-0B021DCB70A1}"/>
              </a:ext>
            </a:extLst>
          </p:cNvPr>
          <p:cNvSpPr/>
          <p:nvPr/>
        </p:nvSpPr>
        <p:spPr>
          <a:xfrm>
            <a:off x="812574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C6830D65-AC58-E764-C405-BC5A44F49F2F}"/>
              </a:ext>
            </a:extLst>
          </p:cNvPr>
          <p:cNvSpPr/>
          <p:nvPr/>
        </p:nvSpPr>
        <p:spPr>
          <a:xfrm>
            <a:off x="6571354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Metrics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70C28EEB-59AC-7C59-CA8B-5D43C41BDE32}"/>
              </a:ext>
            </a:extLst>
          </p:cNvPr>
          <p:cNvSpPr/>
          <p:nvPr/>
        </p:nvSpPr>
        <p:spPr>
          <a:xfrm>
            <a:off x="5016962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57D547A0-457C-83CB-C3C8-A309D5128508}"/>
              </a:ext>
            </a:extLst>
          </p:cNvPr>
          <p:cNvSpPr/>
          <p:nvPr/>
        </p:nvSpPr>
        <p:spPr>
          <a:xfrm>
            <a:off x="3462570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Benchmark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5EF0C421-B110-989E-3C47-20305620D323}"/>
              </a:ext>
            </a:extLst>
          </p:cNvPr>
          <p:cNvSpPr/>
          <p:nvPr/>
        </p:nvSpPr>
        <p:spPr>
          <a:xfrm>
            <a:off x="1908178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Tradeoffs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1A09513F-6E51-AA62-5317-046801EB621B}"/>
              </a:ext>
            </a:extLst>
          </p:cNvPr>
          <p:cNvSpPr/>
          <p:nvPr/>
        </p:nvSpPr>
        <p:spPr>
          <a:xfrm>
            <a:off x="353786" y="398687"/>
            <a:ext cx="1620000" cy="689883"/>
          </a:xfrm>
          <a:prstGeom prst="snip1Rect">
            <a:avLst>
              <a:gd name="adj" fmla="val 3731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 Statement</a:t>
            </a:r>
            <a:endParaRPr lang="ko-KR" altLang="en-US" sz="11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2874243-A13E-9FC4-2173-15DD7392E5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3786" y="925691"/>
            <a:ext cx="11484428" cy="5650894"/>
          </a:xfrm>
          <a:prstGeom prst="roundRect">
            <a:avLst>
              <a:gd name="adj" fmla="val 2818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40E45D-30B4-FDB7-24F5-84CEA42570B8}"/>
              </a:ext>
            </a:extLst>
          </p:cNvPr>
          <p:cNvSpPr txBox="1"/>
          <p:nvPr/>
        </p:nvSpPr>
        <p:spPr>
          <a:xfrm>
            <a:off x="703941" y="1184287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08.</a:t>
            </a:r>
            <a:endParaRPr lang="ko-KR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44B6F-4A82-4BD7-235D-213541531A47}"/>
              </a:ext>
            </a:extLst>
          </p:cNvPr>
          <p:cNvSpPr txBox="1"/>
          <p:nvPr/>
        </p:nvSpPr>
        <p:spPr>
          <a:xfrm>
            <a:off x="703941" y="1553619"/>
            <a:ext cx="239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Loop</a:t>
            </a:r>
            <a:endParaRPr lang="ko-KR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835D4D-F271-F36E-1A5C-9020E4B346E4}"/>
              </a:ext>
            </a:extLst>
          </p:cNvPr>
          <p:cNvGrpSpPr/>
          <p:nvPr/>
        </p:nvGrpSpPr>
        <p:grpSpPr>
          <a:xfrm>
            <a:off x="703940" y="2173040"/>
            <a:ext cx="10792735" cy="2131924"/>
            <a:chOff x="703941" y="2173040"/>
            <a:chExt cx="9918351" cy="2131924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053C676F-79ED-1837-A306-E08891475EDA}"/>
                </a:ext>
              </a:extLst>
            </p:cNvPr>
            <p:cNvSpPr/>
            <p:nvPr/>
          </p:nvSpPr>
          <p:spPr>
            <a:xfrm>
              <a:off x="703941" y="2173040"/>
              <a:ext cx="9918351" cy="2131924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 lIns="18288" rIns="18288" tIns="365760" bIns="73152"/>
            <a:lstStyle/>
            <a:p>
              <a:pPr algn="l">
                <a:lnSpc>
                  <a:spcPct val="125000"/>
                </a:lnSpc>
              </a:pPr>
              <a:r>
                <a:rPr sz="110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/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5E40E29-5EE3-DF5B-EABD-5B7026344C0B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모니터링 방법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7E2A74F9-6070-6CC1-D35E-7F01FA3216BD}"/>
              </a:ext>
            </a:extLst>
          </p:cNvPr>
          <p:cNvGrpSpPr/>
          <p:nvPr/>
        </p:nvGrpSpPr>
        <p:grpSpPr>
          <a:xfrm>
            <a:off x="703940" y="4462720"/>
            <a:ext cx="10792735" cy="1882518"/>
            <a:chOff x="703940" y="2173040"/>
            <a:chExt cx="10792735" cy="1882518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47304CA0-C295-6A09-BEE7-19D890C6E1CE}"/>
                </a:ext>
              </a:extLst>
            </p:cNvPr>
            <p:cNvSpPr/>
            <p:nvPr/>
          </p:nvSpPr>
          <p:spPr>
            <a:xfrm>
              <a:off x="703940" y="2173040"/>
              <a:ext cx="10792735" cy="1882518"/>
            </a:xfrm>
            <a:prstGeom prst="roundRect">
              <a:avLst>
                <a:gd name="adj" fmla="val 2818"/>
              </a:avLst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19456" rIns="219456" tIns="365760" bIns="73152"/>
            <a:lstStyle/>
            <a:p>
              <a:pPr algn="l">
                <a:lnSpc>
                  <a:spcPct val="135000"/>
                </a:lnSpc>
              </a:pPr>
              <a:r>
                <a:rPr sz="105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① 실측 확보</a:t>
              </a: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  경보 이력 4주 집계 · WF11 · WF21 · WF25 서베이 회수 — 추정치를 실측으로 교체한다.</a:t>
              </a:r>
              <a:r>
                <a:rPr sz="105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        ② PDA 이식</a:t>
              </a: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  Phase 2 에서 업무 단말로 옮겨 개인 폰 임시 설치를 끝낸다.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l">
                <a:lnSpc>
                  <a:spcPct val="135000"/>
                </a:lnSpc>
                <a:spcBef>
                  <a:spcPts val="500"/>
                </a:spcBef>
              </a:pPr>
              <a:r>
                <a:rPr sz="1050" b="1" i="0" u="none">
                  <a:solidFill>
                    <a:srgbClr val="053866"/>
                  </a:solidFill>
                  <a:latin typeface="맑은 고딕"/>
                  <a:ea typeface="맑은 고딕"/>
                  <a:cs typeface="맑은 고딕"/>
                </a:rPr>
                <a:t>③ 확산</a:t>
              </a:r>
              <a:r>
                <a:rPr sz="1050" b="0" i="0" u="none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  정식 과제 등록 후 17개 센터로 — 추가 하드웨어 구매 없이 앱 배포만으로 확산한다. 확산 전에 보안 검토(난독화 · 이력 평문 저장)를 선행한다.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8D96D0D-6F80-D6C2-CDA6-493A29452C83}"/>
                </a:ext>
              </a:extLst>
            </p:cNvPr>
            <p:cNvSpPr/>
            <p:nvPr/>
          </p:nvSpPr>
          <p:spPr>
            <a:xfrm>
              <a:off x="754740" y="2227294"/>
              <a:ext cx="1153438" cy="2908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확산 계획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960120" y="2560320"/>
            <a:ext cx="10277856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피드백은 이미 한 바퀴 돌았다 — 지적이 코드에 남아 있다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60120" y="2852928"/>
          <a:ext cx="5074920" cy="11247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30352"/>
                <a:gridCol w="2624328"/>
                <a:gridCol w="1920240"/>
              </a:tblGrid>
              <a:tr h="2468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차수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내용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전환 버튼 · EPJ 역할 숨김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재설치 없이 화면에서 역할 전환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등급 5초 이상이면 자동 음소거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 오르면 즉시 재발령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세이프존 — 비콘으로 경보 억제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존 안은 상대에게도 안전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373368" y="2852928"/>
          <a:ext cx="5120640" cy="11247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960120"/>
                <a:gridCol w="2011680"/>
                <a:gridCol w="2148840"/>
              </a:tblGrid>
              <a:tr h="2468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Before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After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53866"/>
                      </a:solidFill>
                      <a:prstDash val="solid"/>
                    </a:lnB>
                    <a:lnT w="9525" cap="flat" cmpd="sng" algn="ctr">
                      <a:solidFill>
                        <a:srgbClr val="053866"/>
                      </a:solidFill>
                      <a:prstDash val="solid"/>
                    </a:lnT>
                    <a:lnR w="9525" cap="flat" cmpd="sng" algn="ctr">
                      <a:solidFill>
                        <a:srgbClr val="053866"/>
                      </a:solidFill>
                      <a:prstDash val="solid"/>
                    </a:lnR>
                    <a:lnL w="9525" cap="flat" cmpd="sng" algn="ctr">
                      <a:solidFill>
                        <a:srgbClr val="053866"/>
                      </a:solidFill>
                      <a:prstDash val="solid"/>
                    </a:lnL>
                    <a:solidFill>
                      <a:srgbClr val="05386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 상태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끊겨도 알 수 없음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상시 알림에 이상 표시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이탈 후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멀어졌는데 다시 울림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 범위 재발령 억제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끄기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단계가 번거로움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본문을 누르면 즉시 무음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8DDE1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60120" y="4059935"/>
            <a:ext cx="10277856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u="none">
                <a:solidFill>
                  <a:srgbClr val="053866"/>
                </a:solidFill>
                <a:latin typeface="맑은 고딕"/>
                <a:ea typeface="맑은 고딕"/>
                <a:cs typeface="맑은 고딕"/>
              </a:rPr>
              <a:t>반영 이력은 커밋에 남아 있다  —  </a:t>
            </a:r>
            <a:r>
              <a:rPr sz="9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리뷰 1·2·3차 v1.1.60 · v1.1.61 · v1.1.62,  보호 끊김 v1.1.64,  이탈 재발령 v1.1.51,  알림 본문 탭 v1.1.68,  사이드바 v1.1.69 · v1.1.70</a:t>
            </a:r>
          </a:p>
        </p:txBody>
      </p:sp>
    </p:spTree>
    <p:extLst>
      <p:ext uri="{BB962C8B-B14F-4D97-AF65-F5344CB8AC3E}">
        <p14:creationId xmlns:p14="http://schemas.microsoft.com/office/powerpoint/2010/main" val="2910445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D43A2DCBE527428190BB8324CA881A" ma:contentTypeVersion="11" ma:contentTypeDescription="Create a new document." ma:contentTypeScope="" ma:versionID="11ffdfd663cf357fcd2a817bd37773db">
  <xsd:schema xmlns:xsd="http://www.w3.org/2001/XMLSchema" xmlns:xs="http://www.w3.org/2001/XMLSchema" xmlns:p="http://schemas.microsoft.com/office/2006/metadata/properties" xmlns:ns2="9b9c23ca-c45f-4301-bc5a-b8996b68e0ec" xmlns:ns3="4303c087-a5f2-4c17-9b2a-179d9efe9d07" targetNamespace="http://schemas.microsoft.com/office/2006/metadata/properties" ma:root="true" ma:fieldsID="d3ce36e5869a1d3a5e07ee9eb5d1d59d" ns2:_="" ns3:_="">
    <xsd:import namespace="9b9c23ca-c45f-4301-bc5a-b8996b68e0ec"/>
    <xsd:import namespace="4303c087-a5f2-4c17-9b2a-179d9efe9d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9c23ca-c45f-4301-bc5a-b8996b68e0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e116155-e74f-41f9-90e9-2cd01caac4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03c087-a5f2-4c17-9b2a-179d9efe9d0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7eb5711-304d-43e4-811c-13aad2b1fd70}" ma:internalName="TaxCatchAll" ma:showField="CatchAllData" ma:web="4303c087-a5f2-4c17-9b2a-179d9efe9d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titus xmlns="http://schemas.titus.com/TitusProperties/">
  <TitusGUID xmlns="">c7565001-ada1-4ecd-85a7-b63a0ddcaa1b</TitusGUID>
</titu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b9c23ca-c45f-4301-bc5a-b8996b68e0ec">
      <Terms xmlns="http://schemas.microsoft.com/office/infopath/2007/PartnerControls"/>
    </lcf76f155ced4ddcb4097134ff3c332f>
    <TaxCatchAll xmlns="4303c087-a5f2-4c17-9b2a-179d9efe9d07" xsi:nil="true"/>
  </documentManagement>
</p:properties>
</file>

<file path=customXml/itemProps1.xml><?xml version="1.0" encoding="utf-8"?>
<ds:datastoreItem xmlns:ds="http://schemas.openxmlformats.org/officeDocument/2006/customXml" ds:itemID="{45B17B35-448E-4613-8EA9-E883F45783C6}">
  <ds:schemaRefs>
    <ds:schemaRef ds:uri="4303c087-a5f2-4c17-9b2a-179d9efe9d07"/>
    <ds:schemaRef ds:uri="9b9c23ca-c45f-4301-bc5a-b8996b68e0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89B358F-822C-464C-9B9E-1D9162223D06}">
  <ds:schemaRefs>
    <ds:schemaRef ds:uri=""/>
    <ds:schemaRef ds:uri="http://schemas.titus.com/TitusProperties/"/>
  </ds:schemaRefs>
</ds:datastoreItem>
</file>

<file path=customXml/itemProps3.xml><?xml version="1.0" encoding="utf-8"?>
<ds:datastoreItem xmlns:ds="http://schemas.openxmlformats.org/officeDocument/2006/customXml" ds:itemID="{1100C37A-0830-478A-A7F6-50395C2200B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144CC79-0753-449D-A633-FD3A9F770477}">
  <ds:schemaRefs>
    <ds:schemaRef ds:uri="16a3ab6b-1edf-4599-82cd-4840175f3d36"/>
    <ds:schemaRef ds:uri="4303c087-a5f2-4c17-9b2a-179d9efe9d07"/>
    <ds:schemaRef ds:uri="4c3b9d58-ac82-42da-8bfc-31de2fa78469"/>
    <ds:schemaRef ds:uri="9b9c23ca-c45f-4301-bc5a-b8996b68e0e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5a477b8-9606-49bd-8054-914ef373fbd8}" enabled="1" method="Privileged" siteId="{9d9f74be-786b-48f6-8e18-83cf7a2eef7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Lucy Gee [Operations Learning Munjeong Cousolve Learning]</dc:creator>
  <cp:revision>1</cp:revision>
  <dcterms:created xsi:type="dcterms:W3CDTF">2025-03-19T01:57:49Z</dcterms:created>
  <dcterms:modified xsi:type="dcterms:W3CDTF">2026-09-01T06:01:58Z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0x010100C1D43A2DCBE527428190BB8324CA881A</vt:lpwstr>
  </property>
  <property fmtid="{D5CDD505-2E9C-101B-9397-08002B2CF9AE}" pid="3" name="MediaServiceImageTags">
    <vt:lpwstr/>
  </property>
  <property fmtid="{D5CDD505-2E9C-101B-9397-08002B2CF9AE}" pid="4" name="TitusGUID">
    <vt:lpwstr>c7565001-ada1-4ecd-85a7-b63a0ddcaa1b</vt:lpwstr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bool>false</vt:bool>
  </property>
  <property fmtid="{D5CDD505-2E9C-101B-9397-08002B2CF9AE}" pid="13" name="Order">
    <vt:r8>14904600</vt:r8>
  </property>
</Properties>
</file>