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</p:sldMasterIdLst>
  <p:notesMasterIdLst>
    <p:notesMasterId r:id="rId22"/>
  </p:notesMasterIdLst>
  <p:sldIdLst>
    <p:sldId id="257" r:id="rId6"/>
    <p:sldId id="292" r:id="rId7"/>
    <p:sldId id="293" r:id="rId10"/>
    <p:sldId id="264" r:id="rId11"/>
    <p:sldId id="282" r:id="rId12"/>
    <p:sldId id="283" r:id="rId13"/>
    <p:sldId id="284" r:id="rId14"/>
    <p:sldId id="285" r:id="rId15"/>
    <p:sldId id="286" r:id="rId16"/>
    <p:sldId id="287" r:id="rId17"/>
    <p:sldId id="291" r:id="rId18"/>
    <p:sldId id="288" r:id="rId19"/>
    <p:sldId id="289" r:id="rId20"/>
    <p:sldId id="290" r:id="rId2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997" userDrawn="1">
          <p15:clr>
            <a:srgbClr val="A4A3A4"/>
          </p15:clr>
        </p15:guide>
        <p15:guide id="2" pos="7242" userDrawn="1">
          <p15:clr>
            <a:srgbClr val="A4A3A4"/>
          </p15:clr>
        </p15:guide>
        <p15:guide id="3" orient="horz" pos="1366" userDrawn="1">
          <p15:clr>
            <a:srgbClr val="A4A3A4"/>
          </p15:clr>
        </p15:guide>
        <p15:guide id="4" pos="438" userDrawn="1">
          <p15:clr>
            <a:srgbClr val="A4A3A4"/>
          </p15:clr>
        </p15:guide>
        <p15:guide id="5" pos="4951" userDrawn="1">
          <p15:clr>
            <a:srgbClr val="A4A3A4"/>
          </p15:clr>
        </p15:guide>
        <p15:guide id="6" pos="152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EC3D3"/>
    <a:srgbClr val="053866"/>
    <a:srgbClr val="AACB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C9926CD-11A3-E76F-5985-074717AA1E8B}" v="2" dt="2026-09-01T06:01:30.8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3997"/>
        <p:guide pos="7242"/>
        <p:guide orient="horz" pos="1366"/>
        <p:guide pos="438"/>
        <p:guide pos="4951"/>
        <p:guide pos="1527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6/11/relationships/changesInfo" Target="changesInfos/changesInfo1.xml"/><Relationship Id="rId28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cy Gee [Operations RM&amp;E]" userId="29bad928-f1f1-49d0-9fbf-4aca6a6e5c44" providerId="ADAL" clId="{FBC98BA3-1757-4909-991B-84C7F80C032E}"/>
    <pc:docChg chg="modSld">
      <pc:chgData name="Lucy Gee [Operations RM&amp;E]" userId="29bad928-f1f1-49d0-9fbf-4aca6a6e5c44" providerId="ADAL" clId="{FBC98BA3-1757-4909-991B-84C7F80C032E}" dt="2026-01-23T06:43:23.449" v="65" actId="1076"/>
      <pc:docMkLst>
        <pc:docMk/>
      </pc:docMkLst>
      <pc:sldChg chg="modSp mod">
        <pc:chgData name="Lucy Gee [Operations RM&amp;E]" userId="29bad928-f1f1-49d0-9fbf-4aca6a6e5c44" providerId="ADAL" clId="{FBC98BA3-1757-4909-991B-84C7F80C032E}" dt="2026-01-23T06:43:23.449" v="65" actId="1076"/>
        <pc:sldMkLst>
          <pc:docMk/>
          <pc:sldMk cId="3476256629" sldId="257"/>
        </pc:sldMkLst>
        <pc:spChg chg="mod">
          <ac:chgData name="Lucy Gee [Operations RM&amp;E]" userId="29bad928-f1f1-49d0-9fbf-4aca6a6e5c44" providerId="ADAL" clId="{FBC98BA3-1757-4909-991B-84C7F80C032E}" dt="2026-01-23T06:43:23.449" v="65" actId="1076"/>
          <ac:spMkLst>
            <pc:docMk/>
            <pc:sldMk cId="3476256629" sldId="257"/>
            <ac:spMk id="2" creationId="{DB7756C3-89E1-07DC-D1AB-78E608C545C1}"/>
          </ac:spMkLst>
        </pc:spChg>
        <pc:spChg chg="mod">
          <ac:chgData name="Lucy Gee [Operations RM&amp;E]" userId="29bad928-f1f1-49d0-9fbf-4aca6a6e5c44" providerId="ADAL" clId="{FBC98BA3-1757-4909-991B-84C7F80C032E}" dt="2026-01-23T06:43:08.222" v="13" actId="20577"/>
          <ac:spMkLst>
            <pc:docMk/>
            <pc:sldMk cId="3476256629" sldId="257"/>
            <ac:spMk id="14" creationId="{55394F2F-E2D3-82B9-0B27-78F58B1D5BD5}"/>
          </ac:spMkLst>
        </pc:spChg>
        <pc:spChg chg="mod">
          <ac:chgData name="Lucy Gee [Operations RM&amp;E]" userId="29bad928-f1f1-49d0-9fbf-4aca6a6e5c44" providerId="ADAL" clId="{FBC98BA3-1757-4909-991B-84C7F80C032E}" dt="2026-01-23T06:43:11.992" v="24" actId="20577"/>
          <ac:spMkLst>
            <pc:docMk/>
            <pc:sldMk cId="3476256629" sldId="257"/>
            <ac:spMk id="15" creationId="{6D7A96A4-EF36-6A3D-8E7E-82336CA6A29D}"/>
          </ac:spMkLst>
        </pc:spChg>
      </pc:sldChg>
    </pc:docChg>
  </pc:docChgLst>
  <pc:docChgLst>
    <pc:chgData name="Cliff Jung [CFS_Process Innovation-OB]" userId="S::cliffih@coupangfs.com::bc861a90-6b73-4216-910a-089a7b8956f2" providerId="AD" clId="Web-{5C9926CD-11A3-E76F-5985-074717AA1E8B}"/>
    <pc:docChg chg="addSld">
      <pc:chgData name="Cliff Jung [CFS_Process Innovation-OB]" userId="S::cliffih@coupangfs.com::bc861a90-6b73-4216-910a-089a7b8956f2" providerId="AD" clId="Web-{5C9926CD-11A3-E76F-5985-074717AA1E8B}" dt="2026-09-01T06:01:30.883" v="1"/>
      <pc:docMkLst>
        <pc:docMk/>
      </pc:docMkLst>
      <pc:sldChg chg="new">
        <pc:chgData name="Cliff Jung [CFS_Process Innovation-OB]" userId="S::cliffih@coupangfs.com::bc861a90-6b73-4216-910a-089a7b8956f2" providerId="AD" clId="Web-{5C9926CD-11A3-E76F-5985-074717AA1E8B}" dt="2026-09-01T06:01:29.180" v="0"/>
        <pc:sldMkLst>
          <pc:docMk/>
          <pc:sldMk cId="1971039174" sldId="294"/>
        </pc:sldMkLst>
      </pc:sldChg>
      <pc:sldChg chg="new">
        <pc:chgData name="Cliff Jung [CFS_Process Innovation-OB]" userId="S::cliffih@coupangfs.com::bc861a90-6b73-4216-910a-089a7b8956f2" providerId="AD" clId="Web-{5C9926CD-11A3-E76F-5985-074717AA1E8B}" dt="2026-09-01T06:01:30.883" v="1"/>
        <pc:sldMkLst>
          <pc:docMk/>
          <pc:sldMk cId="1406353961" sldId="295"/>
        </pc:sldMkLst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장비를 산다면 (태그 착용자만 · 1인당 11만원)</c:v>
                </c:pt>
              </c:strCache>
            </c:strRef>
          </c:tx>
          <c:spPr>
            <a:solidFill>
              <a:srgbClr val="B9770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3명</c:v>
                </c:pt>
                <c:pt idx="1">
                  <c:v>5명</c:v>
                </c:pt>
                <c:pt idx="2">
                  <c:v>10명</c:v>
                </c:pt>
                <c:pt idx="3">
                  <c:v>20명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12</c:v>
                </c:pt>
                <c:pt idx="1">
                  <c:v>20</c:v>
                </c:pt>
                <c:pt idx="2">
                  <c:v>40</c:v>
                </c:pt>
                <c:pt idx="3">
                  <c:v>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앱을 깐다면 (모든 폰끼리 · 추가 0원)</c:v>
                </c:pt>
              </c:strCache>
            </c:strRef>
          </c:tx>
          <c:spPr>
            <a:solidFill>
              <a:srgbClr val="1B8A6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3명</c:v>
                </c:pt>
                <c:pt idx="1">
                  <c:v>5명</c:v>
                </c:pt>
                <c:pt idx="2">
                  <c:v>10명</c:v>
                </c:pt>
                <c:pt idx="3">
                  <c:v>20명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21</c:v>
                </c:pt>
                <c:pt idx="1">
                  <c:v>36</c:v>
                </c:pt>
                <c:pt idx="2">
                  <c:v>91</c:v>
                </c:pt>
                <c:pt idx="3">
                  <c:v>276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850" b="1">
                  <a:solidFill>
                    <a:srgbClr val="404040"/>
                  </a:solidFill>
                  <a:latin typeface="맑은 고딕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overlap val="-12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DE1"/>
            </a:solidFill>
          </a:ln>
        </c:spPr>
        <c:txPr>
          <a:bodyPr/>
          <a:lstStyle/>
          <a:p>
            <a:pPr>
              <a:defRPr sz="850">
                <a:solidFill>
                  <a:srgbClr val="6B7278"/>
                </a:solidFill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36.71999999999997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solidFill>
                <a:srgbClr val="6B7278"/>
              </a:solidFill>
              <a:latin typeface="맑은 고딕"/>
            </a:defRPr>
          </a:pPr>
        </a:p>
      </c:txPr>
    </c:legend>
    <c:dispBlanksAs val="gap"/>
  </c:chart>
  <c:spPr>
    <a:noFill/>
    <a:ln>
      <a:noFill/>
    </a:ln>
  </c:spPr>
  <c:txPr>
    <a:bodyPr/>
    <a:lstStyle/>
    <a:p>
      <a:pPr>
        <a:defRPr sz="850">
          <a:solidFill>
            <a:srgbClr val="6B7278"/>
          </a:solidFill>
          <a:latin typeface="맑은 고딕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F12134-25EC-4DEE-8F2A-66631DDA33DD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CDDAF5-DC3A-421B-83F2-9A7B8D7E7B0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66752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62301-DE04-8D6F-B208-6164813D1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03CD714-A57D-6232-1E8C-F9AECAF12E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347E237-24CC-C373-A83E-203CBF7C97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1E805D-364E-6F35-65A8-9BEC5A0E9F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CDDAF5-DC3A-421B-83F2-9A7B8D7E7B06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26513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CDDAF5-DC3A-421B-83F2-9A7B8D7E7B06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149325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자유형: 도형 32">
            <a:extLst>
              <a:ext uri="{FF2B5EF4-FFF2-40B4-BE49-F238E27FC236}">
                <a16:creationId xmlns:a16="http://schemas.microsoft.com/office/drawing/2014/main" id="{7AD42501-5EC2-536F-1144-14F7751A523C}"/>
              </a:ext>
            </a:extLst>
          </p:cNvPr>
          <p:cNvSpPr/>
          <p:nvPr userDrawn="1"/>
        </p:nvSpPr>
        <p:spPr>
          <a:xfrm>
            <a:off x="10101945" y="0"/>
            <a:ext cx="2090057" cy="1933600"/>
          </a:xfrm>
          <a:custGeom>
            <a:avLst/>
            <a:gdLst>
              <a:gd name="connsiteX0" fmla="*/ 196429 w 2090057"/>
              <a:gd name="connsiteY0" fmla="*/ 0 h 1933600"/>
              <a:gd name="connsiteX1" fmla="*/ 2090057 w 2090057"/>
              <a:gd name="connsiteY1" fmla="*/ 0 h 1933600"/>
              <a:gd name="connsiteX2" fmla="*/ 2090057 w 2090057"/>
              <a:gd name="connsiteY2" fmla="*/ 1619902 h 1933600"/>
              <a:gd name="connsiteX3" fmla="*/ 2061477 w 2090057"/>
              <a:gd name="connsiteY3" fmla="*/ 1645877 h 1933600"/>
              <a:gd name="connsiteX4" fmla="*/ 1260000 w 2090057"/>
              <a:gd name="connsiteY4" fmla="*/ 1933600 h 1933600"/>
              <a:gd name="connsiteX5" fmla="*/ 0 w 2090057"/>
              <a:gd name="connsiteY5" fmla="*/ 673600 h 1933600"/>
              <a:gd name="connsiteX6" fmla="*/ 152075 w 2090057"/>
              <a:gd name="connsiteY6" fmla="*/ 73009 h 193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90057" h="1933600">
                <a:moveTo>
                  <a:pt x="196429" y="0"/>
                </a:moveTo>
                <a:lnTo>
                  <a:pt x="2090057" y="0"/>
                </a:lnTo>
                <a:lnTo>
                  <a:pt x="2090057" y="1619902"/>
                </a:lnTo>
                <a:lnTo>
                  <a:pt x="2061477" y="1645877"/>
                </a:lnTo>
                <a:cubicBezTo>
                  <a:pt x="1843675" y="1825624"/>
                  <a:pt x="1564447" y="1933600"/>
                  <a:pt x="1260000" y="1933600"/>
                </a:cubicBezTo>
                <a:cubicBezTo>
                  <a:pt x="564121" y="1933600"/>
                  <a:pt x="0" y="1369479"/>
                  <a:pt x="0" y="673600"/>
                </a:cubicBezTo>
                <a:cubicBezTo>
                  <a:pt x="0" y="456138"/>
                  <a:pt x="55090" y="251543"/>
                  <a:pt x="152075" y="73009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B36BE609-CE28-AC4D-39DC-8F809BCD2DB1}"/>
              </a:ext>
            </a:extLst>
          </p:cNvPr>
          <p:cNvSpPr/>
          <p:nvPr userDrawn="1"/>
        </p:nvSpPr>
        <p:spPr>
          <a:xfrm>
            <a:off x="-2065196" y="1233716"/>
            <a:ext cx="10794329" cy="5624284"/>
          </a:xfrm>
          <a:custGeom>
            <a:avLst/>
            <a:gdLst>
              <a:gd name="connsiteX0" fmla="*/ 5394329 w 10794329"/>
              <a:gd name="connsiteY0" fmla="*/ 0 h 5624284"/>
              <a:gd name="connsiteX1" fmla="*/ 10794329 w 10794329"/>
              <a:gd name="connsiteY1" fmla="*/ 5400000 h 5624284"/>
              <a:gd name="connsiteX2" fmla="*/ 10788658 w 10794329"/>
              <a:gd name="connsiteY2" fmla="*/ 5624284 h 5624284"/>
              <a:gd name="connsiteX3" fmla="*/ 0 w 10794329"/>
              <a:gd name="connsiteY3" fmla="*/ 5624284 h 5624284"/>
              <a:gd name="connsiteX4" fmla="*/ 0 w 10794329"/>
              <a:gd name="connsiteY4" fmla="*/ 5624283 h 5624284"/>
              <a:gd name="connsiteX5" fmla="*/ 2065196 w 10794329"/>
              <a:gd name="connsiteY5" fmla="*/ 5624283 h 5624284"/>
              <a:gd name="connsiteX6" fmla="*/ 2065196 w 10794329"/>
              <a:gd name="connsiteY6" fmla="*/ 1149980 h 5624284"/>
              <a:gd name="connsiteX7" fmla="*/ 2163423 w 10794329"/>
              <a:gd name="connsiteY7" fmla="*/ 1072789 h 5624284"/>
              <a:gd name="connsiteX8" fmla="*/ 5394329 w 10794329"/>
              <a:gd name="connsiteY8" fmla="*/ 0 h 5624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794329" h="5624284">
                <a:moveTo>
                  <a:pt x="5394329" y="0"/>
                </a:moveTo>
                <a:cubicBezTo>
                  <a:pt x="8376667" y="0"/>
                  <a:pt x="10794329" y="2417662"/>
                  <a:pt x="10794329" y="5400000"/>
                </a:cubicBezTo>
                <a:lnTo>
                  <a:pt x="10788658" y="5624284"/>
                </a:lnTo>
                <a:lnTo>
                  <a:pt x="0" y="5624284"/>
                </a:lnTo>
                <a:lnTo>
                  <a:pt x="0" y="5624283"/>
                </a:lnTo>
                <a:lnTo>
                  <a:pt x="2065196" y="5624283"/>
                </a:lnTo>
                <a:lnTo>
                  <a:pt x="2065196" y="1149980"/>
                </a:lnTo>
                <a:lnTo>
                  <a:pt x="2163423" y="1072789"/>
                </a:lnTo>
                <a:cubicBezTo>
                  <a:pt x="3064373" y="399009"/>
                  <a:pt x="4182754" y="0"/>
                  <a:pt x="5394329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901A9635-792F-5E63-4E41-0D294E6FAF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2686" y="488387"/>
            <a:ext cx="2329533" cy="185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65852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BE570533-D184-D8B5-6B38-D273FB0710C7}"/>
              </a:ext>
            </a:extLst>
          </p:cNvPr>
          <p:cNvSpPr/>
          <p:nvPr userDrawn="1"/>
        </p:nvSpPr>
        <p:spPr>
          <a:xfrm>
            <a:off x="10101945" y="0"/>
            <a:ext cx="2090057" cy="1933600"/>
          </a:xfrm>
          <a:custGeom>
            <a:avLst/>
            <a:gdLst>
              <a:gd name="connsiteX0" fmla="*/ 196429 w 2090057"/>
              <a:gd name="connsiteY0" fmla="*/ 0 h 1933600"/>
              <a:gd name="connsiteX1" fmla="*/ 2090057 w 2090057"/>
              <a:gd name="connsiteY1" fmla="*/ 0 h 1933600"/>
              <a:gd name="connsiteX2" fmla="*/ 2090057 w 2090057"/>
              <a:gd name="connsiteY2" fmla="*/ 1619902 h 1933600"/>
              <a:gd name="connsiteX3" fmla="*/ 2061477 w 2090057"/>
              <a:gd name="connsiteY3" fmla="*/ 1645877 h 1933600"/>
              <a:gd name="connsiteX4" fmla="*/ 1260000 w 2090057"/>
              <a:gd name="connsiteY4" fmla="*/ 1933600 h 1933600"/>
              <a:gd name="connsiteX5" fmla="*/ 0 w 2090057"/>
              <a:gd name="connsiteY5" fmla="*/ 673600 h 1933600"/>
              <a:gd name="connsiteX6" fmla="*/ 152075 w 2090057"/>
              <a:gd name="connsiteY6" fmla="*/ 73009 h 193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90057" h="1933600">
                <a:moveTo>
                  <a:pt x="196429" y="0"/>
                </a:moveTo>
                <a:lnTo>
                  <a:pt x="2090057" y="0"/>
                </a:lnTo>
                <a:lnTo>
                  <a:pt x="2090057" y="1619902"/>
                </a:lnTo>
                <a:lnTo>
                  <a:pt x="2061477" y="1645877"/>
                </a:lnTo>
                <a:cubicBezTo>
                  <a:pt x="1843675" y="1825624"/>
                  <a:pt x="1564447" y="1933600"/>
                  <a:pt x="1260000" y="1933600"/>
                </a:cubicBezTo>
                <a:cubicBezTo>
                  <a:pt x="564121" y="1933600"/>
                  <a:pt x="0" y="1369479"/>
                  <a:pt x="0" y="673600"/>
                </a:cubicBezTo>
                <a:cubicBezTo>
                  <a:pt x="0" y="456138"/>
                  <a:pt x="55090" y="251543"/>
                  <a:pt x="152075" y="73009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CB963013-6D73-39A0-C41E-4DDA7DE5E9B8}"/>
              </a:ext>
            </a:extLst>
          </p:cNvPr>
          <p:cNvSpPr/>
          <p:nvPr userDrawn="1"/>
        </p:nvSpPr>
        <p:spPr>
          <a:xfrm>
            <a:off x="-2065196" y="1233716"/>
            <a:ext cx="10794329" cy="5624284"/>
          </a:xfrm>
          <a:custGeom>
            <a:avLst/>
            <a:gdLst>
              <a:gd name="connsiteX0" fmla="*/ 5394329 w 10794329"/>
              <a:gd name="connsiteY0" fmla="*/ 0 h 5624284"/>
              <a:gd name="connsiteX1" fmla="*/ 10794329 w 10794329"/>
              <a:gd name="connsiteY1" fmla="*/ 5400000 h 5624284"/>
              <a:gd name="connsiteX2" fmla="*/ 10788658 w 10794329"/>
              <a:gd name="connsiteY2" fmla="*/ 5624284 h 5624284"/>
              <a:gd name="connsiteX3" fmla="*/ 0 w 10794329"/>
              <a:gd name="connsiteY3" fmla="*/ 5624284 h 5624284"/>
              <a:gd name="connsiteX4" fmla="*/ 0 w 10794329"/>
              <a:gd name="connsiteY4" fmla="*/ 5624283 h 5624284"/>
              <a:gd name="connsiteX5" fmla="*/ 2065196 w 10794329"/>
              <a:gd name="connsiteY5" fmla="*/ 5624283 h 5624284"/>
              <a:gd name="connsiteX6" fmla="*/ 2065196 w 10794329"/>
              <a:gd name="connsiteY6" fmla="*/ 1149980 h 5624284"/>
              <a:gd name="connsiteX7" fmla="*/ 2163423 w 10794329"/>
              <a:gd name="connsiteY7" fmla="*/ 1072789 h 5624284"/>
              <a:gd name="connsiteX8" fmla="*/ 5394329 w 10794329"/>
              <a:gd name="connsiteY8" fmla="*/ 0 h 5624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794329" h="5624284">
                <a:moveTo>
                  <a:pt x="5394329" y="0"/>
                </a:moveTo>
                <a:cubicBezTo>
                  <a:pt x="8376667" y="0"/>
                  <a:pt x="10794329" y="2417662"/>
                  <a:pt x="10794329" y="5400000"/>
                </a:cubicBezTo>
                <a:lnTo>
                  <a:pt x="10788658" y="5624284"/>
                </a:lnTo>
                <a:lnTo>
                  <a:pt x="0" y="5624284"/>
                </a:lnTo>
                <a:lnTo>
                  <a:pt x="0" y="5624283"/>
                </a:lnTo>
                <a:lnTo>
                  <a:pt x="2065196" y="5624283"/>
                </a:lnTo>
                <a:lnTo>
                  <a:pt x="2065196" y="1149980"/>
                </a:lnTo>
                <a:lnTo>
                  <a:pt x="2163423" y="1072789"/>
                </a:lnTo>
                <a:cubicBezTo>
                  <a:pt x="3064373" y="399009"/>
                  <a:pt x="4182754" y="0"/>
                  <a:pt x="5394329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B11531D1-090E-8E1E-E9A9-FE4D8D9C28EC}"/>
              </a:ext>
            </a:extLst>
          </p:cNvPr>
          <p:cNvSpPr/>
          <p:nvPr userDrawn="1"/>
        </p:nvSpPr>
        <p:spPr>
          <a:xfrm>
            <a:off x="353786" y="281415"/>
            <a:ext cx="11484428" cy="6295170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7B526C25-795D-8C99-D668-9B12303EFDBC}"/>
              </a:ext>
            </a:extLst>
          </p:cNvPr>
          <p:cNvGrpSpPr/>
          <p:nvPr userDrawn="1"/>
        </p:nvGrpSpPr>
        <p:grpSpPr>
          <a:xfrm>
            <a:off x="529781" y="488387"/>
            <a:ext cx="11132438" cy="185213"/>
            <a:chOff x="529781" y="604499"/>
            <a:chExt cx="11132438" cy="185213"/>
          </a:xfrm>
        </p:grpSpPr>
        <p:cxnSp>
          <p:nvCxnSpPr>
            <p:cNvPr id="12" name="직선 연결선 11">
              <a:extLst>
                <a:ext uri="{FF2B5EF4-FFF2-40B4-BE49-F238E27FC236}">
                  <a16:creationId xmlns:a16="http://schemas.microsoft.com/office/drawing/2014/main" id="{AD014558-4CCA-6439-59D7-C7E84067A7C7}"/>
                </a:ext>
              </a:extLst>
            </p:cNvPr>
            <p:cNvCxnSpPr>
              <a:cxnSpLocks/>
            </p:cNvCxnSpPr>
            <p:nvPr/>
          </p:nvCxnSpPr>
          <p:spPr>
            <a:xfrm>
              <a:off x="529781" y="697105"/>
              <a:ext cx="8614219" cy="0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1111D7E1-14B8-E4E7-4FFF-C84736E4C8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32686" y="604499"/>
              <a:ext cx="2329533" cy="18521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743168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D63392-F6A8-9CD8-29BD-8FD8B2ABA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BA8F5EF-1E72-E16E-27F5-72373FB21E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8218549-270D-AB5D-9BC2-AFAE11CF2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33612F-BD47-3A44-D025-029C04E1F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AE15DA-8989-879F-11D5-32546370B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8594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75645B-051A-27A0-D19C-973BC6CB1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C2C421-4B8A-F5A3-D6B3-CDCB6C5238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9AEBD18-9F2C-B829-7BB2-93AF069A15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EDB5C56-0C98-8BC8-3FC7-363BD76DE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2D1E752-910C-6068-116C-D0AC0570E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6598350-B4F6-2E66-796C-6F0532499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61844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824BBE-9A45-C3D8-817D-BEFB11B4D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8DAFB20-4B2C-A076-17A2-93B1904569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0853BB-F2E9-CD0B-DEC8-1C45A3BD4A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43BA8E7-7E94-5837-0ABB-4D0454798C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263D6E1-3072-EC55-E49F-234697C4A36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D3495ED-5368-71B6-1086-3421F9E9C9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A926259-A0C2-FCBB-CD0F-72E3190AF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2F6A3B9-B002-25D9-32AF-4BDAB3A01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4935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2B9980-2193-0E49-0426-0A4414845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26DEC8E-9E52-1CD1-D75B-EB3C7A85C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B93F32E-E29E-5F7C-7175-183060FF50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EEEB259-BBBF-97BE-3896-94EE20973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82335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자유형: 도형 7">
            <a:extLst>
              <a:ext uri="{FF2B5EF4-FFF2-40B4-BE49-F238E27FC236}">
                <a16:creationId xmlns:a16="http://schemas.microsoft.com/office/drawing/2014/main" id="{9169E696-C0BE-D39F-67BB-321E4E6687D7}"/>
              </a:ext>
            </a:extLst>
          </p:cNvPr>
          <p:cNvSpPr/>
          <p:nvPr userDrawn="1"/>
        </p:nvSpPr>
        <p:spPr>
          <a:xfrm>
            <a:off x="10101945" y="0"/>
            <a:ext cx="2090057" cy="1933600"/>
          </a:xfrm>
          <a:custGeom>
            <a:avLst/>
            <a:gdLst>
              <a:gd name="connsiteX0" fmla="*/ 196429 w 2090057"/>
              <a:gd name="connsiteY0" fmla="*/ 0 h 1933600"/>
              <a:gd name="connsiteX1" fmla="*/ 2090057 w 2090057"/>
              <a:gd name="connsiteY1" fmla="*/ 0 h 1933600"/>
              <a:gd name="connsiteX2" fmla="*/ 2090057 w 2090057"/>
              <a:gd name="connsiteY2" fmla="*/ 1619902 h 1933600"/>
              <a:gd name="connsiteX3" fmla="*/ 2061477 w 2090057"/>
              <a:gd name="connsiteY3" fmla="*/ 1645877 h 1933600"/>
              <a:gd name="connsiteX4" fmla="*/ 1260000 w 2090057"/>
              <a:gd name="connsiteY4" fmla="*/ 1933600 h 1933600"/>
              <a:gd name="connsiteX5" fmla="*/ 0 w 2090057"/>
              <a:gd name="connsiteY5" fmla="*/ 673600 h 1933600"/>
              <a:gd name="connsiteX6" fmla="*/ 152075 w 2090057"/>
              <a:gd name="connsiteY6" fmla="*/ 73009 h 193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90057" h="1933600">
                <a:moveTo>
                  <a:pt x="196429" y="0"/>
                </a:moveTo>
                <a:lnTo>
                  <a:pt x="2090057" y="0"/>
                </a:lnTo>
                <a:lnTo>
                  <a:pt x="2090057" y="1619902"/>
                </a:lnTo>
                <a:lnTo>
                  <a:pt x="2061477" y="1645877"/>
                </a:lnTo>
                <a:cubicBezTo>
                  <a:pt x="1843675" y="1825624"/>
                  <a:pt x="1564447" y="1933600"/>
                  <a:pt x="1260000" y="1933600"/>
                </a:cubicBezTo>
                <a:cubicBezTo>
                  <a:pt x="564121" y="1933600"/>
                  <a:pt x="0" y="1369479"/>
                  <a:pt x="0" y="673600"/>
                </a:cubicBezTo>
                <a:cubicBezTo>
                  <a:pt x="0" y="456138"/>
                  <a:pt x="55090" y="251543"/>
                  <a:pt x="152075" y="73009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FB1DA3A-4026-653E-85DC-F36BFE977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97E0C9B-6B1B-6161-A052-4674F139A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6FC556-17ED-919B-FD65-3755BE9A0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7E13428E-0ADE-F102-F43E-B62039E6411E}"/>
              </a:ext>
            </a:extLst>
          </p:cNvPr>
          <p:cNvSpPr/>
          <p:nvPr userDrawn="1"/>
        </p:nvSpPr>
        <p:spPr>
          <a:xfrm>
            <a:off x="-2065196" y="1233716"/>
            <a:ext cx="10794329" cy="5624284"/>
          </a:xfrm>
          <a:custGeom>
            <a:avLst/>
            <a:gdLst>
              <a:gd name="connsiteX0" fmla="*/ 5394329 w 10794329"/>
              <a:gd name="connsiteY0" fmla="*/ 0 h 5624284"/>
              <a:gd name="connsiteX1" fmla="*/ 10794329 w 10794329"/>
              <a:gd name="connsiteY1" fmla="*/ 5400000 h 5624284"/>
              <a:gd name="connsiteX2" fmla="*/ 10788658 w 10794329"/>
              <a:gd name="connsiteY2" fmla="*/ 5624284 h 5624284"/>
              <a:gd name="connsiteX3" fmla="*/ 0 w 10794329"/>
              <a:gd name="connsiteY3" fmla="*/ 5624284 h 5624284"/>
              <a:gd name="connsiteX4" fmla="*/ 0 w 10794329"/>
              <a:gd name="connsiteY4" fmla="*/ 5624283 h 5624284"/>
              <a:gd name="connsiteX5" fmla="*/ 2065196 w 10794329"/>
              <a:gd name="connsiteY5" fmla="*/ 5624283 h 5624284"/>
              <a:gd name="connsiteX6" fmla="*/ 2065196 w 10794329"/>
              <a:gd name="connsiteY6" fmla="*/ 1149980 h 5624284"/>
              <a:gd name="connsiteX7" fmla="*/ 2163423 w 10794329"/>
              <a:gd name="connsiteY7" fmla="*/ 1072789 h 5624284"/>
              <a:gd name="connsiteX8" fmla="*/ 5394329 w 10794329"/>
              <a:gd name="connsiteY8" fmla="*/ 0 h 5624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794329" h="5624284">
                <a:moveTo>
                  <a:pt x="5394329" y="0"/>
                </a:moveTo>
                <a:cubicBezTo>
                  <a:pt x="8376667" y="0"/>
                  <a:pt x="10794329" y="2417662"/>
                  <a:pt x="10794329" y="5400000"/>
                </a:cubicBezTo>
                <a:lnTo>
                  <a:pt x="10788658" y="5624284"/>
                </a:lnTo>
                <a:lnTo>
                  <a:pt x="0" y="5624284"/>
                </a:lnTo>
                <a:lnTo>
                  <a:pt x="0" y="5624283"/>
                </a:lnTo>
                <a:lnTo>
                  <a:pt x="2065196" y="5624283"/>
                </a:lnTo>
                <a:lnTo>
                  <a:pt x="2065196" y="1149980"/>
                </a:lnTo>
                <a:lnTo>
                  <a:pt x="2163423" y="1072789"/>
                </a:lnTo>
                <a:cubicBezTo>
                  <a:pt x="3064373" y="399009"/>
                  <a:pt x="4182754" y="0"/>
                  <a:pt x="5394329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BED9378D-D234-5E96-0781-1E1AF23C2D77}"/>
              </a:ext>
            </a:extLst>
          </p:cNvPr>
          <p:cNvSpPr/>
          <p:nvPr userDrawn="1"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72168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81737B-B4E8-DC4D-4306-926D08CF0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66B2FA5-A62B-B6C2-2F0A-A4C1E114A8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0FEB6B9-B7E1-069B-F63C-34BAEDB019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54277B-C478-8A54-5115-B00CB8DFD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9ECAA16-17CB-2931-6B12-122C6643F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EB0BE53-D9AD-89A6-0144-8AFD3ACD4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402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0CB554-A751-0A6E-008B-6EE4D01236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A8AC1F4-BC4D-46FA-8CD2-923C781C51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8D1BA31-65B6-B6D9-1BCA-C5BECB8476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5DCF5CC-22E5-F08B-0DE9-CBAE07A747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E83D0B3-3B87-4DEA-1F44-7AAA3EA4EE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A65F8C7-1B65-DD2D-D5EF-09C69987A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16372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AA20B0-C15B-5402-677A-F12CC3875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4AAAB76-EAA0-B094-A8FB-570EAEA12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7D1CE63-F17B-0630-8813-B875A613A8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B1F34BA-8238-D8AB-D1EB-74B2B2753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A1C5638-B8E6-071E-BAE1-F7B98DD03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82296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FFEAB57-8134-511A-8E3B-B89F33CE66D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9ACDF7F-7A05-5C3D-CC2C-5B97DE3C76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F32EE1-4486-544C-B4BD-8E175EBA1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C6633FB-804F-66DA-1F89-9E3D81EEC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DE201D9-E79D-02B2-E1F6-521C68C3B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339402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131CF50-1054-3836-0A47-3548C5EE6B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2A8BB6F-3ED0-86D4-EBB4-9C8184256A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48FBF48-36EC-5A0D-A95C-E198DBF500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59F595-45E4-AC43-763E-E4CB1D252D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616474-59CA-FA9D-7DD4-16C82798EB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38210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55394F2F-E2D3-82B9-0B27-78F58B1D5BD5}"/>
              </a:ext>
            </a:extLst>
          </p:cNvPr>
          <p:cNvSpPr/>
          <p:nvPr/>
        </p:nvSpPr>
        <p:spPr>
          <a:xfrm>
            <a:off x="1594958" y="5920085"/>
            <a:ext cx="2704496" cy="420914"/>
          </a:xfrm>
          <a:prstGeom prst="roundRect">
            <a:avLst>
              <a:gd name="adj" fmla="val 2747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0" bIns="73152"/>
          <a:lstStyle/>
          <a:p>
            <a:pPr algn="ctr">
              <a:lnSpc>
                <a:spcPct val="125000"/>
              </a:lnSpc>
            </a:pPr>
            <a:r>
              <a:rPr sz="12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WF11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6D7A96A4-EF36-6A3D-8E7E-82336CA6A29D}"/>
              </a:ext>
            </a:extLst>
          </p:cNvPr>
          <p:cNvSpPr/>
          <p:nvPr/>
        </p:nvSpPr>
        <p:spPr>
          <a:xfrm>
            <a:off x="5341255" y="5920085"/>
            <a:ext cx="2704496" cy="420914"/>
          </a:xfrm>
          <a:prstGeom prst="roundRect">
            <a:avLst>
              <a:gd name="adj" fmla="val 2747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0" bIns="73152"/>
          <a:lstStyle/>
          <a:p>
            <a:pPr algn="ctr">
              <a:lnSpc>
                <a:spcPct val="125000"/>
              </a:lnSpc>
            </a:pPr>
            <a:r>
              <a:rPr sz="12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Ian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EEF85A67-D0FC-775A-01DD-E84C08ACA1DE}"/>
              </a:ext>
            </a:extLst>
          </p:cNvPr>
          <p:cNvSpPr/>
          <p:nvPr/>
        </p:nvSpPr>
        <p:spPr>
          <a:xfrm>
            <a:off x="624114" y="5920085"/>
            <a:ext cx="899886" cy="420914"/>
          </a:xfrm>
          <a:prstGeom prst="roundRect">
            <a:avLst>
              <a:gd name="adj" fmla="val 27478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>
                <a:latin typeface="맑은 고딕" panose="020B0503020000020004" pitchFamily="50" charset="-127"/>
                <a:ea typeface="맑은 고딕" panose="020B0503020000020004" pitchFamily="50" charset="-127"/>
              </a:rPr>
              <a:t>Region / FC</a:t>
            </a:r>
            <a:endParaRPr lang="ko-KR" altLang="en-US" sz="90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43151F05-31D3-7AB8-10A1-CA1B1FA6240D}"/>
              </a:ext>
            </a:extLst>
          </p:cNvPr>
          <p:cNvSpPr/>
          <p:nvPr/>
        </p:nvSpPr>
        <p:spPr>
          <a:xfrm>
            <a:off x="4370412" y="5920085"/>
            <a:ext cx="899886" cy="420914"/>
          </a:xfrm>
          <a:prstGeom prst="roundRect">
            <a:avLst>
              <a:gd name="adj" fmla="val 27478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>
                <a:latin typeface="맑은 고딕" panose="020B0503020000020004" pitchFamily="50" charset="-127"/>
                <a:ea typeface="맑은 고딕" panose="020B0503020000020004" pitchFamily="50" charset="-127"/>
              </a:rPr>
              <a:t>Nickname</a:t>
            </a:r>
            <a:endParaRPr lang="ko-KR" altLang="en-US" sz="90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7756C3-89E1-07DC-D1AB-78E608C545C1}"/>
              </a:ext>
            </a:extLst>
          </p:cNvPr>
          <p:cNvSpPr txBox="1"/>
          <p:nvPr/>
        </p:nvSpPr>
        <p:spPr>
          <a:xfrm>
            <a:off x="590550" y="4075133"/>
            <a:ext cx="6102953" cy="830997"/>
          </a:xfrm>
          <a:prstGeom prst="rect">
            <a:avLst/>
          </a:prstGeom>
          <a:noFill/>
        </p:spPr>
        <p:txBody>
          <a:bodyPr wrap="square" lIns="18288" tIns="91440" rIns="18288" bIns="73152" rtlCol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지게차와 보행자가 서로 다가오면 미리 알려주는 앱</a:t>
            </a:r>
            <a:endParaRPr kumimoji="0" lang="ko-KR" altLang="en-US" sz="4800" b="1" i="0" u="none" strike="noStrike" kern="1200" cap="none" spc="0" normalizeH="0" baseline="0" noProof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+mj-lt"/>
              <a:ea typeface="맑은 고딕" panose="020B0503020000020004" pitchFamily="50" charset="-127"/>
            </a:endParaRPr>
          </a:p>
          <a:p>
            <a:pPr algn="l">
              <a:lnSpc>
                <a:spcPct val="125000"/>
              </a:lnSpc>
            </a:pPr>
            <a:r>
              <a:rPr sz="12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— 이미 나눠준 업무용 스마트폰끼리 신호를 주고받습니다 (SafeAlert)</a:t>
            </a:r>
          </a:p>
        </p:txBody>
      </p:sp>
    </p:spTree>
    <p:extLst>
      <p:ext uri="{BB962C8B-B14F-4D97-AF65-F5344CB8AC3E}">
        <p14:creationId xmlns:p14="http://schemas.microsoft.com/office/powerpoint/2010/main" val="34762566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8B74D6B8-1B56-F83C-C646-E8ED34853DA7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Feedback Loop</a:t>
            </a:r>
            <a:endParaRPr lang="ko-KR" altLang="en-US" sz="1100">
              <a:solidFill>
                <a:schemeClr val="tx1">
                  <a:lumMod val="50000"/>
                  <a:lumOff val="50000"/>
                </a:schemeClr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131C03CD-41F1-C398-9054-4215B06640FC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Andon</a:t>
            </a:r>
            <a:endParaRPr lang="ko-KR" altLang="en-US" sz="1100">
              <a:solidFill>
                <a:schemeClr val="tx1">
                  <a:lumMod val="50000"/>
                  <a:lumOff val="50000"/>
                </a:schemeClr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6CF68896-BE54-40C4-6FD6-3416B5828141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Metrics</a:t>
            </a:r>
            <a:endParaRPr lang="ko-KR" altLang="en-US" sz="1100">
              <a:solidFill>
                <a:schemeClr val="tx1">
                  <a:lumMod val="50000"/>
                  <a:lumOff val="50000"/>
                </a:schemeClr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B2306938-CF23-A0A2-9B9D-195712E47513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Solution</a:t>
            </a:r>
            <a:endParaRPr lang="ko-KR" altLang="en-US" sz="1100">
              <a:solidFill>
                <a:schemeClr val="tx1">
                  <a:lumMod val="50000"/>
                  <a:lumOff val="50000"/>
                </a:schemeClr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A6B1A60A-3AF2-4956-CC61-2727BFFF81BD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Benchmark</a:t>
            </a:r>
            <a:endParaRPr lang="ko-KR" altLang="en-US" sz="1100">
              <a:solidFill>
                <a:schemeClr val="tx1">
                  <a:lumMod val="50000"/>
                  <a:lumOff val="50000"/>
                </a:schemeClr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8C826FB2-B110-FBF3-3357-5A26AB63EF24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Tradeoffs</a:t>
            </a:r>
            <a:endParaRPr lang="ko-KR" altLang="en-US" sz="1100">
              <a:solidFill>
                <a:schemeClr val="tx1">
                  <a:lumMod val="50000"/>
                  <a:lumOff val="50000"/>
                </a:schemeClr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D240C5F3-80B6-D7F8-482C-060C14B07BD0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Problem Statement</a:t>
            </a:r>
            <a:endParaRPr lang="ko-KR" altLang="en-US" sz="1100">
              <a:solidFill>
                <a:schemeClr val="tx1">
                  <a:lumMod val="50000"/>
                  <a:lumOff val="50000"/>
                </a:schemeClr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5B8A6845-5340-A3DC-52CA-1C75BA0FE0E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19C25DAA-425D-5767-0CFD-75B709EEA099}"/>
              </a:ext>
            </a:extLst>
          </p:cNvPr>
          <p:cNvSpPr/>
          <p:nvPr/>
        </p:nvSpPr>
        <p:spPr>
          <a:xfrm>
            <a:off x="1689522" y="1929185"/>
            <a:ext cx="8708572" cy="109744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92608" tIns="91440" rIns="292608" bIns="73152" rtlCol="0" anchor="ctr" wrap="square"/>
          <a:lstStyle/>
          <a:p>
            <a:pPr algn="l">
              <a:lnSpc>
                <a:spcPct val="135000"/>
              </a:lnSpc>
            </a:pPr>
            <a:r>
              <a:rPr sz="1100" b="1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문제</a:t>
            </a: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     </a:t>
            </a:r>
            <a:r>
              <a:rPr sz="15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우리 센터에는 지게차 접근을 알려주는 장치가 하나도 없습니다</a:t>
            </a:r>
            <a:endParaRPr lang="ko-KR" altLang="en-US" sz="2100">
              <a:solidFill>
                <a:schemeClr val="tx1"/>
              </a:solidFill>
              <a:latin typeface="Microsoft GothicNeo" panose="020B0500000101010101" pitchFamily="50" charset="-127"/>
              <a:ea typeface="Microsoft GothicNeo" panose="020B0500000101010101" pitchFamily="50" charset="-127"/>
              <a:cs typeface="Microsoft GothicNeo" panose="020B0500000101010101" pitchFamily="50" charset="-127"/>
            </a:endParaRP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시야는 적재 파렛트에 막히고 경적은 장비 소음에 묻힙니다. 지금은 작업자의 주의력이 사실상 유일한 안전장치입니다.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EBC331D8-FDEB-2B6F-8351-157CB193AF77}"/>
              </a:ext>
            </a:extLst>
          </p:cNvPr>
          <p:cNvSpPr/>
          <p:nvPr/>
        </p:nvSpPr>
        <p:spPr>
          <a:xfrm>
            <a:off x="1687926" y="4747786"/>
            <a:ext cx="8708572" cy="109744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92608" tIns="91440" rIns="292608" bIns="73152" rtlCol="0" anchor="ctr" wrap="square"/>
          <a:lstStyle/>
          <a:p>
            <a:pPr algn="l">
              <a:lnSpc>
                <a:spcPct val="135000"/>
              </a:lnSpc>
            </a:pPr>
            <a:r>
              <a:rPr sz="1100" b="1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확인</a:t>
            </a: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     </a:t>
            </a:r>
            <a:r>
              <a:rPr sz="15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계획이 아니라, 지금 돌아가고 있는 앱입니다</a:t>
            </a:r>
            <a:endParaRPr lang="en-US" altLang="ko-KR" sz="2100">
              <a:solidFill>
                <a:schemeClr val="tx1"/>
              </a:solidFill>
              <a:latin typeface="Microsoft GothicNeo"/>
              <a:ea typeface="Microsoft GothicNeo"/>
              <a:cs typeface="Microsoft GothicNeo"/>
            </a:endParaRP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WF11 · WF21 · WF25 세 개 센터에서 실사용 중, 3개월간 97번 배포했습니다.</a:t>
            </a: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10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코드 · 배포 이력  </a:t>
            </a:r>
            <a:r>
              <a:rPr sz="11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github.com/pslymzero-cyber/SafeAlert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    최신 버전 </a:t>
            </a:r>
            <a:r>
              <a:rPr sz="1050" b="1" i="0" u="none">
                <a:solidFill>
                  <a:srgbClr val="1B8A6B"/>
                </a:solidFill>
                <a:latin typeface="맑은 고딕"/>
                <a:ea typeface="맑은 고딕"/>
                <a:cs typeface="맑은 고딕"/>
              </a:rPr>
              <a:t>v1.1.71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(2026.09.01 배포)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2AAE395-54D8-5897-F888-F2F0F37E41A4}"/>
              </a:ext>
            </a:extLst>
          </p:cNvPr>
          <p:cNvSpPr txBox="1"/>
          <p:nvPr/>
        </p:nvSpPr>
        <p:spPr>
          <a:xfrm>
            <a:off x="703941" y="1184287"/>
            <a:ext cx="5806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01.</a:t>
            </a:r>
            <a:endParaRPr lang="ko-KR" altLang="en-US" sz="200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BC6C2F7-10F0-E1D0-B611-A234F258519C}"/>
              </a:ext>
            </a:extLst>
          </p:cNvPr>
          <p:cNvSpPr txBox="1"/>
          <p:nvPr/>
        </p:nvSpPr>
        <p:spPr>
          <a:xfrm>
            <a:off x="703941" y="1553619"/>
            <a:ext cx="7745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결론</a:t>
            </a:r>
          </a:p>
        </p:txBody>
      </p:sp>
      <p:sp>
        <p:nvSpPr>
          <p:cNvPr id="2" name="사각형: 둥근 모서리 19">
            <a:extLst>
              <a:ext uri="{FF2B5EF4-FFF2-40B4-BE49-F238E27FC236}">
                <a16:creationId xmlns:a16="http://schemas.microsoft.com/office/drawing/2014/main" id="{A74CAE25-43BC-5204-0AA6-C2F3F3011115}"/>
              </a:ext>
            </a:extLst>
          </p:cNvPr>
          <p:cNvSpPr/>
          <p:nvPr/>
        </p:nvSpPr>
        <p:spPr>
          <a:xfrm>
            <a:off x="1687926" y="3317730"/>
            <a:ext cx="8708572" cy="109744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92608" tIns="91440" rIns="292608" bIns="73152" rtlCol="0" anchor="ctr" wrap="square"/>
          <a:lstStyle/>
          <a:p>
            <a:pPr algn="l">
              <a:lnSpc>
                <a:spcPct val="135000"/>
              </a:lnSpc>
            </a:pPr>
            <a:r>
              <a:rPr sz="1100" b="1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해결</a:t>
            </a: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     </a:t>
            </a:r>
            <a:r>
              <a:rPr sz="15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이미 나눠준 스마트폰끼리 서로를 감지하게 만들었습니다</a:t>
            </a:r>
            <a:endParaRPr lang="ko-KR" sz="2100">
              <a:solidFill>
                <a:schemeClr val="tx1"/>
              </a:solidFill>
              <a:latin typeface="Microsoft GothicNeo"/>
              <a:ea typeface="Microsoft GothicNeo"/>
              <a:cs typeface="Microsoft GothicNeo"/>
            </a:endParaRP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앱만 깔면 서로 다가오는 것을 감지해 소리 · 진동 · 화면으로 알립니다. 같은 기능을 장비로 갖추면 센터당 331만원이 들지만, </a:t>
            </a:r>
            <a:r>
              <a:rPr sz="1100" b="1" i="0" u="none">
                <a:solidFill>
                  <a:srgbClr val="1B8A6B"/>
                </a:solidFill>
                <a:latin typeface="맑은 고딕"/>
                <a:ea typeface="맑은 고딕"/>
                <a:cs typeface="맑은 고딕"/>
              </a:rPr>
              <a:t>이 앱은 추가 비용이 없습니다</a:t>
            </a: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178190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38A7B-0BDF-08D4-0C43-01EA51BEB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15CA0ECD-6435-9BC3-6B9E-DDBDC12E8D2A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FAA26E14-731F-5390-CB44-107FE336271E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85863F82-7427-BAC8-98C9-053CAD00A542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B2AA5870-0753-19EF-9FB0-6D3F7321DB65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B39BCA1E-C0B3-D387-F459-485EF0C15C88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45D84629-4A39-C20B-DA0E-A87D63C04750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CB5B37C3-047C-8EB6-8653-F5C8E5A11FC7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32A1A547-8092-38A1-67DA-F2E054C37DB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A6FAC12-5EF9-A4D5-CC94-FA44D4B7A84B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01.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6848C4E-2501-23D4-CE08-82F0BE6DC80D}"/>
              </a:ext>
            </a:extLst>
          </p:cNvPr>
          <p:cNvSpPr txBox="1"/>
          <p:nvPr/>
        </p:nvSpPr>
        <p:spPr>
          <a:xfrm>
            <a:off x="703941" y="1553619"/>
            <a:ext cx="15812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Summary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DC5F208C-7AF7-113E-5DAC-DA1726BD4F7A}"/>
              </a:ext>
            </a:extLst>
          </p:cNvPr>
          <p:cNvGrpSpPr/>
          <p:nvPr/>
        </p:nvGrpSpPr>
        <p:grpSpPr>
          <a:xfrm>
            <a:off x="703940" y="2173041"/>
            <a:ext cx="4862359" cy="1255960"/>
            <a:chOff x="703941" y="2173041"/>
            <a:chExt cx="4468430" cy="1255960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1EDB62EE-88AA-0D98-4EF5-5F62A4BF5833}"/>
                </a:ext>
              </a:extLst>
            </p:cNvPr>
            <p:cNvSpPr/>
            <p:nvPr/>
          </p:nvSpPr>
          <p:spPr>
            <a:xfrm>
              <a:off x="703941" y="2173041"/>
              <a:ext cx="4468430" cy="1255960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2880" tIns="365760" rIns="182880" bIns="73152" rtlCol="0" anchor="t" wrap="square"/>
            <a:lstStyle/>
            <a:p>
              <a:pPr algn="l">
                <a:lnSpc>
                  <a:spcPct val="130000"/>
                </a:lnSpc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우리 센터에는 지게차와 보행자가 서로 다가오는 것을 알려주는 장치가 없다. 존과 로케이션 사이 교차 구간은 적재 파렛트에 시야가 막히고 장비 소음에 경적이 묻혀, 서로를 보지 못한 채 가까워진다.</a:t>
              </a:r>
              <a:endParaRPr lang="ko-KR" altLang="en-US" sz="1200">
                <a:solidFill>
                  <a:srgbClr val="404040"/>
                </a:solidFill>
                <a:ea typeface="+mn-lt"/>
                <a:cs typeface="+mn-lt"/>
              </a:endParaRPr>
            </a:p>
          </p:txBody>
        </p:sp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FC47DC15-D4C2-6D8C-DCFF-CA8C3CB946DC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b="1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Background</a:t>
              </a:r>
              <a:endParaRPr lang="ko-KR" altLang="en-US" sz="11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4A9817B9-79F2-B90B-E3F7-081C113F62BD}"/>
              </a:ext>
            </a:extLst>
          </p:cNvPr>
          <p:cNvGrpSpPr/>
          <p:nvPr/>
        </p:nvGrpSpPr>
        <p:grpSpPr>
          <a:xfrm>
            <a:off x="695325" y="3504472"/>
            <a:ext cx="4862359" cy="2840766"/>
            <a:chOff x="703941" y="2173041"/>
            <a:chExt cx="4468430" cy="2840766"/>
          </a:xfrm>
        </p:grpSpPr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CFD98441-2412-577A-EB81-96F70A5D6EFB}"/>
                </a:ext>
              </a:extLst>
            </p:cNvPr>
            <p:cNvSpPr/>
            <p:nvPr/>
          </p:nvSpPr>
          <p:spPr>
            <a:xfrm>
              <a:off x="703941" y="2173041"/>
              <a:ext cx="4468430" cy="2840766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0" rIns="182880" tIns="365760" bIns="73152"/>
            <a:lstStyle/>
            <a:p>
              <a:pPr algn="l">
                <a:lnSpc>
                  <a:spcPct val="130000"/>
                </a:lnSpc>
              </a:pPr>
              <a:r>
                <a:rPr sz="1150" b="1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이미 나눠준 스마트폰에 앱을 깔면, 폰끼리 신호를 주고받아 서로를 감지한다.</a:t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l">
                <a:lnSpc>
                  <a:spcPct val="130000"/>
                </a:lnSpc>
                <a:spcBef>
                  <a:spcPts val="500"/>
                </a:spcBef>
              </a:pPr>
              <a:r>
                <a:rPr sz="1000" b="0" i="0" u="none">
                  <a:solidFill>
                    <a:srgbClr val="6B7278"/>
                  </a:solidFill>
                  <a:latin typeface="맑은 고딕"/>
                  <a:ea typeface="맑은 고딕"/>
                  <a:cs typeface="맑은 고딕"/>
                </a:rPr>
                <a:t>따로 살 장비도, 몸에 달 태그도, 센터에 설치할 것도 없다.</a:t>
              </a:r>
            </a:p>
            <a:p>
              <a:pPr algn="l">
                <a:lnSpc>
                  <a:spcPct val="130000"/>
                </a:lnSpc>
                <a:spcBef>
                  <a:spcPts val="500"/>
                </a:spcBef>
              </a:pPr>
              <a:r>
                <a:rPr sz="105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신호 받기  →  거리 계산  →  위험도 판단  →  소리 · 진동 · 화면 경보</a:t>
              </a:r>
            </a:p>
            <a:p>
              <a:pPr algn="l">
                <a:lnSpc>
                  <a:spcPct val="130000"/>
                </a:lnSpc>
                <a:spcBef>
                  <a:spcPts val="500"/>
                </a:spcBef>
              </a:pPr>
              <a:r>
                <a:rPr sz="10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정밀 측위(UWB)를 지원하는 폰끼리는 실제 거리로 — 지게차가 끼면 경고 15m · 위험 8m, 사람끼리는 5m · 3m.</a:t>
              </a:r>
            </a:p>
            <a:p>
              <a:pPr algn="l">
                <a:lnSpc>
                  <a:spcPct val="130000"/>
                </a:lnSpc>
                <a:spcBef>
                  <a:spcPts val="500"/>
                </a:spcBef>
              </a:pPr>
              <a:r>
                <a:rPr sz="1000" b="0" i="0" u="none">
                  <a:solidFill>
                    <a:srgbClr val="6B7278"/>
                  </a:solidFill>
                  <a:latin typeface="맑은 고딕"/>
                  <a:ea typeface="맑은 고딕"/>
                  <a:cs typeface="맑은 고딕"/>
                </a:rPr>
                <a:t>그 밖의 폰은 신호 세기로 판단한다. 창고는 랙과 적재물 때문에 신호 세기가 거리와 일정하게 대응하지 않아, 거리로 환산하지 않는다.</a:t>
              </a:r>
            </a:p>
            <a:p>
              <a:pPr algn="l">
                <a:lnSpc>
                  <a:spcPct val="130000"/>
                </a:lnSpc>
                <a:spcBef>
                  <a:spcPts val="500"/>
                </a:spcBef>
              </a:pPr>
              <a:r>
                <a:rPr sz="1000" b="0" i="0" u="none">
                  <a:solidFill>
                    <a:srgbClr val="C0392B"/>
                  </a:solidFill>
                  <a:latin typeface="맑은 고딕"/>
                  <a:ea typeface="맑은 고딕"/>
                  <a:cs typeface="맑은 고딕"/>
                </a:rPr>
                <a:t>장비를 자동으로 멈추지는 못한다. 사람에게 알리는 데까지가 이 앱의 역할이다.</a:t>
              </a:r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3DA23A4E-EA23-B42F-DCEC-6DAB8AD10A62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b="1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Solution</a:t>
              </a:r>
              <a:endParaRPr lang="ko-KR" altLang="en-US" sz="11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6BBC8470-BF25-9607-7D28-3240CB222578}"/>
              </a:ext>
            </a:extLst>
          </p:cNvPr>
          <p:cNvGrpSpPr/>
          <p:nvPr/>
        </p:nvGrpSpPr>
        <p:grpSpPr>
          <a:xfrm>
            <a:off x="5760174" y="2173040"/>
            <a:ext cx="5736500" cy="4172197"/>
            <a:chOff x="703941" y="2173040"/>
            <a:chExt cx="5271752" cy="4172197"/>
          </a:xfrm>
        </p:grpSpPr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ACF0092F-1E9F-84E9-BC7A-26C12BF876E9}"/>
                </a:ext>
              </a:extLst>
            </p:cNvPr>
            <p:cNvSpPr/>
            <p:nvPr/>
          </p:nvSpPr>
          <p:spPr>
            <a:xfrm>
              <a:off x="703941" y="2173040"/>
              <a:ext cx="5271752" cy="4172197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" rIns="18288" tIns="91440" bIns="73152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BBBA688A-ECC0-F043-B9B9-0B57AF642DCC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b="1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Result</a:t>
              </a:r>
              <a:endParaRPr lang="ko-KR" altLang="en-US" sz="11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5980176" y="2633472"/>
            <a:ext cx="5294375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서로 감지되는 경우의 수 — 현장 인원이 늘어날수록</a:t>
            </a:r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5888736" y="2889504"/>
          <a:ext cx="5477255" cy="17556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5980176" y="4736592"/>
            <a:ext cx="5294375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지게차 4대 기준. 장비 방식은 태그를 산 사람만 감지되지만, 앱은 폰을 가진 모두가 서로 감지된다.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0176" y="5010912"/>
            <a:ext cx="5294375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1교대(9시간) 동안 경보가 몇 번 울리는가</a:t>
            </a:r>
            <a:r>
              <a:rPr sz="850" b="0" i="0" u="sng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   밑줄 = 추정치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5230368"/>
            <a:ext cx="2578608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6035040" y="5330952"/>
            <a:ext cx="50292" cy="603504"/>
          </a:xfrm>
          <a:prstGeom prst="rect">
            <a:avLst/>
          </a:prstGeom>
          <a:solidFill>
            <a:srgbClr val="B97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181344" y="5294376"/>
            <a:ext cx="2212848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   </a:t>
            </a:r>
            <a:r>
              <a:rPr sz="1050" b="1" i="0" u="none">
                <a:solidFill>
                  <a:srgbClr val="B9770B"/>
                </a:solidFill>
                <a:latin typeface="맑은 고딕"/>
                <a:ea typeface="맑은 고딕"/>
                <a:cs typeface="맑은 고딕"/>
              </a:rPr>
              <a:t>경고 등급 경보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81344" y="5486400"/>
            <a:ext cx="2212848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앱 경보 기록으로 실측 예정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81344" y="5760720"/>
            <a:ext cx="2212848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u="sng">
                <a:solidFill>
                  <a:srgbClr val="B9770B"/>
                </a:solidFill>
                <a:latin typeface="맑은 고딕"/>
                <a:ea typeface="맑은 고딕"/>
                <a:cs typeface="맑은 고딕"/>
              </a:rPr>
              <a:t>95회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68512" y="5230368"/>
            <a:ext cx="2578608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8759952" y="5330952"/>
            <a:ext cx="50292" cy="60350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906256" y="5294376"/>
            <a:ext cx="2212848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   </a:t>
            </a:r>
            <a:r>
              <a:rPr sz="10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위험 등급 경보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06256" y="5486400"/>
            <a:ext cx="2212848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앱 경보 기록으로 실측 예정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06256" y="5760720"/>
            <a:ext cx="2212848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u="sng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27회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80176" y="6108192"/>
            <a:ext cx="5294375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산출 근거는 12장. 가정한 값은 ‘한 짝이 한 시간에 0.5번 가까워진다’ 하나뿐이다.</a:t>
            </a:r>
          </a:p>
        </p:txBody>
      </p:sp>
    </p:spTree>
    <p:extLst>
      <p:ext uri="{BB962C8B-B14F-4D97-AF65-F5344CB8AC3E}">
        <p14:creationId xmlns:p14="http://schemas.microsoft.com/office/powerpoint/2010/main" val="54567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8B74D6B8-1B56-F83C-C646-E8ED34853DA7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131C03CD-41F1-C398-9054-4215B06640FC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6CF68896-BE54-40C4-6FD6-3416B5828141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B2306938-CF23-A0A2-9B9D-195712E47513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A6B1A60A-3AF2-4956-CC61-2727BFFF81BD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8C826FB2-B110-FBF3-3357-5A26AB63EF24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D240C5F3-80B6-D7F8-482C-060C14B07BD0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5B8A6845-5340-A3DC-52CA-1C75BA0FE0E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>
              <a:latin typeface="+mj-lt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2AAE395-54D8-5897-F888-F2F0F37E41A4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01.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BC6C2F7-10F0-E1D0-B611-A234F258519C}"/>
              </a:ext>
            </a:extLst>
          </p:cNvPr>
          <p:cNvSpPr txBox="1"/>
          <p:nvPr/>
        </p:nvSpPr>
        <p:spPr>
          <a:xfrm>
            <a:off x="703941" y="1553619"/>
            <a:ext cx="15812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맑은 고딕" panose="020B0503020000020004" pitchFamily="50" charset="-127"/>
              </a:rPr>
              <a:t>Summary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B228495-0EDB-9D35-705F-4EE4BA7809EF}"/>
              </a:ext>
            </a:extLst>
          </p:cNvPr>
          <p:cNvSpPr/>
          <p:nvPr/>
        </p:nvSpPr>
        <p:spPr>
          <a:xfrm>
            <a:off x="712557" y="2164947"/>
            <a:ext cx="10784118" cy="4180291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91440" bIns="73152"/>
          <a:lstStyle/>
          <a:p>
            <a:pPr algn="l">
              <a:lnSpc>
                <a:spcPct val="125000"/>
              </a:lnSpc>
            </a:pP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2340864"/>
            <a:ext cx="10424160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어떻게 동작하는가</a:t>
            </a:r>
            <a:r>
              <a:rPr sz="10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   경보 거리 · 감지되는 경우의 수 · 안전 구역</a:t>
            </a:r>
          </a:p>
        </p:txBody>
      </p:sp>
      <p:pic>
        <p:nvPicPr>
          <p:cNvPr id="24" name="Picture 23" descr="fig_radi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724912"/>
            <a:ext cx="3474720" cy="191967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60120" y="4690307"/>
            <a:ext cx="347472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정밀 측위 지원 폰끼리의 경보 거리 — 실제 비례로 그린 것</a:t>
            </a:r>
          </a:p>
        </p:txBody>
      </p:sp>
      <p:pic>
        <p:nvPicPr>
          <p:cNvPr id="26" name="Picture 25" descr="fig_pai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3218688"/>
            <a:ext cx="3246120" cy="123958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846320" y="4503997"/>
            <a:ext cx="324612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폰이 늘수록 서로 감지되는 경우의 수는 제곱으로 (3대 3가지 → 10대 45가지)</a:t>
            </a:r>
          </a:p>
        </p:txBody>
      </p:sp>
      <p:pic>
        <p:nvPicPr>
          <p:cNvPr id="28" name="Picture 27" descr="fig_zo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3218688"/>
            <a:ext cx="2788920" cy="120240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503920" y="4466816"/>
            <a:ext cx="278892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안전 구역 안에서는 경보가 울리지 않는다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5138928"/>
            <a:ext cx="10332720" cy="28346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·  </a:t>
            </a: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경보는 소리 · 진동 · 화면 세 가지로 동시에 울린다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소음 때문에 못 듣거나, 장갑 때문에 진동을 놓치거나, 화면을 안 봐도 나머지 하나는 전달된다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5422392"/>
            <a:ext cx="10332720" cy="28346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·  </a:t>
            </a: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같은 상대와 같은 등급이 5초 넘게 이어지면 소리를 끈다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화면 표시와 기록은 그대로 두고, 더 가까워지면 즉시 다시 울린다 (v1.1.61)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705856"/>
            <a:ext cx="10332720" cy="28346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·  </a:t>
            </a: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휴게실 · 충전 구역은 ‘안전 구역’ 으로 지정한다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그 안에 있는 사람은 경보를 받지도, 남에게 울리게 하지도 않는다 (v1.1.62)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989320"/>
            <a:ext cx="10332720" cy="28346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·  </a:t>
            </a: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감지가 멈추면 알림 표시줄에 ‘이상’ 이 뜬다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앱이 꺼진 줄 모르고 일하는 상황을 막는다 (v1.1.64)</a:t>
            </a:r>
          </a:p>
        </p:txBody>
      </p:sp>
    </p:spTree>
    <p:extLst>
      <p:ext uri="{BB962C8B-B14F-4D97-AF65-F5344CB8AC3E}">
        <p14:creationId xmlns:p14="http://schemas.microsoft.com/office/powerpoint/2010/main" val="28500193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D328A-8D6B-F156-D2E2-372F2BA60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998F1665-88C9-D257-6586-557F235A2D01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A1AF56F4-395B-9760-38FF-26656CDE4D89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7D476F32-01B4-32A2-2B7B-60F5A880A156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B3B5564A-3B76-4772-4731-3CF749A7DEDB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A629AD05-4945-43E8-2B81-988788CFBFAA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E670250A-C18D-C540-B040-1E7656BCC323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FFC08809-583E-718A-F60B-6346C8AA1AE5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E46C5F8-C76C-7C7B-50F4-024F650A8F2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E01356-08D8-1A98-6F7B-6561EB5F0372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02.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D4589D2-1098-9B03-7622-FFA8B56B07BA}"/>
              </a:ext>
            </a:extLst>
          </p:cNvPr>
          <p:cNvSpPr txBox="1"/>
          <p:nvPr/>
        </p:nvSpPr>
        <p:spPr>
          <a:xfrm>
            <a:off x="703941" y="1553619"/>
            <a:ext cx="30233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67AE7396-20A6-15A5-C258-1B4E33FC8705}"/>
              </a:ext>
            </a:extLst>
          </p:cNvPr>
          <p:cNvGrpSpPr/>
          <p:nvPr/>
        </p:nvGrpSpPr>
        <p:grpSpPr>
          <a:xfrm>
            <a:off x="703940" y="2173040"/>
            <a:ext cx="5826333" cy="2131924"/>
            <a:chOff x="703941" y="2173040"/>
            <a:chExt cx="5354307" cy="2131924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AEC24772-20AF-D9A7-5F6D-BF21C9B11FE7}"/>
                </a:ext>
              </a:extLst>
            </p:cNvPr>
            <p:cNvSpPr/>
            <p:nvPr/>
          </p:nvSpPr>
          <p:spPr>
            <a:xfrm>
              <a:off x="703941" y="2173040"/>
              <a:ext cx="5354307" cy="2131924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2880" tIns="365760" rIns="182880" bIns="73152" rtlCol="0" anchor="t" wrap="square"/>
            <a:lstStyle/>
            <a:p>
              <a:pPr algn="l">
                <a:lnSpc>
                  <a:spcPct val="135000"/>
                </a:lnSpc>
              </a:pPr>
              <a:r>
                <a:rPr sz="105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AS-IS</a:t>
              </a:r>
              <a:r>
                <a:rPr sz="1050" b="0" i="0" u="none">
                  <a:solidFill>
                    <a:srgbClr val="9AA0A6"/>
                  </a:solidFill>
                  <a:latin typeface="맑은 고딕"/>
                  <a:ea typeface="맑은 고딕"/>
                  <a:cs typeface="맑은 고딕"/>
                </a:rPr>
                <a:t> :  </a:t>
              </a: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우리 센터에는 지게차와 보행자의 접근을 감지하는 장치가 설치돼 있지 않다.</a:t>
              </a:r>
              <a:endParaRPr lang="ko-KR" altLang="en-US">
                <a:solidFill>
                  <a:srgbClr val="404040"/>
                </a:solidFill>
                <a:ea typeface="+mn-lt"/>
                <a:cs typeface="+mn-lt"/>
              </a:endParaRPr>
            </a:p>
            <a:p>
              <a:pPr algn="l">
                <a:lnSpc>
                  <a:spcPct val="135000"/>
                </a:lnSpc>
                <a:spcBef>
                  <a:spcPts val="500"/>
                </a:spcBef>
              </a:pPr>
              <a:r>
                <a:rPr sz="105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Pain Point</a:t>
              </a:r>
              <a:r>
                <a:rPr sz="1050" b="0" i="0" u="none">
                  <a:solidFill>
                    <a:srgbClr val="9AA0A6"/>
                  </a:solidFill>
                  <a:latin typeface="맑은 고딕"/>
                  <a:ea typeface="맑은 고딕"/>
                  <a:cs typeface="맑은 고딕"/>
                </a:rPr>
                <a:t> :  </a:t>
              </a: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존과 로케이션 사이 교차 구간에서 적재 파렛트가 시야를 가리고, 장비 소음에 경적이 묻혀 서로를 알아채는 것이 늦다.</a:t>
              </a:r>
            </a:p>
            <a:p>
              <a:pPr algn="l">
                <a:lnSpc>
                  <a:spcPct val="135000"/>
                </a:lnSpc>
                <a:spcBef>
                  <a:spcPts val="500"/>
                </a:spcBef>
              </a:pPr>
              <a:r>
                <a:rPr sz="1050" b="0" i="0" u="none">
                  <a:solidFill>
                    <a:srgbClr val="6B7278"/>
                  </a:solidFill>
                  <a:latin typeface="맑은 고딕"/>
                  <a:ea typeface="맑은 고딕"/>
                  <a:cs typeface="맑은 고딕"/>
                </a:rPr>
                <a:t>접근을 알려주는 수단이 없으니, 위험했던 순간이 몇 번이었는지조차 기록되지 않는다.</a:t>
              </a:r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576F0E32-5025-FE80-A485-5F6D0402D9F9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문제의 배경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26FE3D44-3247-78E5-240E-ADDDFB17D685}"/>
              </a:ext>
            </a:extLst>
          </p:cNvPr>
          <p:cNvGrpSpPr/>
          <p:nvPr/>
        </p:nvGrpSpPr>
        <p:grpSpPr>
          <a:xfrm>
            <a:off x="703940" y="4462720"/>
            <a:ext cx="10792735" cy="1882518"/>
            <a:chOff x="703940" y="2173040"/>
            <a:chExt cx="10792735" cy="1882518"/>
          </a:xfrm>
        </p:grpSpPr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C968FAE4-E83B-0591-CC57-BE4A62522078}"/>
                </a:ext>
              </a:extLst>
            </p:cNvPr>
            <p:cNvSpPr/>
            <p:nvPr/>
          </p:nvSpPr>
          <p:spPr>
            <a:xfrm>
              <a:off x="703940" y="2173040"/>
              <a:ext cx="10792735" cy="1882518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288" tIns="91440" rIns="18288" bIns="73152" rtlCol="0" anchor="t" wrap="square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  <a:endParaRPr lang="ko-KR" altLang="en-US"/>
            </a:p>
          </p:txBody>
        </p:sp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CC0B07E1-7C42-C9DD-DE2D-C5901C4162C4}"/>
                </a:ext>
              </a:extLst>
            </p:cNvPr>
            <p:cNvSpPr/>
            <p:nvPr/>
          </p:nvSpPr>
          <p:spPr>
            <a:xfrm>
              <a:off x="754739" y="2227294"/>
              <a:ext cx="1944917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문제를 해결해야 하는 이유</a:t>
              </a:r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94E4F171-DA7D-D1B8-C6FB-7E861D49BABD}"/>
              </a:ext>
            </a:extLst>
          </p:cNvPr>
          <p:cNvGrpSpPr/>
          <p:nvPr/>
        </p:nvGrpSpPr>
        <p:grpSpPr>
          <a:xfrm>
            <a:off x="6665479" y="2173040"/>
            <a:ext cx="4831196" cy="1023314"/>
            <a:chOff x="703941" y="2173040"/>
            <a:chExt cx="4831196" cy="1023314"/>
          </a:xfrm>
        </p:grpSpPr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700C10E3-4CE1-CA17-2869-FE20EE725DEB}"/>
                </a:ext>
              </a:extLst>
            </p:cNvPr>
            <p:cNvSpPr/>
            <p:nvPr/>
          </p:nvSpPr>
          <p:spPr>
            <a:xfrm>
              <a:off x="703941" y="2173040"/>
              <a:ext cx="4831196" cy="1023314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64592" tIns="365760" rIns="164592" bIns="73152" rtlCol="0" anchor="t" wrap="square"/>
            <a:lstStyle/>
            <a:p>
              <a:pPr algn="l">
                <a:lnSpc>
                  <a:spcPct val="130000"/>
                </a:lnSpc>
              </a:pPr>
              <a:r>
                <a:rPr sz="100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Target</a:t>
              </a:r>
              <a:r>
                <a:rPr sz="1000" b="0" i="0" u="none">
                  <a:solidFill>
                    <a:srgbClr val="9AA0A6"/>
                  </a:solidFill>
                  <a:latin typeface="맑은 고딕"/>
                  <a:ea typeface="맑은 고딕"/>
                  <a:cs typeface="맑은 고딕"/>
                </a:rPr>
                <a:t> :  </a:t>
              </a:r>
              <a:r>
                <a:rPr sz="10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서로 다가오는 것을 부딪히기 전에 감지해 사람에게 알린다.</a:t>
              </a:r>
              <a:endParaRPr lang="en-US">
                <a:solidFill>
                  <a:schemeClr val="tx1">
                    <a:lumMod val="75000"/>
                    <a:lumOff val="25000"/>
                  </a:schemeClr>
                </a:solidFill>
                <a:ea typeface="+mn-lt"/>
                <a:cs typeface="+mn-lt"/>
              </a:endParaRPr>
            </a:p>
            <a:p>
              <a:pPr algn="l">
                <a:lnSpc>
                  <a:spcPct val="130000"/>
                </a:lnSpc>
              </a:pPr>
              <a:r>
                <a:rPr sz="100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Vision</a:t>
              </a:r>
              <a:r>
                <a:rPr sz="1000" b="0" i="0" u="none">
                  <a:solidFill>
                    <a:srgbClr val="9AA0A6"/>
                  </a:solidFill>
                  <a:latin typeface="맑은 고딕"/>
                  <a:ea typeface="맑은 고딕"/>
                  <a:cs typeface="맑은 고딕"/>
                </a:rPr>
                <a:t> :  </a:t>
              </a:r>
              <a:r>
                <a:rPr sz="10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현장에 있는 모든 사람과 장비가 서로의 접근을 알 수 있는 상태.</a:t>
              </a:r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64A8389F-3629-3A8A-5AC1-C7C54CE1A4F9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표준</a:t>
              </a:r>
              <a:r>
                <a:rPr lang="en-US" altLang="ko-KR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/</a:t>
              </a:r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목표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DCE9F48C-3A0C-E93D-8AE7-2C176CC62C8B}"/>
              </a:ext>
            </a:extLst>
          </p:cNvPr>
          <p:cNvGrpSpPr/>
          <p:nvPr/>
        </p:nvGrpSpPr>
        <p:grpSpPr>
          <a:xfrm>
            <a:off x="6665479" y="3281650"/>
            <a:ext cx="4831196" cy="1023314"/>
            <a:chOff x="703941" y="2173040"/>
            <a:chExt cx="4831196" cy="1023314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A9B21D4E-1384-178D-D628-20B1E64BB53C}"/>
                </a:ext>
              </a:extLst>
            </p:cNvPr>
            <p:cNvSpPr/>
            <p:nvPr/>
          </p:nvSpPr>
          <p:spPr>
            <a:xfrm>
              <a:off x="703941" y="2173040"/>
              <a:ext cx="4831196" cy="1023314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64592" tIns="365760" rIns="164592" bIns="73152" rtlCol="0" anchor="t" wrap="square"/>
            <a:lstStyle/>
            <a:p>
              <a:pPr algn="l">
                <a:lnSpc>
                  <a:spcPct val="130000"/>
                </a:lnSpc>
              </a:pPr>
              <a:r>
                <a:rPr sz="100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Data</a:t>
              </a:r>
              <a:r>
                <a:rPr sz="1000" b="0" i="0" u="none">
                  <a:solidFill>
                    <a:srgbClr val="9AA0A6"/>
                  </a:solidFill>
                  <a:latin typeface="맑은 고딕"/>
                  <a:ea typeface="맑은 고딕"/>
                  <a:cs typeface="맑은 고딕"/>
                </a:rPr>
                <a:t> :  </a:t>
              </a:r>
              <a:r>
                <a:rPr sz="10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현재 서로를 감지하는 장비는 </a:t>
              </a:r>
              <a:r>
                <a:rPr sz="1000" b="1" i="0" u="none">
                  <a:solidFill>
                    <a:srgbClr val="C0392B"/>
                  </a:solidFill>
                  <a:latin typeface="맑은 고딕"/>
                  <a:ea typeface="맑은 고딕"/>
                  <a:cs typeface="맑은 고딕"/>
                </a:rPr>
                <a:t>0대</a:t>
              </a:r>
              <a:r>
                <a:rPr sz="10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. 지게차 4대와 상시 인원 3명 모두 감지 대상이 아니다.</a:t>
              </a:r>
              <a:endParaRPr lang="en-US">
                <a:solidFill>
                  <a:schemeClr val="tx1">
                    <a:lumMod val="75000"/>
                    <a:lumOff val="25000"/>
                  </a:schemeClr>
                </a:solidFill>
                <a:ea typeface="+mn-lt"/>
                <a:cs typeface="+mn-lt"/>
              </a:endParaRPr>
            </a:p>
            <a:p>
              <a:pPr algn="l">
                <a:lnSpc>
                  <a:spcPct val="130000"/>
                </a:lnSpc>
              </a:pPr>
              <a:r>
                <a:rPr sz="100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Issue</a:t>
              </a:r>
              <a:r>
                <a:rPr sz="1000" b="0" i="0" u="none">
                  <a:solidFill>
                    <a:srgbClr val="9AA0A6"/>
                  </a:solidFill>
                  <a:latin typeface="맑은 고딕"/>
                  <a:ea typeface="맑은 고딕"/>
                  <a:cs typeface="맑은 고딕"/>
                </a:rPr>
                <a:t> :  </a:t>
              </a:r>
              <a:r>
                <a:rPr sz="10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감지 수단이 없으니 사고도 아차사고도 집계된 적이 없다.</a:t>
              </a:r>
            </a:p>
          </p:txBody>
        </p:sp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2496939B-AC1A-45D7-6DF8-2B3370DDF16F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현재 상황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960120" y="4864608"/>
            <a:ext cx="10277856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1. 부딪히기 전에 알린다</a:t>
            </a:r>
            <a:r>
              <a:rPr sz="12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      2. 장비를 사지 않는다</a:t>
            </a:r>
            <a:r>
              <a:rPr sz="12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      3. 쓸데없이 울리지 않는다</a:t>
            </a:r>
            <a:r>
              <a:rPr sz="12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      4. 꺼져도 바로 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5266944"/>
            <a:ext cx="10277856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1교대(9시간) 동안 경고 등급 경보 </a:t>
            </a:r>
            <a:r>
              <a:rPr sz="1150" b="1" i="0" u="sng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약 95회</a:t>
            </a:r>
            <a:r>
              <a:rPr sz="115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,  그중 위험 등급 </a:t>
            </a:r>
            <a:r>
              <a:rPr sz="1150" b="1" i="0" u="sng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약 27회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541264"/>
            <a:ext cx="10277856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밑줄은 추정치다 (산출 근거 12장). 감지 수단이 없어 실제로 세어 본 적이 없다.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833872"/>
            <a:ext cx="10277856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“지금 이 구간을 지키는 것은 설비가 아니라 </a:t>
            </a:r>
            <a:r>
              <a:rPr sz="1050" b="1" i="1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작업자의 주의력</a:t>
            </a:r>
            <a:r>
              <a:rPr sz="1050" b="0" i="1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하나뿐입니다. 그리고 주의력은 교대 끝으로 갈수록 떨어집니다.”</a:t>
            </a:r>
          </a:p>
        </p:txBody>
      </p:sp>
    </p:spTree>
    <p:extLst>
      <p:ext uri="{BB962C8B-B14F-4D97-AF65-F5344CB8AC3E}">
        <p14:creationId xmlns:p14="http://schemas.microsoft.com/office/powerpoint/2010/main" val="5866404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0E4A5-2CFE-88F8-53F3-8E720CB22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3FA8BE2A-EC18-346B-FC8C-3186C896FE89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B0ED0BFE-8ED5-7F7A-8C6E-74F707AA4818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01695180-C4D9-234C-6228-6C16EA7190FF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83575AC3-2F4A-64D6-BD0C-55325D10C9B5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AFF475B4-0EC4-2624-D94F-2E51D56ECA1C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755C2CE8-43C6-FF11-2F49-633D5E40B3CF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24465DA8-A397-2A44-13A9-C01613025F40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15157984-86F7-3EE4-F7D7-E616DED45D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269D63-F9EC-52DE-958B-6900B3E7DEF8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02.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B6AC5A-9878-4113-AF66-EF0C6A9FF535}"/>
              </a:ext>
            </a:extLst>
          </p:cNvPr>
          <p:cNvSpPr txBox="1"/>
          <p:nvPr/>
        </p:nvSpPr>
        <p:spPr>
          <a:xfrm>
            <a:off x="703941" y="1553619"/>
            <a:ext cx="38528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r>
              <a:rPr lang="en-US" altLang="ko-KR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_5Why?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6B4DD43F-ACD6-1377-5FA4-A62EB0EF3A66}"/>
              </a:ext>
            </a:extLst>
          </p:cNvPr>
          <p:cNvGraphicFramePr>
            <a:graphicFrameLocks noGrp="1"/>
          </p:cNvGraphicFramePr>
          <p:nvPr/>
        </p:nvGraphicFramePr>
        <p:xfrm>
          <a:off x="1065212" y="2533173"/>
          <a:ext cx="10059987" cy="33741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559298">
                  <a:extLst>
                    <a:ext uri="{9D8B030D-6E8A-4147-A177-3AD203B41FA5}">
                      <a16:colId xmlns:a16="http://schemas.microsoft.com/office/drawing/2014/main" val="3358672757"/>
                    </a:ext>
                  </a:extLst>
                </a:gridCol>
                <a:gridCol w="8500689">
                  <a:extLst>
                    <a:ext uri="{9D8B030D-6E8A-4147-A177-3AD203B41FA5}">
                      <a16:colId xmlns:a16="http://schemas.microsoft.com/office/drawing/2014/main" val="1014460790"/>
                    </a:ext>
                  </a:extLst>
                </a:gridCol>
              </a:tblGrid>
              <a:tr h="337414"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r>
                        <a:rPr lang="en-US" sz="1000" b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 Why ?</a:t>
                      </a:r>
                      <a:endParaRPr lang="en-US" altLang="ko-KR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 fontAlgn="base">
                        <a:lnSpc>
                          <a:spcPct val="115000"/>
                        </a:lnSpc>
                      </a:pPr>
                      <a:r>
                        <a:rPr sz="1100" b="1" i="0" u="none">
                          <a:solidFill>
                            <a:srgbClr val="0538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왜 교차 구간에서 위험한가?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4838779"/>
                  </a:ext>
                </a:extLst>
              </a:tr>
              <a:tr h="337414">
                <a:tc vMerge="1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endParaRPr lang="en-US" altLang="ko-KR" sz="1600" b="0" i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9AA0A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→  </a:t>
                      </a: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서로를 보지 못한 채 가까워지기 때문이다.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4066655"/>
                  </a:ext>
                </a:extLst>
              </a:tr>
              <a:tr h="337414"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r>
                        <a:rPr lang="en-US" sz="1000" b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 Why ?</a:t>
                      </a:r>
                      <a:endParaRPr lang="en-US" altLang="ko-KR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100" b="1" i="0" u="none">
                          <a:solidFill>
                            <a:srgbClr val="0538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왜 보지 못하는가?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7978005"/>
                  </a:ext>
                </a:extLst>
              </a:tr>
              <a:tr h="337414">
                <a:tc vMerge="1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endParaRPr lang="en-US" altLang="ko-KR" sz="1600" b="0" i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9AA0A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→  </a:t>
                      </a: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적재 파렛트가 시야를 가리고, 장비 소음에 경적이 묻히기 때문이다.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7384580"/>
                  </a:ext>
                </a:extLst>
              </a:tr>
              <a:tr h="337414"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r>
                        <a:rPr lang="en-US" sz="1000" b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3. Why ?</a:t>
                      </a:r>
                      <a:endParaRPr lang="en-US" altLang="ko-KR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100" b="1" i="0" u="none">
                          <a:solidFill>
                            <a:srgbClr val="0538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왜 눈과 경적에만 의존하는가?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6629005"/>
                  </a:ext>
                </a:extLst>
              </a:tr>
              <a:tr h="337414">
                <a:tc vMerge="1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endParaRPr lang="en-US" altLang="ko-KR" sz="1600" b="0" i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9AA0A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→  </a:t>
                      </a: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접근을 대신 알려주는 장치가 설치돼 있지 않기 때문이다.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7286702"/>
                  </a:ext>
                </a:extLst>
              </a:tr>
              <a:tr h="337414"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r>
                        <a:rPr lang="en-US" sz="1000" b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4. Why ?</a:t>
                      </a:r>
                      <a:endParaRPr lang="en-US" altLang="ko-KR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100" b="1" i="0" u="none">
                          <a:solidFill>
                            <a:srgbClr val="0538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왜 설치되지 않았는가?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0020413"/>
                  </a:ext>
                </a:extLst>
              </a:tr>
              <a:tr h="337414">
                <a:tc vMerge="1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endParaRPr lang="en-US" altLang="ko-KR" sz="1600" b="0" i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9AA0A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→  </a:t>
                      </a: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시중 감지 장비는 차량과 사람 모두에게 태그를 달아야 하고, 대상이 늘 때마다 태그를 더 사야 한다.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4218879"/>
                  </a:ext>
                </a:extLst>
              </a:tr>
              <a:tr h="337414"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r>
                        <a:rPr lang="en-US" sz="1000" b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 Why ?</a:t>
                      </a:r>
                      <a:endParaRPr lang="en-US" altLang="ko-KR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100" b="1" i="0" u="none">
                          <a:solidFill>
                            <a:srgbClr val="0538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왜 그 방법뿐이라고 보았는가?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1267167"/>
                  </a:ext>
                </a:extLst>
              </a:tr>
              <a:tr h="337414">
                <a:tc vMerge="1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endParaRPr lang="en-US" altLang="ko-KR" sz="1600" b="0" i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9AA0A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→  </a:t>
                      </a: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 감지를 ‘장비를 사는 일’ 로만 봤기 때문이다. 이미 나눠준 업무용 스마트폰이 같은 일을 할 수 있다는 것을 검토한 적이 없다.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46786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21E01E2F-3723-77E6-1236-A363B569C9B7}"/>
              </a:ext>
            </a:extLst>
          </p:cNvPr>
          <p:cNvSpPr txBox="1"/>
          <p:nvPr/>
        </p:nvSpPr>
        <p:spPr>
          <a:xfrm>
            <a:off x="1065212" y="2173839"/>
            <a:ext cx="10058400" cy="276999"/>
          </a:xfrm>
          <a:prstGeom prst="rect">
            <a:avLst/>
          </a:prstGeom>
          <a:noFill/>
        </p:spPr>
        <p:txBody>
          <a:bodyPr wrap="square" lIns="0" tIns="91440" rIns="0" bIns="73152" rtlCol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Most likely Causes :  </a:t>
            </a:r>
            <a:r>
              <a:rPr sz="105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지게차와 보행자가 서로 다가오는 것을 알려주는 장치가 설치돼 있지 않다</a:t>
            </a:r>
            <a:endParaRPr lang="ko-KR" altLang="en-US" sz="120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16C8B4-FEF2-1DFF-11BA-C418B4DB5E4E}"/>
              </a:ext>
            </a:extLst>
          </p:cNvPr>
          <p:cNvSpPr txBox="1"/>
          <p:nvPr/>
        </p:nvSpPr>
        <p:spPr>
          <a:xfrm>
            <a:off x="1064703" y="5989648"/>
            <a:ext cx="10058400" cy="276999"/>
          </a:xfrm>
          <a:prstGeom prst="rect">
            <a:avLst/>
          </a:prstGeom>
          <a:noFill/>
        </p:spPr>
        <p:txBody>
          <a:bodyPr wrap="square" rtlCol="0" lIns="0" rIns="0" tIns="91440" b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Root Causes :  </a:t>
            </a:r>
            <a:r>
              <a:rPr sz="10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접근 감지를 ‘장비를 사는 일’ 로만 봐 왔고, 예산이 서지 않으면 대책이 0 인 상태가 유지됐다</a:t>
            </a:r>
            <a:r>
              <a:rPr sz="9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   (시중 제품이 모두 태그 방식이라 — 8장)</a:t>
            </a:r>
            <a:endParaRPr kumimoji="1" lang="ko-KR" altLang="en-US" sz="120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478280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667E6-F3CC-2803-DB9B-E52F23664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40C832AA-9512-68DC-86A4-CBAA9D7F2260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D2BC2940-FCAA-2321-2C9E-64AFF9A527D3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D00C5E0D-0BA6-412A-A273-F3B53DF6EE87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AEB89DC3-F598-5905-2FFF-E8C475664935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23139894-1F6C-9D36-9F4A-EA05FED52DC3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D940C8A6-6AD7-6287-5C7B-6B1EF287270D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4A325569-7902-5D7E-CCB3-1A9AF5F37891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5379DCCB-7AF5-D302-6555-5F59D519D7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B5B2F8-B08D-068C-D53C-3CA674B2239C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03.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417A253-A887-5506-7F08-294C291BC448}"/>
              </a:ext>
            </a:extLst>
          </p:cNvPr>
          <p:cNvSpPr txBox="1"/>
          <p:nvPr/>
        </p:nvSpPr>
        <p:spPr>
          <a:xfrm>
            <a:off x="703941" y="1553619"/>
            <a:ext cx="15487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7B3E2879-37D3-7307-0571-2759B8093414}"/>
              </a:ext>
            </a:extLst>
          </p:cNvPr>
          <p:cNvSpPr/>
          <p:nvPr/>
        </p:nvSpPr>
        <p:spPr>
          <a:xfrm>
            <a:off x="708249" y="2164948"/>
            <a:ext cx="5073772" cy="126405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73152"/>
          <a:lstStyle/>
          <a:p>
            <a:pPr algn="l">
              <a:lnSpc>
                <a:spcPct val="130000"/>
              </a:lnSpc>
            </a:pPr>
            <a:r>
              <a:rPr sz="12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자주 울리기  vs.  꺼버리기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넓게 울리면 작업자가 앱을 꺼버린다. 꺼진 폰은 아무것도 못 한다.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C57C11AF-5833-3F46-DECD-F58645335E34}"/>
              </a:ext>
            </a:extLst>
          </p:cNvPr>
          <p:cNvSpPr/>
          <p:nvPr/>
        </p:nvSpPr>
        <p:spPr>
          <a:xfrm>
            <a:off x="6418595" y="2164948"/>
            <a:ext cx="5073772" cy="126405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73152"/>
          <a:lstStyle/>
          <a:p>
            <a:pPr algn="l">
              <a:lnSpc>
                <a:spcPct val="130000"/>
              </a:lnSpc>
            </a:pPr>
            <a:r>
              <a:rPr sz="12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자주 울리되, 울릴 곳을 좁혔다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9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같은 상대와 같은 등급이 5초 넘게 이어지면 소리를 끈다 (v1.1.61) · 휴게실 · 충전 구역은 안전 구역으로 지정 (v1.1.62) · 멀어진 뒤 다시 울리지 않게 (v1.1.51)</a:t>
            </a:r>
          </a:p>
        </p:txBody>
      </p:sp>
      <p:sp>
        <p:nvSpPr>
          <p:cNvPr id="5" name="화살표: 오른쪽 4">
            <a:extLst>
              <a:ext uri="{FF2B5EF4-FFF2-40B4-BE49-F238E27FC236}">
                <a16:creationId xmlns:a16="http://schemas.microsoft.com/office/drawing/2014/main" id="{C33E788B-22A1-627C-B08F-418A4ED61A4D}"/>
              </a:ext>
            </a:extLst>
          </p:cNvPr>
          <p:cNvSpPr/>
          <p:nvPr/>
        </p:nvSpPr>
        <p:spPr>
          <a:xfrm>
            <a:off x="5853849" y="2597543"/>
            <a:ext cx="492918" cy="485522"/>
          </a:xfrm>
          <a:prstGeom prst="rightArrow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E2ED3035-46AC-0880-58A6-5ED2739E63A4}"/>
              </a:ext>
            </a:extLst>
          </p:cNvPr>
          <p:cNvSpPr/>
          <p:nvPr/>
        </p:nvSpPr>
        <p:spPr>
          <a:xfrm>
            <a:off x="708249" y="3623067"/>
            <a:ext cx="5073772" cy="126405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73152"/>
          <a:lstStyle/>
          <a:p>
            <a:pPr algn="l">
              <a:lnSpc>
                <a:spcPct val="130000"/>
              </a:lnSpc>
            </a:pPr>
            <a:r>
              <a:rPr sz="12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알리기만 하기  vs.  장비를 세우기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장비를 자동으로 세우려면 지게차마다 제동 장치를 달아야 한다. 앱은 못 한다.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53FF29BE-0AB2-E8AF-27B1-E9939C2E415F}"/>
              </a:ext>
            </a:extLst>
          </p:cNvPr>
          <p:cNvSpPr/>
          <p:nvPr/>
        </p:nvSpPr>
        <p:spPr>
          <a:xfrm>
            <a:off x="6418595" y="3623067"/>
            <a:ext cx="5073772" cy="126405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73152"/>
          <a:lstStyle/>
          <a:p>
            <a:pPr algn="l">
              <a:lnSpc>
                <a:spcPct val="130000"/>
              </a:lnSpc>
            </a:pPr>
            <a:r>
              <a:rPr sz="120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알리는 것부터 시작했다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9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안전 대책은 ‘자동으로 멈추기’ 가 ‘사람에게 알리기’ 보다 확실하다. 그건 맞다. 다만 지금 우리 센터에는 둘 다 없다. 장비를 사지 않고 지금 당장 할 수 있는 쪽부터 넣었고, 자동 정지는 필요하다고 판단되면 별도 과제로 간다.</a:t>
            </a:r>
          </a:p>
        </p:txBody>
      </p:sp>
      <p:sp>
        <p:nvSpPr>
          <p:cNvPr id="23" name="화살표: 오른쪽 22">
            <a:extLst>
              <a:ext uri="{FF2B5EF4-FFF2-40B4-BE49-F238E27FC236}">
                <a16:creationId xmlns:a16="http://schemas.microsoft.com/office/drawing/2014/main" id="{8DA2C450-2703-2579-40E4-81B44B2CA702}"/>
              </a:ext>
            </a:extLst>
          </p:cNvPr>
          <p:cNvSpPr/>
          <p:nvPr/>
        </p:nvSpPr>
        <p:spPr>
          <a:xfrm>
            <a:off x="5853849" y="4055662"/>
            <a:ext cx="492918" cy="485522"/>
          </a:xfrm>
          <a:prstGeom prst="rightArrow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64A7B181-D638-442E-C6F6-458A315621AA}"/>
              </a:ext>
            </a:extLst>
          </p:cNvPr>
          <p:cNvSpPr/>
          <p:nvPr/>
        </p:nvSpPr>
        <p:spPr>
          <a:xfrm>
            <a:off x="708249" y="5081186"/>
            <a:ext cx="5073772" cy="126405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73152"/>
          <a:lstStyle/>
          <a:p>
            <a:pPr algn="l">
              <a:lnSpc>
                <a:spcPct val="130000"/>
              </a:lnSpc>
            </a:pPr>
            <a:r>
              <a:rPr sz="12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빨리 고치기  vs.  같은 결과 내기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3개월에 97번 고쳤지만, 고쳤던 문제가 다시 나타났다.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DC603B41-FCC3-8BC3-C2C4-5E5B14F507A6}"/>
              </a:ext>
            </a:extLst>
          </p:cNvPr>
          <p:cNvSpPr/>
          <p:nvPr/>
        </p:nvSpPr>
        <p:spPr>
          <a:xfrm>
            <a:off x="6418595" y="5081186"/>
            <a:ext cx="5073772" cy="126405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73152"/>
          <a:lstStyle/>
          <a:p>
            <a:pPr algn="l">
              <a:lnSpc>
                <a:spcPct val="130000"/>
              </a:lnSpc>
            </a:pPr>
            <a:r>
              <a:rPr sz="12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속도를 늦추고, 같은 결과를 택했다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9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고친 문제마다 자동 검사를 붙여 둔다. 지금 51건이 릴리스마다 돌고, 하나라도 실패하면 새 버전이 아예 나가지 않는다.</a:t>
            </a:r>
          </a:p>
        </p:txBody>
      </p:sp>
      <p:sp>
        <p:nvSpPr>
          <p:cNvPr id="27" name="화살표: 오른쪽 26">
            <a:extLst>
              <a:ext uri="{FF2B5EF4-FFF2-40B4-BE49-F238E27FC236}">
                <a16:creationId xmlns:a16="http://schemas.microsoft.com/office/drawing/2014/main" id="{FEA36ED3-4F40-500D-75F9-BA82765FB620}"/>
              </a:ext>
            </a:extLst>
          </p:cNvPr>
          <p:cNvSpPr/>
          <p:nvPr/>
        </p:nvSpPr>
        <p:spPr>
          <a:xfrm>
            <a:off x="5853849" y="5513781"/>
            <a:ext cx="492918" cy="485522"/>
          </a:xfrm>
          <a:prstGeom prst="rightArrow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2098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8D83A-AB98-025B-53C7-153DE9EDD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90661737-A9A5-FED8-953D-7718D71B83E4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6D1E24FC-F4B0-9C27-16D0-96DFAAD68B4D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6F9E3693-A72B-9DCE-FC19-242CF6DE28CB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6D0B3EBB-0E0C-732D-6B1F-0FA9EEFB26BE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99A063FD-2A10-7263-F85E-10A397DFF2B9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168540D2-0B96-C100-0993-E0BBE4947EF6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B4BF8FD8-2A9B-3E11-C99C-CF6D67C891E6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803C6E86-4685-F7A2-5D4F-CAB2DC72808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D402638-409E-C099-C76F-E92915E75D16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04.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B3243CC-D366-2C5C-A3D7-9B7FA8F160C7}"/>
              </a:ext>
            </a:extLst>
          </p:cNvPr>
          <p:cNvSpPr txBox="1"/>
          <p:nvPr/>
        </p:nvSpPr>
        <p:spPr>
          <a:xfrm>
            <a:off x="703941" y="1553619"/>
            <a:ext cx="18197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F96ED121-1084-3A94-07B5-9FC08C5AC782}"/>
              </a:ext>
            </a:extLst>
          </p:cNvPr>
          <p:cNvGrpSpPr/>
          <p:nvPr/>
        </p:nvGrpSpPr>
        <p:grpSpPr>
          <a:xfrm>
            <a:off x="703941" y="2173040"/>
            <a:ext cx="10792734" cy="853381"/>
            <a:chOff x="703942" y="2173040"/>
            <a:chExt cx="9918349" cy="853381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052DFBF3-364A-7C2E-46A5-3E20B2A9B2E0}"/>
                </a:ext>
              </a:extLst>
            </p:cNvPr>
            <p:cNvSpPr/>
            <p:nvPr/>
          </p:nvSpPr>
          <p:spPr>
            <a:xfrm>
              <a:off x="703942" y="2173040"/>
              <a:ext cx="9918349" cy="853381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201168" rIns="201168" tIns="365760" bIns="73152"/>
            <a:lstStyle/>
            <a:p>
              <a:pPr algn="l">
                <a:lnSpc>
                  <a:spcPct val="130000"/>
                </a:lnSpc>
              </a:pPr>
              <a:r>
                <a:rPr sz="1100" b="1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지게차 ↔ 보행자 접근 경보 장비는 시중에 이미 여러 제품이 있고, 사내 다른 조직도 I-PAS 를 도입해 쓰고 있다. 우리 센터에는 없다.</a:t>
              </a:r>
            </a:p>
            <a:p>
              <a:pPr algn="l">
                <a:lnSpc>
                  <a:spcPct val="130000"/>
                </a:lnSpc>
              </a:pPr>
              <a:r>
                <a:rPr sz="1000" b="0" i="0" u="none">
                  <a:solidFill>
                    <a:srgbClr val="6B7278"/>
                  </a:solidFill>
                  <a:latin typeface="맑은 고딕"/>
                  <a:ea typeface="맑은 고딕"/>
                  <a:cs typeface="맑은 고딕"/>
                </a:rPr>
                <a:t>감지 거리 10~25m 는 이 앱이 정밀 측위(UWB)를 쓸 때의 경고 거리 15m 와 같은 범위다.</a:t>
              </a:r>
              <a:r>
                <a:rPr sz="850" b="0" i="0" u="none">
                  <a:solidFill>
                    <a:srgbClr val="9AA0A6"/>
                  </a:solidFill>
                  <a:latin typeface="맑은 고딕"/>
                  <a:ea typeface="맑은 고딕"/>
                  <a:cs typeface="맑은 고딕"/>
                </a:rPr>
                <a:t>   (제품 정보 — 벤더 공개 자료 2026.09 조회, 벤더 주장 효과 수치는 인용하지 않음)</a:t>
              </a:r>
            </a:p>
          </p:txBody>
        </p:sp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C73F1073-6AE3-6DD6-3D69-046C2C8D9A8E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대상</a:t>
              </a: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19B39597-205F-7378-4D26-5880CBB250AF}"/>
              </a:ext>
            </a:extLst>
          </p:cNvPr>
          <p:cNvGrpSpPr/>
          <p:nvPr/>
        </p:nvGrpSpPr>
        <p:grpSpPr>
          <a:xfrm>
            <a:off x="695325" y="3184177"/>
            <a:ext cx="10792734" cy="3161061"/>
            <a:chOff x="703942" y="2173040"/>
            <a:chExt cx="9918349" cy="3161061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C9A89B43-DA1A-80EC-116D-9D465B19E4A9}"/>
                </a:ext>
              </a:extLst>
            </p:cNvPr>
            <p:cNvSpPr/>
            <p:nvPr/>
          </p:nvSpPr>
          <p:spPr>
            <a:xfrm>
              <a:off x="703942" y="2173040"/>
              <a:ext cx="9918349" cy="3161061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" rIns="18288" tIns="91440" bIns="73152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626FC43A-062E-B886-B32C-9BD93C2137C2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내용</a:t>
              </a:r>
            </a:p>
          </p:txBody>
        </p:sp>
      </p:grp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14400" y="3566160"/>
          <a:ext cx="10351008" cy="1513332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103120"/>
                <a:gridCol w="960120"/>
                <a:gridCol w="3520440"/>
                <a:gridCol w="1280160"/>
                <a:gridCol w="1051560"/>
                <a:gridCol w="1435608"/>
              </a:tblGrid>
              <a:tr h="25603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제품 · 사례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감지 거리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몸에 다는 것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장비 정지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센터 1곳 도입 비용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ZoneSafe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RFID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 주위 360° 최대 10m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태그 필요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 (알림만)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단가 없음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ELOKON ELOshield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UWB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경고 / 정지 구역 분리 · 가려져도 감지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태그 필요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감속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단가 없음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Pozyx RTLS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UWB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 주위 360° 최대 25m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태그 필요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 (알림만)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단가 없음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I-PAS  (사내 타 조직 도입)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태그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3m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태그 필요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정지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 i="0" u="none">
                          <a:solidFill>
                            <a:srgbClr val="B9770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331만원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SafeAlert  (이 제안)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BLE + UWB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UWB 폰끼리 15m / 8m · 그 외 신호 세기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 — 지급된 폰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 (알림만)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0원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50976" y="5102352"/>
            <a:ext cx="10277856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331만원 산출  —  </a:t>
            </a:r>
            <a:r>
              <a:rPr sz="9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차량 태그 52.5만 × 지게차 4대  +  자동정지장치 22만 × 4대  +  보행자 태그 11만 × 상시 3명. 단가는 2026.08 기준이며, 사람이 늘면 1인당 11만원이 더 붙는다.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5394960"/>
            <a:ext cx="10277856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시사점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650992"/>
            <a:ext cx="10168128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시중 제품은 예외 없이 </a:t>
            </a: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‘차량에 수신기, 사람에 태그’</a:t>
            </a:r>
            <a:r>
              <a:rPr sz="10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구조다. 사람이 늘면 태그를 더 산다.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888736"/>
            <a:ext cx="10168128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우리 센터 규모(지게차 4대 · 상시 3명)로 장비를 갖추면 331만원이다. 이 앱은 폰이 이미 있으니 0원이다.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6126479"/>
            <a:ext cx="10168128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·  대신 앱은 장비를 자동으로 세우지 못한다. 알리는 데까지가 한계다.</a:t>
            </a:r>
          </a:p>
        </p:txBody>
      </p:sp>
    </p:spTree>
    <p:extLst>
      <p:ext uri="{BB962C8B-B14F-4D97-AF65-F5344CB8AC3E}">
        <p14:creationId xmlns:p14="http://schemas.microsoft.com/office/powerpoint/2010/main" val="15519984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E3BDA-7787-48C8-FEC3-2D12812BF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98507971-6917-0999-510D-F34FDF88396F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4D9341D9-C08D-B33C-E068-FF4BBB4C6373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D2775B4B-394B-4FB9-34AB-9C7D2BF8DA29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34E33077-1385-D1DE-970E-3B040943E00C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63077203-23CB-1A66-B4AA-B6F546793E22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2F2CFBD5-9D58-21FB-C6A5-0676DDDF6CB7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A91864A1-F78F-83F2-1C17-F39CC47484C2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4A88601-164C-4896-D014-38B90C64599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A81C49B-BA5F-0998-4D83-91D8317AB112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05.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DC80F4-751E-621D-1998-B8BF9583D425}"/>
              </a:ext>
            </a:extLst>
          </p:cNvPr>
          <p:cNvSpPr txBox="1"/>
          <p:nvPr/>
        </p:nvSpPr>
        <p:spPr>
          <a:xfrm>
            <a:off x="703941" y="1553619"/>
            <a:ext cx="14045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화살표: 아래쪽 1">
            <a:extLst>
              <a:ext uri="{FF2B5EF4-FFF2-40B4-BE49-F238E27FC236}">
                <a16:creationId xmlns:a16="http://schemas.microsoft.com/office/drawing/2014/main" id="{5138A0D9-ED0E-BD8C-E2E4-33F02627F0FA}"/>
              </a:ext>
            </a:extLst>
          </p:cNvPr>
          <p:cNvSpPr/>
          <p:nvPr/>
        </p:nvSpPr>
        <p:spPr>
          <a:xfrm>
            <a:off x="4853929" y="4694007"/>
            <a:ext cx="2484142" cy="689883"/>
          </a:xfrm>
          <a:prstGeom prst="downArrow">
            <a:avLst>
              <a:gd name="adj1" fmla="val 49408"/>
              <a:gd name="adj2" fmla="val 32405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0DFAAE3B-85E6-B061-A566-FE0E7C87BBBF}"/>
              </a:ext>
            </a:extLst>
          </p:cNvPr>
          <p:cNvGrpSpPr/>
          <p:nvPr/>
        </p:nvGrpSpPr>
        <p:grpSpPr>
          <a:xfrm>
            <a:off x="6160736" y="2164947"/>
            <a:ext cx="5341260" cy="2819747"/>
            <a:chOff x="6096000" y="2164947"/>
            <a:chExt cx="5341260" cy="2819747"/>
          </a:xfrm>
        </p:grpSpPr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B1DE913D-C723-8F8C-9EEA-F15D5E9F5AE2}"/>
                </a:ext>
              </a:extLst>
            </p:cNvPr>
            <p:cNvSpPr/>
            <p:nvPr/>
          </p:nvSpPr>
          <p:spPr>
            <a:xfrm>
              <a:off x="6096000" y="2164947"/>
              <a:ext cx="5341260" cy="2819747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201168" rIns="201168" tIns="365760" bIns="73152"/>
            <a:lstStyle/>
            <a:p>
              <a:pPr algn="l">
                <a:lnSpc>
                  <a:spcPct val="132000"/>
                </a:lnSpc>
              </a:pPr>
              <a:r>
                <a:rPr sz="120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결과가 흔들리지 않게 다듬는 작업 — 5단계 중 4단계 완료</a:t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1 · 2단계 완료 — 자동 검사 체계를 붙이고, 안전과 직결된 동작을 고정했다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3단계 완료 — 한 파일에 몰려 있던 경보 계산 코드를 나눴다 (3,674줄 → 1,971줄)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4단계 완료 — 기기 상태 관리 경로를 하나로 통일했다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5단계 남음 — 경보 계산을 화면과 분리해, 폰이 많아도 화면이 끊기지 않게 한다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1" i="0" u="none">
                  <a:solidFill>
                    <a:srgbClr val="1B8A6B"/>
                  </a:solidFill>
                  <a:latin typeface="맑은 고딕"/>
                  <a:ea typeface="맑은 고딕"/>
                  <a:cs typeface="맑은 고딕"/>
                </a:rPr>
                <a:t>자동 검사 51건이 릴리스마다 돌고 있다.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00" b="0" i="0" u="none">
                  <a:solidFill>
                    <a:srgbClr val="6B7278"/>
                  </a:solidFill>
                  <a:latin typeface="맑은 고딕"/>
                  <a:ea typeface="맑은 고딕"/>
                  <a:cs typeface="맑은 고딕"/>
                </a:rPr>
                <a:t>그중 24건은 경보 동작을 프레임 단위로 고정한 검사다 — 코드를 나눠도 동작이 달라지지 않았음을 이 검사로 확인했다.</a:t>
              </a:r>
            </a:p>
          </p:txBody>
        </p:sp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E82E4629-0B97-C469-A3C3-21232992667F}"/>
                </a:ext>
              </a:extLst>
            </p:cNvPr>
            <p:cNvSpPr/>
            <p:nvPr/>
          </p:nvSpPr>
          <p:spPr>
            <a:xfrm>
              <a:off x="6146800" y="2219202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Long term</a:t>
              </a:r>
              <a:endParaRPr lang="ko-KR" altLang="en-US" sz="11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4F47DEA-4B3F-9633-7D79-02716FED97C8}"/>
              </a:ext>
            </a:extLst>
          </p:cNvPr>
          <p:cNvGrpSpPr/>
          <p:nvPr/>
        </p:nvGrpSpPr>
        <p:grpSpPr>
          <a:xfrm>
            <a:off x="703940" y="2164947"/>
            <a:ext cx="5341260" cy="2819747"/>
            <a:chOff x="703940" y="2164947"/>
            <a:chExt cx="5341260" cy="2819747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BC77B205-12FC-CD71-16B5-3682553DFC9E}"/>
                </a:ext>
              </a:extLst>
            </p:cNvPr>
            <p:cNvSpPr/>
            <p:nvPr/>
          </p:nvSpPr>
          <p:spPr>
            <a:xfrm>
              <a:off x="703940" y="2164947"/>
              <a:ext cx="5341260" cy="2819747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201168" rIns="201168" tIns="365760" bIns="73152"/>
            <a:lstStyle/>
            <a:p>
              <a:pPr algn="l">
                <a:lnSpc>
                  <a:spcPct val="132000"/>
                </a:lnSpc>
              </a:pPr>
              <a:r>
                <a:rPr sz="120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업무용 스마트폰에 앱을 깔아, 폰끼리 서로를 감지하게 한다</a:t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정밀 측위(UWB) 폰끼리는 실제 거리로 — 지게차가 끼면 15m · 8m, 사람끼리 5m · 3m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그 밖의 폰은 신호 세기로 판단한다 (창고에서는 거리로 환산하지 않는다)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소리 · 진동 · 화면으로 동시에 알린다 — 하나가 막혀도 나머지가 전달된다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상대가 지게차인지 사람인지, 후진 중인지까지 함께 보낸다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안전 구역과 자동 소리 끄기로, 울릴 필요 없는 곳에서는 울리지 않는다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1" i="0" u="none">
                  <a:solidFill>
                    <a:srgbClr val="1B8A6B"/>
                  </a:solidFill>
                  <a:latin typeface="맑은 고딕"/>
                  <a:ea typeface="맑은 고딕"/>
                  <a:cs typeface="맑은 고딕"/>
                </a:rPr>
                <a:t>아무 감지 수단도 없던 현장에서 시작해, 지금 v1.1.71 이 3개 센터에서 돌고 있다.</a:t>
              </a:r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2B0B344E-6CD4-7CD2-CBC2-84C5426572EB}"/>
                </a:ext>
              </a:extLst>
            </p:cNvPr>
            <p:cNvSpPr/>
            <p:nvPr/>
          </p:nvSpPr>
          <p:spPr>
            <a:xfrm>
              <a:off x="754740" y="2219202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Short term</a:t>
              </a:r>
              <a:endParaRPr lang="ko-KR" altLang="en-US" sz="11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AB342F3-2BA3-6BC3-DA79-E8A213F03CCD}"/>
              </a:ext>
            </a:extLst>
          </p:cNvPr>
          <p:cNvSpPr/>
          <p:nvPr/>
        </p:nvSpPr>
        <p:spPr>
          <a:xfrm>
            <a:off x="703940" y="5445940"/>
            <a:ext cx="10784120" cy="899298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73152"/>
          <a:lstStyle/>
          <a:p>
            <a:pPr algn="ctr">
              <a:lnSpc>
                <a:spcPct val="130000"/>
              </a:lnSpc>
            </a:pPr>
            <a:r>
              <a:rPr sz="12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기대 효과  —  </a:t>
            </a:r>
            <a:r>
              <a:rPr sz="12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감지 수단이 0 이던 현장에, 장비 구매 없이 접근 경보가 생긴다. 사람이 늘어도 비용이 늘지 않는다.</a:t>
            </a:r>
            <a:endParaRPr lang="ko-KR" altLang="en-US" sz="120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30000"/>
              </a:lnSpc>
              <a:spcBef>
                <a:spcPts val="300"/>
              </a:spcBef>
            </a:pPr>
            <a:r>
              <a:rPr sz="1000" b="0" i="1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“100% 정확한 감지가 목표가 아닙니다. 피할 시간을 만드는 것이 목표입니다.”</a:t>
            </a:r>
          </a:p>
        </p:txBody>
      </p:sp>
    </p:spTree>
    <p:extLst>
      <p:ext uri="{BB962C8B-B14F-4D97-AF65-F5344CB8AC3E}">
        <p14:creationId xmlns:p14="http://schemas.microsoft.com/office/powerpoint/2010/main" val="1191222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C5E66-1130-4D8B-B9CA-2F27EA9A4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59F1BBBC-0A71-745E-0F7B-77C256448BB2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81104A2C-1552-5A95-F41A-DD7F68958594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198D1858-7B36-13B2-E863-D3F9CFC635B1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C3EEC83C-A789-8C93-A7E5-B1DBF0E57E83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3229EA36-8038-D1A7-E666-DD50875AE7F3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B283D51C-7146-1B15-93BB-0337473407F2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531777DC-9662-22F4-FD23-441A9FA2BA66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7E5C14F1-30D5-9EA7-EA77-A4289D264E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4B55BD-CA7D-6A0F-FA5B-9BDA09AC52FE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05.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B63024-A249-3BAB-6E47-B65B24B1A1A5}"/>
              </a:ext>
            </a:extLst>
          </p:cNvPr>
          <p:cNvSpPr txBox="1"/>
          <p:nvPr/>
        </p:nvSpPr>
        <p:spPr>
          <a:xfrm>
            <a:off x="703941" y="1553619"/>
            <a:ext cx="14045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40DC14B5-5244-26A8-471B-BAD8D7127B5C}"/>
              </a:ext>
            </a:extLst>
          </p:cNvPr>
          <p:cNvGraphicFramePr>
            <a:graphicFrameLocks noGrp="1"/>
          </p:cNvGraphicFramePr>
          <p:nvPr/>
        </p:nvGraphicFramePr>
        <p:xfrm>
          <a:off x="703942" y="2168525"/>
          <a:ext cx="10792734" cy="4176711"/>
        </p:xfrm>
        <a:graphic>
          <a:graphicData uri="http://schemas.openxmlformats.org/drawingml/2006/table">
            <a:tbl>
              <a:tblPr/>
              <a:tblGrid>
                <a:gridCol w="5938860">
                  <a:extLst>
                    <a:ext uri="{9D8B030D-6E8A-4147-A177-3AD203B41FA5}">
                      <a16:colId xmlns:a16="http://schemas.microsoft.com/office/drawing/2014/main" val="2252307753"/>
                    </a:ext>
                  </a:extLst>
                </a:gridCol>
                <a:gridCol w="1617958">
                  <a:extLst>
                    <a:ext uri="{9D8B030D-6E8A-4147-A177-3AD203B41FA5}">
                      <a16:colId xmlns:a16="http://schemas.microsoft.com/office/drawing/2014/main" val="27723600"/>
                    </a:ext>
                  </a:extLst>
                </a:gridCol>
                <a:gridCol w="1617958">
                  <a:extLst>
                    <a:ext uri="{9D8B030D-6E8A-4147-A177-3AD203B41FA5}">
                      <a16:colId xmlns:a16="http://schemas.microsoft.com/office/drawing/2014/main" val="3791432738"/>
                    </a:ext>
                  </a:extLst>
                </a:gridCol>
                <a:gridCol w="1617958">
                  <a:extLst>
                    <a:ext uri="{9D8B030D-6E8A-4147-A177-3AD203B41FA5}">
                      <a16:colId xmlns:a16="http://schemas.microsoft.com/office/drawing/2014/main" val="204628516"/>
                    </a:ext>
                  </a:extLst>
                </a:gridCol>
              </a:tblGrid>
              <a:tr h="37970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What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Who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When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Status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0189584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 · 2단계  자동 검사 체계 · 안전 동작 고정 (저속 접근 포함)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제안자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2801422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3단계  경보 계산 코드 분리 (3,674줄 → 1,971줄)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제안자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7275645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4단계  기기 상태 관리 경로 일원화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제안자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3886245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보안 규칙 잠금 · 업데이트 채널 정비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제안자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 (v1.1.71)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2717012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v1.0.1 ~ v1.1.71 현장 배포 · 3개 센터 실사용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제안자 · 현장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진행 중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진행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0345523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앱 경보 기록 4주 집계 · 작업자 설문 회수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제안자 · 현장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9월 중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진행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3406257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5단계  경보 계산을 화면과 분리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제안자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10월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6B727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예정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2454525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업무용 PDA 로 이전 — 개인 폰 임시 설치 종료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제안자 · IT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10월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6B727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예정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6139239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현장 사용 승인 절차 정리 · 확대 승인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 · 운영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확산 전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B9770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협조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7071733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17개 센터 확산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· 현장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승인 후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6B727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예정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69024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49732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CA13E-4472-0DAA-3990-09AB2AA9A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465293AC-965B-E567-47C6-35E08BCC76AE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208D20D0-8D90-532F-0361-FF40CF8E6C22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403529F8-75F4-CD4B-8303-CF9D15A33C2C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ABC97A09-8B63-934B-1F76-4684EE497D72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2D3363D4-3B26-E4DD-2879-50B63275BF46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E46026E1-690F-1E91-636D-9DA630FD3793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7FFA0C69-823B-8040-EF7E-73E5E8B7DCBE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769A5873-60C7-FC34-C7D0-BEA29A6D1F6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1E11696-D0A7-AC76-FA66-AFF27078ACB6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05.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ADDA19-2D96-CD3E-D212-567E2D289CA3}"/>
              </a:ext>
            </a:extLst>
          </p:cNvPr>
          <p:cNvSpPr txBox="1"/>
          <p:nvPr/>
        </p:nvSpPr>
        <p:spPr>
          <a:xfrm>
            <a:off x="703941" y="1553619"/>
            <a:ext cx="14045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5000D86F-3343-3519-DC55-7EBC92C6671D}"/>
              </a:ext>
            </a:extLst>
          </p:cNvPr>
          <p:cNvSpPr/>
          <p:nvPr/>
        </p:nvSpPr>
        <p:spPr>
          <a:xfrm>
            <a:off x="712557" y="2164947"/>
            <a:ext cx="10784118" cy="4180291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91440" bIns="73152"/>
          <a:lstStyle/>
          <a:p>
            <a:pPr algn="l">
              <a:lnSpc>
                <a:spcPct val="125000"/>
              </a:lnSpc>
            </a:pP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2340864"/>
            <a:ext cx="10424160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개선 계획  1 ~ 5단계  —  4단계까지 완료</a:t>
            </a:r>
            <a:r>
              <a:rPr sz="10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   새 기능을 붙이는 게 아니라, 결과가 흔들리는 원인을 걷어내는 작업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14400" y="2724912"/>
          <a:ext cx="10378440" cy="1938528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685800"/>
                <a:gridCol w="4023360"/>
                <a:gridCol w="4480560"/>
                <a:gridCol w="1188720"/>
              </a:tblGrid>
              <a:tr h="292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무엇을 하는가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출하 시 현장에서 확인할 것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고친 문제마다 자동 검사를 붙인다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설치와 경보가 이전과 똑같이 되는가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 동작을 자동 검사로 고정한다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천천히 다가오는 지게차에 경고가 뜨는가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 파일에 몰린 경보 계산 코드를 나눈다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나누기 전과 동작이 똑같은가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기기 상태 관리 경로를 하나로 통일한다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넘게 켜 둬도 느려지지 않는가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경보 계산을 화면과 분리해 따로 돌린다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폰 20대 이상에서 화면이 끊기지 않는가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6B727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남음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0120" y="4754880"/>
            <a:ext cx="10332720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이 순서인 이유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029200"/>
            <a:ext cx="10241280" cy="29260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①  재는 방법을 먼저 만든다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검사가 하나도 없는 상태에서 안전 코드를 건드리면, 문제를 현장에서 발견하게 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321808"/>
            <a:ext cx="10241280" cy="29260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②  단계마다 따로 배포한다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여러 변경을 한꺼번에 내보내면, 문제가 생겨도 어느 것 때문인지 알 수 없다.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614416"/>
            <a:ext cx="10241280" cy="29260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③  어느 단계에서 멈춰도 쓸 수 있다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단계마다 현장에 그대로 배포했고, 지금 버전이 계속 돌고 있다. 개선이 멈춰도 경보는 끊기지 않는다.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907024"/>
            <a:ext cx="10241280" cy="29260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현재  </a:t>
            </a:r>
            <a:r>
              <a:rPr sz="10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자동 검사 51건이 릴리스마다 돈다. 그중 24건은 경보 동작을 프레임 단위로 고정한 검사로, 3 · 4단계에서 코드를 나눌 때 동작이 1비트도 달라지지 않았음을 이 검사로 확인했다.</a:t>
            </a:r>
          </a:p>
        </p:txBody>
      </p:sp>
    </p:spTree>
    <p:extLst>
      <p:ext uri="{BB962C8B-B14F-4D97-AF65-F5344CB8AC3E}">
        <p14:creationId xmlns:p14="http://schemas.microsoft.com/office/powerpoint/2010/main" val="19822670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DF93A-6940-C420-8F04-09C5E04B0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419B5E65-535B-4BE8-B265-F7A2ED484B0E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CBE16E6D-1B61-A34D-99F9-E24D1B249353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5D3D4D42-41D9-C74E-AB8D-75D1ADAE76E3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A51756E7-6209-AE7A-DFCC-499A91AB73A4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B461F38B-7A18-D769-5A40-68609D29B598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F98826E6-208A-11A4-CE61-9864EA0D10C3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6620885B-9B7B-8B38-A3E2-F86737F78672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4E2F3A6A-B53A-B9C8-72CA-7C7EF42F935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A1B281D-0C9B-1359-E7D4-5E6E45ABF276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06.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9B0736B-B649-D917-3D3E-2020C97C836E}"/>
              </a:ext>
            </a:extLst>
          </p:cNvPr>
          <p:cNvSpPr txBox="1"/>
          <p:nvPr/>
        </p:nvSpPr>
        <p:spPr>
          <a:xfrm>
            <a:off x="703941" y="1553619"/>
            <a:ext cx="12709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BE57673A-F710-C6DC-E73C-12F62FD0C170}"/>
              </a:ext>
            </a:extLst>
          </p:cNvPr>
          <p:cNvGrpSpPr/>
          <p:nvPr/>
        </p:nvGrpSpPr>
        <p:grpSpPr>
          <a:xfrm>
            <a:off x="6160736" y="2164946"/>
            <a:ext cx="5341260" cy="4180291"/>
            <a:chOff x="6096000" y="2164946"/>
            <a:chExt cx="5341260" cy="4180291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6EA20687-C7E7-613F-A70E-CAEECD3A9333}"/>
                </a:ext>
              </a:extLst>
            </p:cNvPr>
            <p:cNvSpPr/>
            <p:nvPr/>
          </p:nvSpPr>
          <p:spPr>
            <a:xfrm>
              <a:off x="6096000" y="2164946"/>
              <a:ext cx="5341260" cy="4180291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" rIns="18288" tIns="365760" bIns="73152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6A28C5CD-725E-8E27-8592-03238D2C424B}"/>
                </a:ext>
              </a:extLst>
            </p:cNvPr>
            <p:cNvSpPr/>
            <p:nvPr/>
          </p:nvSpPr>
          <p:spPr>
            <a:xfrm>
              <a:off x="6146800" y="2219202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지표 확보 방법</a:t>
              </a: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9DCE7117-4440-E729-9CD4-D8362B8638D3}"/>
              </a:ext>
            </a:extLst>
          </p:cNvPr>
          <p:cNvGrpSpPr/>
          <p:nvPr/>
        </p:nvGrpSpPr>
        <p:grpSpPr>
          <a:xfrm>
            <a:off x="703940" y="2164947"/>
            <a:ext cx="5341260" cy="4180291"/>
            <a:chOff x="703940" y="2164947"/>
            <a:chExt cx="5341260" cy="4180291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7E06F6B9-1C6C-987C-7E36-BA46EE1C3EEF}"/>
                </a:ext>
              </a:extLst>
            </p:cNvPr>
            <p:cNvSpPr/>
            <p:nvPr/>
          </p:nvSpPr>
          <p:spPr>
            <a:xfrm>
              <a:off x="703940" y="2164947"/>
              <a:ext cx="5341260" cy="4180291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" rIns="18288" tIns="365760" bIns="73152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A6FB2000-CEC5-1606-A1C3-5700910809C9}"/>
                </a:ext>
              </a:extLst>
            </p:cNvPr>
            <p:cNvSpPr/>
            <p:nvPr/>
          </p:nvSpPr>
          <p:spPr>
            <a:xfrm>
              <a:off x="754740" y="2219202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성공 지표</a:t>
              </a: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923544" y="2569464"/>
            <a:ext cx="4901183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네 가지 모두 숫자로 재기로 했다</a:t>
            </a:r>
            <a:r>
              <a:rPr sz="850" b="0" i="0" u="sng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   밑줄 = 추정치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6968" y="2825496"/>
            <a:ext cx="4974336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978408" y="2926079"/>
            <a:ext cx="50292" cy="530352"/>
          </a:xfrm>
          <a:prstGeom prst="rect">
            <a:avLst/>
          </a:prstGeom>
          <a:solidFill>
            <a:srgbClr val="B97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124712" y="2889503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지표 1   </a:t>
            </a:r>
            <a:r>
              <a:rPr sz="1050" b="1" i="0" u="none">
                <a:solidFill>
                  <a:srgbClr val="B9770B"/>
                </a:solidFill>
                <a:latin typeface="맑은 고딕"/>
                <a:ea typeface="맑은 고딕"/>
                <a:cs typeface="맑은 고딕"/>
              </a:rPr>
              <a:t>경고 등급 경보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" y="3081528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서로 접근 — 경고권 진입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3282696"/>
            <a:ext cx="4608575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u="sng">
                <a:solidFill>
                  <a:srgbClr val="B9770B"/>
                </a:solidFill>
                <a:latin typeface="맑은 고딕"/>
                <a:ea typeface="맑은 고딕"/>
                <a:cs typeface="맑은 고딕"/>
              </a:rPr>
              <a:t>1교대 95회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6968" y="3611879"/>
            <a:ext cx="4974336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978408" y="3712463"/>
            <a:ext cx="50292" cy="5303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124712" y="3675887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지표 2   </a:t>
            </a:r>
            <a:r>
              <a:rPr sz="10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위험 등급 경보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" y="3867911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더 가까워짐 — 위험권 진입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4069080"/>
            <a:ext cx="4608575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u="sng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1교대 27회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6968" y="4398264"/>
            <a:ext cx="4974336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978408" y="4498848"/>
            <a:ext cx="50292" cy="530352"/>
          </a:xfrm>
          <a:prstGeom prst="rect">
            <a:avLst/>
          </a:prstGeom>
          <a:solidFill>
            <a:srgbClr val="6B7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124712" y="4462272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지표 3   </a:t>
            </a:r>
            <a:r>
              <a:rPr sz="1050" b="1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쓸데없이 울린 횟수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4712" y="4654296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서 있는데 계속 울림 · 멀어졌는데 다시 울림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4855464"/>
            <a:ext cx="4608575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u="sng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1교대 3회 미만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6968" y="5184648"/>
            <a:ext cx="4974336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978408" y="5285232"/>
            <a:ext cx="50292" cy="530352"/>
          </a:xfrm>
          <a:prstGeom prst="rect">
            <a:avLst/>
          </a:prstGeom>
          <a:solidFill>
            <a:srgbClr val="1B8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124712" y="5248656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지표 4   </a:t>
            </a:r>
            <a:r>
              <a:rPr sz="1050" b="1" i="0" u="none">
                <a:solidFill>
                  <a:srgbClr val="1B8A6B"/>
                </a:solidFill>
                <a:latin typeface="맑은 고딕"/>
                <a:ea typeface="맑은 고딕"/>
                <a:cs typeface="맑은 고딕"/>
              </a:rPr>
              <a:t>작업자 만족도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4712" y="5440680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울리는 시점과 거리가 맞는가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" y="5641848"/>
            <a:ext cx="4608575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u="sng">
                <a:solidFill>
                  <a:srgbClr val="1B8A6B"/>
                </a:solidFill>
                <a:latin typeface="맑은 고딕"/>
                <a:ea typeface="맑은 고딕"/>
                <a:cs typeface="맑은 고딕"/>
              </a:rPr>
              <a:t>10점 중 7.0점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3544" y="5952744"/>
            <a:ext cx="4901183" cy="40233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‘울렸어야 하는데 안 울린 횟수’ 는 지표에서 뺐다</a:t>
            </a:r>
            <a:r>
              <a:rPr sz="9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아무 일도 일어나지 않은 것이라 셀 방법이 없다. 작업자 설문의 ‘경보가 늦었다’ 응답으로 대신 본다.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82512" y="2569464"/>
            <a:ext cx="4901183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이 숫자는 이렇게 나왔다 — 가정한 값은 하나뿐</a:t>
            </a:r>
          </a:p>
        </p:txBody>
      </p:sp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345936" y="2880360"/>
          <a:ext cx="4974336" cy="197510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207008"/>
                <a:gridCol w="1005840"/>
                <a:gridCol w="2761488"/>
              </a:tblGrid>
              <a:tr h="24688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값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서로 감지되는 짝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21가지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지게차 4 + 사람 3 = 7대의 짝 수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짝당 시간당 접근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sng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0.5회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보수적으로 잡은 값 — </a:t>
                      </a:r>
                      <a:r>
                        <a:rPr sz="850" b="1" i="0" u="none">
                          <a:solidFill>
                            <a:srgbClr val="C0392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유일한 가정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1교대 경고 경보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sng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95회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21가지 × 9시간 × 0.5 = 94.5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위험까지 갈 비율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sng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0.28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UWB 판정 반경 비의 제곱 (8m ÷ 15m)²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1교대 위험 경보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sng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95 × 0.28 = 26.6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쓸데없이 울린 횟수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sng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1교대 3회 미만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소리 끄기 · 재발령 억제 후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작업자 만족도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sng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10점 중 7.0점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 4건 반영 · 3개 센터 사용 중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6382512" y="4946904"/>
            <a:ext cx="4901183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</a:t>
            </a:r>
            <a:r>
              <a:rPr sz="9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앱이 경보를 울릴 때마다 시각 · 상대 · 신호 세기 · 등급이 서버에 기록되고 있다</a:t>
            </a: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— 따로 만들 것이 없다.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82512" y="5257800"/>
            <a:ext cx="4901183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같은 상대는 1분에 한 번만 기록되므로 1건 = 가까워진 1분이다. 사고 건수가 아니라 위험했던 순간의 대용 지표로 쓴다.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82512" y="5568696"/>
            <a:ext cx="4901183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4주만 모으면 가정한 값이 실제 숫자로 바뀌고, 위 표의 나머지가 전부 따라 바뀐다.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82512" y="5879592"/>
            <a:ext cx="4901183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·  사고 건수는 회사 데이터로 존재하지 않아 지표에 넣지 않았다.</a:t>
            </a:r>
          </a:p>
        </p:txBody>
      </p:sp>
    </p:spTree>
    <p:extLst>
      <p:ext uri="{BB962C8B-B14F-4D97-AF65-F5344CB8AC3E}">
        <p14:creationId xmlns:p14="http://schemas.microsoft.com/office/powerpoint/2010/main" val="22979597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53179-4997-7A14-8E32-7B0261911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FB861D27-878D-BC62-9447-E6B6C5A15679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A5AF7A6B-81B8-C666-68C8-5475387E218C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0BA1BA75-F17C-D403-3B41-FD6C3EF27783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230E83A9-8614-D409-2FE9-F6193F200FBD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73FBD945-0408-B5CB-9468-30BC8632B193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EF77CF77-1300-0D90-8A77-6A2FB528B969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A484BB01-57D4-F3AD-EF0B-A734E5CABDE7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2A49F1FC-7F54-9732-8890-EC2CC4E9087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C86447-D02C-5C04-CD6F-D1C60502C2ED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07.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0403D0-D49A-CFBA-7C24-510845F99109}"/>
              </a:ext>
            </a:extLst>
          </p:cNvPr>
          <p:cNvSpPr txBox="1"/>
          <p:nvPr/>
        </p:nvSpPr>
        <p:spPr>
          <a:xfrm>
            <a:off x="703941" y="1553619"/>
            <a:ext cx="11592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882BAAD4-F4F6-12CE-7E95-DF7C1D981D03}"/>
              </a:ext>
            </a:extLst>
          </p:cNvPr>
          <p:cNvGrpSpPr/>
          <p:nvPr/>
        </p:nvGrpSpPr>
        <p:grpSpPr>
          <a:xfrm>
            <a:off x="6160736" y="2164946"/>
            <a:ext cx="5341260" cy="4180291"/>
            <a:chOff x="6096000" y="2164946"/>
            <a:chExt cx="5341260" cy="4180291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0F014A21-20F8-D823-836A-76B3B57BAE23}"/>
                </a:ext>
              </a:extLst>
            </p:cNvPr>
            <p:cNvSpPr/>
            <p:nvPr/>
          </p:nvSpPr>
          <p:spPr>
            <a:xfrm>
              <a:off x="6096000" y="2164946"/>
              <a:ext cx="5341260" cy="4180291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" rIns="18288" tIns="365760" bIns="73152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826C1C10-F67A-A9FE-AED3-166F61A94A4E}"/>
                </a:ext>
              </a:extLst>
            </p:cNvPr>
            <p:cNvSpPr/>
            <p:nvPr/>
          </p:nvSpPr>
          <p:spPr>
            <a:xfrm>
              <a:off x="6146800" y="2219202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지표 확보 방법</a:t>
              </a: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D4EE4EFD-AC99-1B86-AC5B-88EC167701F4}"/>
              </a:ext>
            </a:extLst>
          </p:cNvPr>
          <p:cNvGrpSpPr/>
          <p:nvPr/>
        </p:nvGrpSpPr>
        <p:grpSpPr>
          <a:xfrm>
            <a:off x="703940" y="2164947"/>
            <a:ext cx="5341260" cy="4180291"/>
            <a:chOff x="703940" y="2164947"/>
            <a:chExt cx="5341260" cy="4180291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2BEB07C6-B24D-0712-D330-5EA4615BDCF3}"/>
                </a:ext>
              </a:extLst>
            </p:cNvPr>
            <p:cNvSpPr/>
            <p:nvPr/>
          </p:nvSpPr>
          <p:spPr>
            <a:xfrm>
              <a:off x="703940" y="2164947"/>
              <a:ext cx="5341260" cy="4180291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" rIns="18288" tIns="365760" bIns="73152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  <a:endPara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0CE46924-0EF2-FDDE-49AA-9149BDC873EB}"/>
                </a:ext>
              </a:extLst>
            </p:cNvPr>
            <p:cNvSpPr/>
            <p:nvPr/>
          </p:nvSpPr>
          <p:spPr>
            <a:xfrm>
              <a:off x="754740" y="2219202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중단 지표</a:t>
              </a: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923544" y="2551176"/>
            <a:ext cx="4901183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현장 운영 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" y="2825496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경보가 안 울렸다</a:t>
            </a:r>
            <a:r>
              <a:rPr sz="8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   즉시 중단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696" y="2999232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가까워졌는데 경보가 뜨지 않은 사례 1건이라도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" y="3209544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쓸데없이 계속 울린다</a:t>
            </a:r>
            <a:r>
              <a:rPr sz="8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   즉시 중단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" y="3383279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서 있는데 계속 울림 · 멀어졌는데 다시 울림이 반복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6696" y="3593591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감지가 멈췄다</a:t>
            </a:r>
            <a:r>
              <a:rPr sz="850" b="1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 관측 시 판단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" y="3767328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알림 표시줄이 ‘이상’ 으로 바뀌거나 사라짐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" y="3977639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작업자가 꺼 둔다</a:t>
            </a:r>
            <a:r>
              <a:rPr sz="850" b="1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 관측 시 판단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" y="4151376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소리를 끄거나 앱을 꺼 둔 폰이 늘어남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" y="4453127"/>
            <a:ext cx="4901183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업데이트 · 수정 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" y="4727448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옛 버전과 안 통한다</a:t>
            </a:r>
            <a:r>
              <a:rPr sz="8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   즉시 중단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" y="4901184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옛 버전 폰이 새 버전 폰을 감지하지 못함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6696" y="5111496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고쳤던 문제가 재발</a:t>
            </a:r>
            <a:r>
              <a:rPr sz="8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   즉시 중단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" y="5285232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이전에 고친 증상이 다시 나타남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" y="5495544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업데이트 중 무방비</a:t>
            </a:r>
            <a:r>
              <a:rPr sz="850" b="1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 관측 시 판단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" y="5669280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작업 시간 중 일괄 업데이트 금지 — 교대 전환 때만 배포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6696" y="5879592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업데이트 후 안 켜진다</a:t>
            </a:r>
            <a:r>
              <a:rPr sz="850" b="1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 관측 시 판단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" y="6053328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업데이트나 역할 변경 뒤 앱이 다시 켜지지 않음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2512" y="2551176"/>
            <a:ext cx="4901183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무엇으로 관측하는가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37376" y="2825496"/>
            <a:ext cx="4828031" cy="2971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경보 누락 · 오작동 — 작업자 신고와 서버에 남은 경보 기록을 대조한다.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37376" y="3122676"/>
            <a:ext cx="4828031" cy="2971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감지 멈춤 · 앱 안 켜짐 — 알림 표시줄이 스스로 ‘이상’ 을 띄운다 (v1.1.64).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37376" y="3419856"/>
            <a:ext cx="4828031" cy="2971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버전 섞임 — 배포 뒤 모든 폰의 버전을 확인한다. 신호 형식은 옛 버전과도 통하게 만들었다.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37376" y="3717035"/>
            <a:ext cx="4828031" cy="2971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재발 — 자동 검사가 잡는다. 검사가 실패하면 새 버전이 나가지 않는다.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37376" y="4014215"/>
            <a:ext cx="4828031" cy="2971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꺼 두는 사람 — 작업자 설문과 소리 끔 설정 비율로 본다.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82512" y="4416552"/>
            <a:ext cx="4901183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문제가 생기면 이렇게 되돌린다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37376" y="4709160"/>
            <a:ext cx="4828031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즉시 되돌리기</a:t>
            </a:r>
          </a:p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직전 버전으로 되돌린다 — 현장에서 다시 설치할 필요가 없다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37376" y="5038344"/>
            <a:ext cx="4828031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먼저 1대에서</a:t>
            </a:r>
          </a:p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모든 폰에 배포하기 전에 1대에서 먼저 확인한다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37376" y="5367528"/>
            <a:ext cx="4828031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배포 차단</a:t>
            </a:r>
          </a:p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자동 검사가 실패하면 새 버전이 아예 나가지 않는다 (동작 중)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37376" y="5696712"/>
            <a:ext cx="4828031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원인 특정</a:t>
            </a:r>
          </a:p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단계를 하나씩 따로 배포하므로 어느 변경 탓인지 알 수 있다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37376" y="6025896"/>
            <a:ext cx="4828031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재개 조건</a:t>
            </a:r>
          </a:p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실패한 상황을 자동 검사로 만들어 둔 뒤에만 다음 단계로</a:t>
            </a:r>
          </a:p>
        </p:txBody>
      </p:sp>
    </p:spTree>
    <p:extLst>
      <p:ext uri="{BB962C8B-B14F-4D97-AF65-F5344CB8AC3E}">
        <p14:creationId xmlns:p14="http://schemas.microsoft.com/office/powerpoint/2010/main" val="39590814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F8FEA-475F-5C95-271A-2B2EDE765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7DF67BD0-3452-DEA9-F90F-0BB7CAA828DB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4A41BF43-2E78-AC0C-BD86-0B021DCB70A1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C6830D65-AC58-E764-C405-BC5A44F49F2F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70C28EEB-59AC-7C59-CA8B-5D43C41BDE32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57D547A0-457C-83CB-C3C8-A309D5128508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5EF0C421-B110-989E-3C47-20305620D323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1A09513F-6E51-AA62-5317-046801EB621B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2874243-A13E-9FC4-2173-15DD7392E57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40E45D-30B4-FDB7-24F5-84CEA42570B8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08.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344B6F-4A82-4BD7-235D-213541531A47}"/>
              </a:ext>
            </a:extLst>
          </p:cNvPr>
          <p:cNvSpPr txBox="1"/>
          <p:nvPr/>
        </p:nvSpPr>
        <p:spPr>
          <a:xfrm>
            <a:off x="703941" y="1553619"/>
            <a:ext cx="23969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5F835D4D-F271-F36E-1A5C-9020E4B346E4}"/>
              </a:ext>
            </a:extLst>
          </p:cNvPr>
          <p:cNvGrpSpPr/>
          <p:nvPr/>
        </p:nvGrpSpPr>
        <p:grpSpPr>
          <a:xfrm>
            <a:off x="703940" y="2173040"/>
            <a:ext cx="10792735" cy="2131924"/>
            <a:chOff x="703941" y="2173040"/>
            <a:chExt cx="9918351" cy="2131924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053C676F-79ED-1837-A306-E08891475EDA}"/>
                </a:ext>
              </a:extLst>
            </p:cNvPr>
            <p:cNvSpPr/>
            <p:nvPr/>
          </p:nvSpPr>
          <p:spPr>
            <a:xfrm>
              <a:off x="703941" y="2173040"/>
              <a:ext cx="9918351" cy="2131924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" rIns="18288" tIns="365760" bIns="73152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25E40E29-5EE3-DF5B-EABD-5B7026344C0B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모니터링 방법</a:t>
              </a: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7E2A74F9-6070-6CC1-D35E-7F01FA3216BD}"/>
              </a:ext>
            </a:extLst>
          </p:cNvPr>
          <p:cNvGrpSpPr/>
          <p:nvPr/>
        </p:nvGrpSpPr>
        <p:grpSpPr>
          <a:xfrm>
            <a:off x="703940" y="4462720"/>
            <a:ext cx="10792735" cy="1882518"/>
            <a:chOff x="703940" y="2173040"/>
            <a:chExt cx="10792735" cy="1882518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47304CA0-C295-6A09-BEE7-19D890C6E1CE}"/>
                </a:ext>
              </a:extLst>
            </p:cNvPr>
            <p:cNvSpPr/>
            <p:nvPr/>
          </p:nvSpPr>
          <p:spPr>
            <a:xfrm>
              <a:off x="703940" y="2173040"/>
              <a:ext cx="10792735" cy="1882518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219456" rIns="219456" tIns="365760" bIns="73152"/>
            <a:lstStyle/>
            <a:p>
              <a:pPr algn="l">
                <a:lnSpc>
                  <a:spcPct val="135000"/>
                </a:lnSpc>
              </a:pPr>
              <a:r>
                <a:rPr sz="105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① 실제 숫자 확보</a:t>
              </a: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  앱 경보 기록 4주 집계 · WF11 · WF21 · WF25 작업자 설문 회수 — 추정치를 실제 숫자로 바꾼다.</a:t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l">
                <a:lnSpc>
                  <a:spcPct val="135000"/>
                </a:lnSpc>
                <a:spcBef>
                  <a:spcPts val="500"/>
                </a:spcBef>
              </a:pPr>
              <a:r>
                <a:rPr sz="105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② 업무용 PDA 로 이전</a:t>
              </a: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  2단계에서 개인 폰에 임시로 깔아 둔 상태를 끝낸다.</a:t>
              </a:r>
            </a:p>
            <a:p>
              <a:pPr algn="l">
                <a:lnSpc>
                  <a:spcPct val="135000"/>
                </a:lnSpc>
                <a:spcBef>
                  <a:spcPts val="500"/>
                </a:spcBef>
              </a:pPr>
              <a:r>
                <a:rPr sz="105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③ 확산</a:t>
              </a: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  정식 과제로 등록한 뒤 17개 센터로 — 장비를 사지 않고 앱 배포만으로 늘린다. 확산 전에 보안 검토를 먼저 받는다.</a:t>
              </a:r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A8D96D0D-6F80-D6C2-CDA6-493A29452C83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확산 계획</a:t>
              </a: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960120" y="2560320"/>
            <a:ext cx="10277856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피드백은 이미 한 바퀴 돌았다 — 지적이 코드에 남아 있다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0120" y="2852928"/>
          <a:ext cx="5074920" cy="1124712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530352"/>
                <a:gridCol w="2624328"/>
                <a:gridCol w="1920240"/>
              </a:tblGrid>
              <a:tr h="24688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차수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반영 내용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 전환 버튼 · EPJ 역할 숨김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재설치 없이 화면에서 역할 전환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등급이 5초 넘으면 소리 끄기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더 가까워지면 즉시 다시 울림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3차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휴게실 · 충전 구역을 안전 구역으로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그 안에서는 서로 울리지 않음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373368" y="2852928"/>
          <a:ext cx="5120640" cy="1124712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960120"/>
                <a:gridCol w="2011680"/>
                <a:gridCol w="2148840"/>
              </a:tblGrid>
              <a:tr h="24688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Before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After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앱 상태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꺼져도 알 수 없음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알림 표시줄에 ‘이상’ 표시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멀어진 뒤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멀어졌는데 다시 울림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경고 거리에서는 다시 울리지 않음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알림 끄기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단계가 번거로움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알림 본문을 누르면 즉시 무음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960120" y="4059935"/>
            <a:ext cx="10277856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반영 이력은 커밋에 남아 있다  —  </a:t>
            </a: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리뷰 1·2·3차 v1.1.60 · v1.1.61 · v1.1.62,  앱 상태 표시 v1.1.64,  재발령 억제 v1.1.51,  알림 눌러 끄기 v1.1.68,  화면 가장자리 경보 v1.1.69 · v1.1.70</a:t>
            </a:r>
          </a:p>
        </p:txBody>
      </p:sp>
    </p:spTree>
    <p:extLst>
      <p:ext uri="{BB962C8B-B14F-4D97-AF65-F5344CB8AC3E}">
        <p14:creationId xmlns:p14="http://schemas.microsoft.com/office/powerpoint/2010/main" val="2910445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1D43A2DCBE527428190BB8324CA881A" ma:contentTypeVersion="11" ma:contentTypeDescription="Create a new document." ma:contentTypeScope="" ma:versionID="11ffdfd663cf357fcd2a817bd37773db">
  <xsd:schema xmlns:xsd="http://www.w3.org/2001/XMLSchema" xmlns:xs="http://www.w3.org/2001/XMLSchema" xmlns:p="http://schemas.microsoft.com/office/2006/metadata/properties" xmlns:ns2="9b9c23ca-c45f-4301-bc5a-b8996b68e0ec" xmlns:ns3="4303c087-a5f2-4c17-9b2a-179d9efe9d07" targetNamespace="http://schemas.microsoft.com/office/2006/metadata/properties" ma:root="true" ma:fieldsID="d3ce36e5869a1d3a5e07ee9eb5d1d59d" ns2:_="" ns3:_="">
    <xsd:import namespace="9b9c23ca-c45f-4301-bc5a-b8996b68e0ec"/>
    <xsd:import namespace="4303c087-a5f2-4c17-9b2a-179d9efe9d0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b9c23ca-c45f-4301-bc5a-b8996b68e0e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5" nillable="true" ma:displayName="MediaServiceBillingMetadata" ma:hidden="true" ma:internalName="MediaServiceBillingMetadata" ma:readOnly="true">
      <xsd:simpleType>
        <xsd:restriction base="dms:Note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0e116155-e74f-41f9-90e9-2cd01caac41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303c087-a5f2-4c17-9b2a-179d9efe9d07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27eb5711-304d-43e4-811c-13aad2b1fd70}" ma:internalName="TaxCatchAll" ma:showField="CatchAllData" ma:web="4303c087-a5f2-4c17-9b2a-179d9efe9d0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titus xmlns="http://schemas.titus.com/TitusProperties/">
  <TitusGUID xmlns="">c7565001-ada1-4ecd-85a7-b63a0ddcaa1b</TitusGUID>
</titu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b9c23ca-c45f-4301-bc5a-b8996b68e0ec">
      <Terms xmlns="http://schemas.microsoft.com/office/infopath/2007/PartnerControls"/>
    </lcf76f155ced4ddcb4097134ff3c332f>
    <TaxCatchAll xmlns="4303c087-a5f2-4c17-9b2a-179d9efe9d07" xsi:nil="true"/>
  </documentManagement>
</p:properties>
</file>

<file path=customXml/itemProps1.xml><?xml version="1.0" encoding="utf-8"?>
<ds:datastoreItem xmlns:ds="http://schemas.openxmlformats.org/officeDocument/2006/customXml" ds:itemID="{45B17B35-448E-4613-8EA9-E883F45783C6}">
  <ds:schemaRefs>
    <ds:schemaRef ds:uri="4303c087-a5f2-4c17-9b2a-179d9efe9d07"/>
    <ds:schemaRef ds:uri="9b9c23ca-c45f-4301-bc5a-b8996b68e0e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189B358F-822C-464C-9B9E-1D9162223D06}">
  <ds:schemaRefs>
    <ds:schemaRef ds:uri=""/>
    <ds:schemaRef ds:uri="http://schemas.titus.com/TitusProperties/"/>
  </ds:schemaRefs>
</ds:datastoreItem>
</file>

<file path=customXml/itemProps3.xml><?xml version="1.0" encoding="utf-8"?>
<ds:datastoreItem xmlns:ds="http://schemas.openxmlformats.org/officeDocument/2006/customXml" ds:itemID="{1100C37A-0830-478A-A7F6-50395C2200BB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A144CC79-0753-449D-A633-FD3A9F770477}">
  <ds:schemaRefs>
    <ds:schemaRef ds:uri="16a3ab6b-1edf-4599-82cd-4840175f3d36"/>
    <ds:schemaRef ds:uri="4303c087-a5f2-4c17-9b2a-179d9efe9d07"/>
    <ds:schemaRef ds:uri="4c3b9d58-ac82-42da-8bfc-31de2fa78469"/>
    <ds:schemaRef ds:uri="9b9c23ca-c45f-4301-bc5a-b8996b68e0e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a5a477b8-9606-49bd-8054-914ef373fbd8}" enabled="1" method="Privileged" siteId="{9d9f74be-786b-48f6-8e18-83cf7a2eef7c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16</Slides>
  <Notes>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Office 테마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Lucy Gee [Operations Learning Munjeong Cousolve Learning]</dc:creator>
  <cp:revision>1</cp:revision>
  <dcterms:created xsi:type="dcterms:W3CDTF">2025-03-19T01:57:49Z</dcterms:created>
  <dcterms:modified xsi:type="dcterms:W3CDTF">2026-09-01T06:01:58Z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0x010100C1D43A2DCBE527428190BB8324CA881A</vt:lpwstr>
  </property>
  <property fmtid="{D5CDD505-2E9C-101B-9397-08002B2CF9AE}" pid="3" name="MediaServiceImageTags">
    <vt:lpwstr/>
  </property>
  <property fmtid="{D5CDD505-2E9C-101B-9397-08002B2CF9AE}" pid="4" name="TitusGUID">
    <vt:lpwstr>c7565001-ada1-4ecd-85a7-b63a0ddcaa1b</vt:lpwstr>
  </property>
  <property fmtid="{D5CDD505-2E9C-101B-9397-08002B2CF9AE}" pid="5" name="xd_ProgID">
    <vt:lpwstr/>
  </property>
  <property fmtid="{D5CDD505-2E9C-101B-9397-08002B2CF9AE}" pid="6" name="_SourceUrl">
    <vt:lpwstr/>
  </property>
  <property fmtid="{D5CDD505-2E9C-101B-9397-08002B2CF9AE}" pid="7" name="_SharedFileIndex">
    <vt:lpwstr/>
  </property>
  <property fmtid="{D5CDD505-2E9C-101B-9397-08002B2CF9AE}" pid="8" name="ComplianceAssetId">
    <vt:lpwstr/>
  </property>
  <property fmtid="{D5CDD505-2E9C-101B-9397-08002B2CF9AE}" pid="9" name="TemplateUrl">
    <vt:lpwstr/>
  </property>
  <property fmtid="{D5CDD505-2E9C-101B-9397-08002B2CF9AE}" pid="10" name="_ExtendedDescription">
    <vt:lpwstr/>
  </property>
  <property fmtid="{D5CDD505-2E9C-101B-9397-08002B2CF9AE}" pid="11" name="TriggerFlowInfo">
    <vt:lpwstr/>
  </property>
  <property fmtid="{D5CDD505-2E9C-101B-9397-08002B2CF9AE}" pid="12" name="xd_Signature">
    <vt:bool>false</vt:bool>
  </property>
  <property fmtid="{D5CDD505-2E9C-101B-9397-08002B2CF9AE}" pid="13" name="Order">
    <vt:r8>14904600</vt:r8>
  </property>
</Properties>
</file>