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7" r:id="rId6"/>
    <p:sldId id="292" r:id="rId7"/>
    <p:sldId id="293" r:id="rId10"/>
    <p:sldId id="264" r:id="rId11"/>
    <p:sldId id="282" r:id="rId12"/>
    <p:sldId id="283" r:id="rId13"/>
    <p:sldId id="284" r:id="rId14"/>
    <p:sldId id="285" r:id="rId15"/>
    <p:sldId id="286" r:id="rId16"/>
    <p:sldId id="287" r:id="rId17"/>
    <p:sldId id="291" r:id="rId18"/>
    <p:sldId id="288" r:id="rId19"/>
    <p:sldId id="289" r:id="rId20"/>
    <p:sldId id="29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97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1366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4951" userDrawn="1">
          <p15:clr>
            <a:srgbClr val="A4A3A4"/>
          </p15:clr>
        </p15:guide>
        <p15:guide id="6" pos="15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C3D3"/>
    <a:srgbClr val="053866"/>
    <a:srgbClr val="AAC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9926CD-11A3-E76F-5985-074717AA1E8B}" v="2" dt="2026-09-01T06:01:30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997"/>
        <p:guide pos="7242"/>
        <p:guide orient="horz" pos="1366"/>
        <p:guide pos="438"/>
        <p:guide pos="4951"/>
        <p:guide pos="1527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y Gee [Operations RM&amp;E]" userId="29bad928-f1f1-49d0-9fbf-4aca6a6e5c44" providerId="ADAL" clId="{FBC98BA3-1757-4909-991B-84C7F80C032E}"/>
    <pc:docChg chg="modSld">
      <pc:chgData name="Lucy Gee [Operations RM&amp;E]" userId="29bad928-f1f1-49d0-9fbf-4aca6a6e5c44" providerId="ADAL" clId="{FBC98BA3-1757-4909-991B-84C7F80C032E}" dt="2026-01-23T06:43:23.449" v="65" actId="1076"/>
      <pc:docMkLst>
        <pc:docMk/>
      </pc:docMkLst>
      <pc:sldChg chg="modSp mod">
        <pc:chgData name="Lucy Gee [Operations RM&amp;E]" userId="29bad928-f1f1-49d0-9fbf-4aca6a6e5c44" providerId="ADAL" clId="{FBC98BA3-1757-4909-991B-84C7F80C032E}" dt="2026-01-23T06:43:23.449" v="65" actId="1076"/>
        <pc:sldMkLst>
          <pc:docMk/>
          <pc:sldMk cId="3476256629" sldId="257"/>
        </pc:sldMkLst>
        <pc:spChg chg="mod">
          <ac:chgData name="Lucy Gee [Operations RM&amp;E]" userId="29bad928-f1f1-49d0-9fbf-4aca6a6e5c44" providerId="ADAL" clId="{FBC98BA3-1757-4909-991B-84C7F80C032E}" dt="2026-01-23T06:43:23.449" v="65" actId="1076"/>
          <ac:spMkLst>
            <pc:docMk/>
            <pc:sldMk cId="3476256629" sldId="257"/>
            <ac:spMk id="2" creationId="{DB7756C3-89E1-07DC-D1AB-78E608C545C1}"/>
          </ac:spMkLst>
        </pc:spChg>
        <pc:spChg chg="mod">
          <ac:chgData name="Lucy Gee [Operations RM&amp;E]" userId="29bad928-f1f1-49d0-9fbf-4aca6a6e5c44" providerId="ADAL" clId="{FBC98BA3-1757-4909-991B-84C7F80C032E}" dt="2026-01-23T06:43:08.222" v="13" actId="20577"/>
          <ac:spMkLst>
            <pc:docMk/>
            <pc:sldMk cId="3476256629" sldId="257"/>
            <ac:spMk id="14" creationId="{55394F2F-E2D3-82B9-0B27-78F58B1D5BD5}"/>
          </ac:spMkLst>
        </pc:spChg>
        <pc:spChg chg="mod">
          <ac:chgData name="Lucy Gee [Operations RM&amp;E]" userId="29bad928-f1f1-49d0-9fbf-4aca6a6e5c44" providerId="ADAL" clId="{FBC98BA3-1757-4909-991B-84C7F80C032E}" dt="2026-01-23T06:43:11.992" v="24" actId="20577"/>
          <ac:spMkLst>
            <pc:docMk/>
            <pc:sldMk cId="3476256629" sldId="257"/>
            <ac:spMk id="15" creationId="{6D7A96A4-EF36-6A3D-8E7E-82336CA6A29D}"/>
          </ac:spMkLst>
        </pc:spChg>
      </pc:sldChg>
    </pc:docChg>
  </pc:docChgLst>
  <pc:docChgLst>
    <pc:chgData name="Cliff Jung [CFS_Process Innovation-OB]" userId="S::cliffih@coupangfs.com::bc861a90-6b73-4216-910a-089a7b8956f2" providerId="AD" clId="Web-{5C9926CD-11A3-E76F-5985-074717AA1E8B}"/>
    <pc:docChg chg="addSld">
      <pc:chgData name="Cliff Jung [CFS_Process Innovation-OB]" userId="S::cliffih@coupangfs.com::bc861a90-6b73-4216-910a-089a7b8956f2" providerId="AD" clId="Web-{5C9926CD-11A3-E76F-5985-074717AA1E8B}" dt="2026-09-01T06:01:30.883" v="1"/>
      <pc:docMkLst>
        <pc:docMk/>
      </pc:docMkLst>
      <pc:sldChg chg="new">
        <pc:chgData name="Cliff Jung [CFS_Process Innovation-OB]" userId="S::cliffih@coupangfs.com::bc861a90-6b73-4216-910a-089a7b8956f2" providerId="AD" clId="Web-{5C9926CD-11A3-E76F-5985-074717AA1E8B}" dt="2026-09-01T06:01:29.180" v="0"/>
        <pc:sldMkLst>
          <pc:docMk/>
          <pc:sldMk cId="1971039174" sldId="294"/>
        </pc:sldMkLst>
      </pc:sldChg>
      <pc:sldChg chg="new">
        <pc:chgData name="Cliff Jung [CFS_Process Innovation-OB]" userId="S::cliffih@coupangfs.com::bc861a90-6b73-4216-910a-089a7b8956f2" providerId="AD" clId="Web-{5C9926CD-11A3-E76F-5985-074717AA1E8B}" dt="2026-09-01T06:01:30.883" v="1"/>
        <pc:sldMkLst>
          <pc:docMk/>
          <pc:sldMk cId="1406353961" sldId="29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장비를 산다면 (태그 착용자만 · 1인당 11만원)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앱을 깐다면 (모든 폰끼리 · 추가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404040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DE1"/>
            </a:solidFill>
          </a:ln>
        </c:spPr>
        <c:txPr>
          <a:bodyPr/>
          <a:lstStyle/>
          <a:p>
            <a:pPr>
              <a:defRPr sz="850">
                <a:solidFill>
                  <a:srgbClr val="6B7278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6.719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6B7278"/>
              </a:solidFill>
              <a:latin typeface="맑은 고딕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6B7278"/>
          </a:solidFill>
          <a:latin typeface="맑은 고딕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F12134-25EC-4DEE-8F2A-66631DDA33DD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DDAF5-DC3A-421B-83F2-9A7B8D7E7B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675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62301-DE04-8D6F-B208-6164813D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3CD714-A57D-6232-1E8C-F9AECAF12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47E237-24CC-C373-A83E-203CBF7C9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E805D-364E-6F35-65A8-9BEC5A0E9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65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932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7AD42501-5EC2-536F-1144-14F7751A523C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36BE609-CE28-AC4D-39DC-8F809BCD2DB1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01A9635-792F-5E63-4E41-0D294E6FA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686" y="488387"/>
            <a:ext cx="2329533" cy="18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585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BE570533-D184-D8B5-6B38-D273FB0710C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CB963013-6D73-39A0-C41E-4DDA7DE5E9B8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1531D1-090E-8E1E-E9A9-FE4D8D9C28EC}"/>
              </a:ext>
            </a:extLst>
          </p:cNvPr>
          <p:cNvSpPr/>
          <p:nvPr userDrawn="1"/>
        </p:nvSpPr>
        <p:spPr>
          <a:xfrm>
            <a:off x="353786" y="281415"/>
            <a:ext cx="11484428" cy="6295170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B526C25-795D-8C99-D668-9B12303EFDBC}"/>
              </a:ext>
            </a:extLst>
          </p:cNvPr>
          <p:cNvGrpSpPr/>
          <p:nvPr userDrawn="1"/>
        </p:nvGrpSpPr>
        <p:grpSpPr>
          <a:xfrm>
            <a:off x="529781" y="488387"/>
            <a:ext cx="11132438" cy="185213"/>
            <a:chOff x="529781" y="604499"/>
            <a:chExt cx="11132438" cy="185213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AD014558-4CCA-6439-59D7-C7E84067A7C7}"/>
                </a:ext>
              </a:extLst>
            </p:cNvPr>
            <p:cNvCxnSpPr>
              <a:cxnSpLocks/>
            </p:cNvCxnSpPr>
            <p:nvPr/>
          </p:nvCxnSpPr>
          <p:spPr>
            <a:xfrm>
              <a:off x="529781" y="697105"/>
              <a:ext cx="8614219" cy="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111D7E1-14B8-E4E7-4FFF-C84736E4C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2686" y="604499"/>
              <a:ext cx="2329533" cy="1852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4316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63392-F6A8-9CD8-29BD-8FD8B2ABA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A8F5EF-1E72-E16E-27F5-72373FB21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218549-270D-AB5D-9BC2-AFAE11CF2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33612F-BD47-3A44-D025-029C04E1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E15DA-8989-879F-11D5-32546370B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59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5645B-051A-27A0-D19C-973BC6CB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2C421-4B8A-F5A3-D6B3-CDCB6C523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AEBD18-9F2C-B829-7BB2-93AF069A1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DB5C56-0C98-8BC8-3FC7-363BD76DE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D1E752-910C-6068-116C-D0AC0570E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598350-B4F6-2E66-796C-6F0532499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84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24BBE-9A45-C3D8-817D-BEFB11B4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FB20-4B2C-A076-17A2-93B190456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853BB-F2E9-CD0B-DEC8-1C45A3BD4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BA8E7-7E94-5837-0ABB-4D0454798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263D6E1-3072-EC55-E49F-234697C4A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D3495ED-5368-71B6-1086-3421F9E9C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926259-A0C2-FCBB-CD0F-72E3190AF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F6A3B9-B002-25D9-32AF-4BDAB3A0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493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B9980-2193-0E49-0426-0A4414845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6DEC8E-9E52-1CD1-D75B-EB3C7A85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93F32E-E29E-5F7C-7175-183060FF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EEB259-BBBF-97BE-3896-94EE20973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82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169E696-C0BE-D39F-67BB-321E4E6687D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B1DA3A-4026-653E-85DC-F36BFE97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7E0C9B-6B1B-6161-A052-4674F139A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FC556-17ED-919B-FD65-3755BE9A0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13428E-0ADE-F102-F43E-B62039E6411E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ED9378D-D234-5E96-0781-1E1AF23C2D77}"/>
              </a:ext>
            </a:extLst>
          </p:cNvPr>
          <p:cNvSpPr/>
          <p:nvPr userDrawn="1"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21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1737B-B4E8-DC4D-4306-926D08CF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B2FA5-A62B-B6C2-2F0A-A4C1E114A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FEB6B9-B7E1-069B-F63C-34BAEDB01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54277B-C478-8A54-5115-B00CB8D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ECAA16-17CB-2931-6B12-122C6643F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B0BE53-D9AD-89A6-0144-8AFD3ACD4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4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CB554-A751-0A6E-008B-6EE4D0123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8AC1F4-BC4D-46FA-8CD2-923C781C5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8D1BA31-65B6-B6D9-1BCA-C5BECB847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CF5CC-22E5-F08B-0DE9-CBAE07A74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3D0B3-3B87-4DEA-1F44-7AAA3EA4E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5F8C7-1B65-DD2D-D5EF-09C69987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63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A20B0-C15B-5402-677A-F12CC387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AB76-EAA0-B094-A8FB-570EAEA12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D1CE63-F17B-0630-8813-B875A613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1F34BA-8238-D8AB-D1EB-74B2B2753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1C5638-B8E6-071E-BAE1-F7B98DD0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229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FFEAB57-8134-511A-8E3B-B89F33CE6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ACDF7F-7A05-5C3D-CC2C-5B97DE3C7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32EE1-4486-544C-B4BD-8E175EBA1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6633FB-804F-66DA-1F89-9E3D81EE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201D9-E79D-02B2-E1F6-521C68C3B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394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31CF50-1054-3836-0A47-3548C5EE6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8BB6F-3ED0-86D4-EBB4-9C8184256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FBF48-36EC-5A0D-A95C-E198DBF50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59F595-45E4-AC43-763E-E4CB1D252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16474-59CA-FA9D-7DD4-16C82798E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821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5394F2F-E2D3-82B9-0B27-78F58B1D5BD5}"/>
              </a:ext>
            </a:extLst>
          </p:cNvPr>
          <p:cNvSpPr/>
          <p:nvPr/>
        </p:nvSpPr>
        <p:spPr>
          <a:xfrm>
            <a:off x="1594958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D7A96A4-EF36-6A3D-8E7E-82336CA6A29D}"/>
              </a:ext>
            </a:extLst>
          </p:cNvPr>
          <p:cNvSpPr/>
          <p:nvPr/>
        </p:nvSpPr>
        <p:spPr>
          <a:xfrm>
            <a:off x="5341255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Ian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F85A67-D0FC-775A-01DD-E84C08ACA1DE}"/>
              </a:ext>
            </a:extLst>
          </p:cNvPr>
          <p:cNvSpPr/>
          <p:nvPr/>
        </p:nvSpPr>
        <p:spPr>
          <a:xfrm>
            <a:off x="624114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Region / FC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151F05-31D3-7AB8-10A1-CA1B1FA6240D}"/>
              </a:ext>
            </a:extLst>
          </p:cNvPr>
          <p:cNvSpPr/>
          <p:nvPr/>
        </p:nvSpPr>
        <p:spPr>
          <a:xfrm>
            <a:off x="4370412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Nickname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56C3-89E1-07DC-D1AB-78E608C545C1}"/>
              </a:ext>
            </a:extLst>
          </p:cNvPr>
          <p:cNvSpPr txBox="1"/>
          <p:nvPr/>
        </p:nvSpPr>
        <p:spPr>
          <a:xfrm>
            <a:off x="590550" y="4075133"/>
            <a:ext cx="6102953" cy="830997"/>
          </a:xfrm>
          <a:prstGeom prst="rect">
            <a:avLst/>
          </a:prstGeom>
          <a:noFill/>
        </p:spPr>
        <p:txBody>
          <a:bodyPr wrap="square" lIns="18288" tIns="91440" rIns="18288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지게차와 보행자가 서로 다가오면 미리 알려주는 앱</a:t>
            </a:r>
            <a:endParaRPr kumimoji="0" lang="ko-KR" altLang="en-US" sz="48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+mj-lt"/>
              <a:ea typeface="맑은 고딕" panose="020B0503020000020004" pitchFamily="50" charset="-127"/>
            </a:endParaRPr>
          </a:p>
          <a:p>
            <a:pPr algn="l">
              <a:lnSpc>
                <a:spcPct val="125000"/>
              </a:lnSpc>
            </a:pPr>
            <a:r>
              <a:rPr sz="12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— 이미 나눠준 업무용 스마트폰끼리 신호를 주고받습니다 (SafeAlert)</a:t>
            </a:r>
          </a:p>
        </p:txBody>
      </p:sp>
    </p:spTree>
    <p:extLst>
      <p:ext uri="{BB962C8B-B14F-4D97-AF65-F5344CB8AC3E}">
        <p14:creationId xmlns:p14="http://schemas.microsoft.com/office/powerpoint/2010/main" val="34762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Feedback Loop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Andon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Metrics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Solution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Benchmark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Tradeoffs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Problem Statement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9C25DAA-425D-5767-0CFD-75B709EEA099}"/>
              </a:ext>
            </a:extLst>
          </p:cNvPr>
          <p:cNvSpPr/>
          <p:nvPr/>
        </p:nvSpPr>
        <p:spPr>
          <a:xfrm>
            <a:off x="1689522" y="1929185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우리 센터에는 지게차 접근을 알려주는 장치가 하나도 없습니다</a:t>
            </a:r>
            <a:endParaRPr lang="ko-KR" altLang="en-US" sz="2100">
              <a:solidFill>
                <a:schemeClr val="tx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시야는 적재 파렛트에 막히고 경적은 장비 소음에 묻힙니다. 지금은 작업자의 주의력이 사실상 유일한 안전장치입니다.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BC331D8-FDEB-2B6F-8351-157CB193AF77}"/>
              </a:ext>
            </a:extLst>
          </p:cNvPr>
          <p:cNvSpPr/>
          <p:nvPr/>
        </p:nvSpPr>
        <p:spPr>
          <a:xfrm>
            <a:off x="1687926" y="4747786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만들겠다는 계획이 아니라, 이미 쓰고 있는 앱입니다</a:t>
            </a:r>
            <a:endParaRPr lang="en-US" alt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3개월 동안 70번 넘게 고쳐가며 </a:t>
            </a:r>
            <a:r>
              <a:rPr sz="110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WF11 · WF21 · WF25 세 개 센터에서 실제로 돌고 있습니다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.  같은 기능을 장비로 갖추면 센터당 331만원이 들지만(타 조직 도입 사례 기준), 이 앱은 추가 비용이 없습니다.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80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01.</a:t>
            </a:r>
            <a:endParaRPr lang="ko-KR" altLang="en-US" sz="200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결론</a:t>
            </a:r>
          </a:p>
        </p:txBody>
      </p:sp>
      <p:sp>
        <p:nvSpPr>
          <p:cNvPr id="2" name="사각형: 둥근 모서리 19">
            <a:extLst>
              <a:ext uri="{FF2B5EF4-FFF2-40B4-BE49-F238E27FC236}">
                <a16:creationId xmlns:a16="http://schemas.microsoft.com/office/drawing/2014/main" id="{A74CAE25-43BC-5204-0AA6-C2F3F3011115}"/>
              </a:ext>
            </a:extLst>
          </p:cNvPr>
          <p:cNvSpPr/>
          <p:nvPr/>
        </p:nvSpPr>
        <p:spPr>
          <a:xfrm>
            <a:off x="1687926" y="3317730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이미 나눠준 스마트폰끼리 서로를 감지하게 만들었습니다</a:t>
            </a:r>
            <a:endParaRPr 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앱만 깔면 15m 에서 경고, 8m 에서 위험 경보가 소리 · 진동 · 화면으로 울립니다. 장비를 사거나 센터에 무엇을 설치할 필요가 없습니다.</a:t>
            </a:r>
          </a:p>
        </p:txBody>
      </p:sp>
    </p:spTree>
    <p:extLst>
      <p:ext uri="{BB962C8B-B14F-4D97-AF65-F5344CB8AC3E}">
        <p14:creationId xmlns:p14="http://schemas.microsoft.com/office/powerpoint/2010/main" val="3417819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38A7B-0BDF-08D4-0C43-01EA51BEB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15CA0ECD-6435-9BC3-6B9E-DDBDC12E8D2A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FAA26E14-731F-5390-CB44-107FE336271E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85863F82-7427-BAC8-98C9-053CAD00A542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AA5870-0753-19EF-9FB0-6D3F7321DB6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39BCA1E-C0B3-D387-F459-485EF0C15C8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45D84629-4A39-C20B-DA0E-A87D63C04750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CB5B37C3-047C-8EB6-8653-F5C8E5A11FC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2A1A547-8092-38A1-67DA-F2E054C37D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FAC12-5EF9-A4D5-CC94-FA44D4B7A84B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848C4E-2501-23D4-CE08-82F0BE6DC80D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C5F208C-7AF7-113E-5DAC-DA1726BD4F7A}"/>
              </a:ext>
            </a:extLst>
          </p:cNvPr>
          <p:cNvGrpSpPr/>
          <p:nvPr/>
        </p:nvGrpSpPr>
        <p:grpSpPr>
          <a:xfrm>
            <a:off x="703940" y="2173041"/>
            <a:ext cx="4862359" cy="1255960"/>
            <a:chOff x="703941" y="2173041"/>
            <a:chExt cx="4468430" cy="125596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1EDB62EE-88AA-0D98-4EF5-5F62A4BF5833}"/>
                </a:ext>
              </a:extLst>
            </p:cNvPr>
            <p:cNvSpPr/>
            <p:nvPr/>
          </p:nvSpPr>
          <p:spPr>
            <a:xfrm>
              <a:off x="703941" y="2173041"/>
              <a:ext cx="4468430" cy="1255960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보행자가 서로 다가오는 것을 알려주는 장치가 없다. 존과 로케이션 사이 교차 구간은 적재 파렛트에 시야가 막히고 장비 소음에 경적이 묻혀, 서로를 보지 못한 채 가까워진다.</a:t>
              </a:r>
              <a:endParaRPr lang="ko-KR" altLang="en-US" sz="1200">
                <a:solidFill>
                  <a:srgbClr val="404040"/>
                </a:solidFill>
                <a:ea typeface="+mn-lt"/>
                <a:cs typeface="+mn-lt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FC47DC15-D4C2-6D8C-DCFF-CA8C3CB946D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Background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A9817B9-79F2-B90B-E3F7-081C113F62BD}"/>
              </a:ext>
            </a:extLst>
          </p:cNvPr>
          <p:cNvGrpSpPr/>
          <p:nvPr/>
        </p:nvGrpSpPr>
        <p:grpSpPr>
          <a:xfrm>
            <a:off x="695325" y="3504472"/>
            <a:ext cx="4862359" cy="2840766"/>
            <a:chOff x="703941" y="2173041"/>
            <a:chExt cx="4468430" cy="284076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CFD98441-2412-577A-EB81-96F70A5D6EFB}"/>
                </a:ext>
              </a:extLst>
            </p:cNvPr>
            <p:cNvSpPr/>
            <p:nvPr/>
          </p:nvSpPr>
          <p:spPr>
            <a:xfrm>
              <a:off x="703941" y="2173041"/>
              <a:ext cx="4468430" cy="2840766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0" rIns="182880" tIns="365760" bIns="73152"/>
            <a:lstStyle/>
            <a:p>
              <a:pPr algn="l">
                <a:lnSpc>
                  <a:spcPct val="130000"/>
                </a:lnSpc>
              </a:pPr>
              <a:r>
                <a:rPr sz="115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이미 나눠준 스마트폰에 앱을 깔면, 폰끼리 신호를 주고받아 서로를 감지한다.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따로 살 장비도, 몸에 달 태그도, 센터에 설치할 것도 없다.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신호 받기  →  거리 계산  →  위험도 판단  →  소리 · 진동 · 화면 경보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경보 거리 — 지게차가 끼면 경고 15m · 위험 8m,  사람끼리는 경고 5m · 위험 3m.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장비를 자동으로 멈추지는 못한다. 사람에게 알리는 데까지가 이 앱의 역할이다.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DA23A4E-EA23-B42F-DCEC-6DAB8AD10A6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Solution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BC8470-BF25-9607-7D28-3240CB222578}"/>
              </a:ext>
            </a:extLst>
          </p:cNvPr>
          <p:cNvGrpSpPr/>
          <p:nvPr/>
        </p:nvGrpSpPr>
        <p:grpSpPr>
          <a:xfrm>
            <a:off x="5760174" y="2173040"/>
            <a:ext cx="5736500" cy="4172197"/>
            <a:chOff x="703941" y="2173040"/>
            <a:chExt cx="5271752" cy="417219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ACF0092F-1E9F-84E9-BC7A-26C12BF876E9}"/>
                </a:ext>
              </a:extLst>
            </p:cNvPr>
            <p:cNvSpPr/>
            <p:nvPr/>
          </p:nvSpPr>
          <p:spPr>
            <a:xfrm>
              <a:off x="703941" y="2173040"/>
              <a:ext cx="5271752" cy="417219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BBA688A-ECC0-F043-B9B9-0B57AF642DC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Result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980176" y="263347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서로 감지되는 경우의 수 — 현장 인원이 늘어날수록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888736" y="2889504"/>
          <a:ext cx="5477255" cy="17556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980176" y="47365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지게차 4대 기준. 장비 방식은 태그를 산 사람만 감지되지만, 앱은 폰을 가진 모두가 서로 감지된다.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501091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1교대(9시간) 동안 몇 번이나 가까워지는가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5285231"/>
            <a:ext cx="2578608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35040" y="5385816"/>
            <a:ext cx="50292" cy="640080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81344" y="534924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거리 15m 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5541264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852159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95회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68512" y="5285231"/>
            <a:ext cx="2578608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759952" y="5385816"/>
            <a:ext cx="50292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06256" y="534924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거리 8m 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5541264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6256" y="5852159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27회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0176" y="6217920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산출 근거는 12장. 가정한 값은 ‘한 짝이 한 시간에 0.5번 가까워진다’ 하나뿐이다.</a:t>
            </a:r>
          </a:p>
        </p:txBody>
      </p:sp>
    </p:spTree>
    <p:extLst>
      <p:ext uri="{BB962C8B-B14F-4D97-AF65-F5344CB8AC3E}">
        <p14:creationId xmlns:p14="http://schemas.microsoft.com/office/powerpoint/2010/main" val="5456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B228495-0EDB-9D35-705F-4EE4BA7809EF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어떻게 동작하는가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경보 거리 · 감지되는 경우의 수 · 안전 구역</a:t>
            </a:r>
          </a:p>
        </p:txBody>
      </p:sp>
      <p:pic>
        <p:nvPicPr>
          <p:cNvPr id="24" name="Picture 23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474720" cy="19196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0120" y="4690307"/>
            <a:ext cx="34747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경보가 울리는 거리 — 실제 비례로 그린 것</a:t>
            </a:r>
          </a:p>
        </p:txBody>
      </p:sp>
      <p:pic>
        <p:nvPicPr>
          <p:cNvPr id="26" name="Picture 25" descr="fig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218688"/>
            <a:ext cx="3246120" cy="12395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46320" y="4503997"/>
            <a:ext cx="32461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폰이 늘수록 서로 감지되는 경우의 수는 제곱으로 (3대 3가지 → 10대 45가지)</a:t>
            </a:r>
          </a:p>
        </p:txBody>
      </p:sp>
      <p:pic>
        <p:nvPicPr>
          <p:cNvPr id="28" name="Picture 27" descr="fig_z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218688"/>
            <a:ext cx="2788920" cy="12024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503920" y="4466816"/>
            <a:ext cx="27889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안전 구역 안에서는 경보가 울리지 않는다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138928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경보는 소리 · 진동 · 화면 세 가지로 동시에 울린다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소음 때문에 못 듣거나, 장갑 때문에 진동을 놓치거나, 화면을 안 봐도 나머지 하나는 전달된다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422392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상대와 같은 등급이 5초 넘게 이어지면 소리를 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화면 표시와 기록은 그대로 두고, 더 가까워지면 즉시 다시 울린다 (v1.1.61)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705856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휴게실 · 충전 구역은 ‘안전 구역’ 으로 지정한다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그 안에 있는 사람은 경보를 받지도, 남에게 울리게 하지도 않는다 (v1.1.62)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989320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멈추면 알림 표시줄에 ‘이상’ 이 뜬다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앱이 꺼진 줄 모르고 일하는 상황을 막는다 (v1.1.64)</a:t>
            </a:r>
          </a:p>
        </p:txBody>
      </p:sp>
    </p:spTree>
    <p:extLst>
      <p:ext uri="{BB962C8B-B14F-4D97-AF65-F5344CB8AC3E}">
        <p14:creationId xmlns:p14="http://schemas.microsoft.com/office/powerpoint/2010/main" val="2850019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328A-8D6B-F156-D2E2-372F2BA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98F1665-88C9-D257-6586-557F235A2D01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1AF56F4-395B-9760-38FF-26656CDE4D89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7D476F32-01B4-32A2-2B7B-60F5A880A156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3B5564A-3B76-4772-4731-3CF749A7DEDB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29AD05-4945-43E8-2B81-988788CFBFAA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670250A-C18D-C540-B040-1E7656BCC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FFC08809-583E-718A-F60B-6346C8AA1AE5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E46C5F8-C76C-7C7B-50F4-024F650A8F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E01356-08D8-1A98-6F7B-6561EB5F037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4589D2-1098-9B03-7622-FFA8B56B07BA}"/>
              </a:ext>
            </a:extLst>
          </p:cNvPr>
          <p:cNvSpPr txBox="1"/>
          <p:nvPr/>
        </p:nvSpPr>
        <p:spPr>
          <a:xfrm>
            <a:off x="703941" y="1553619"/>
            <a:ext cx="3023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7AE7396-20A6-15A5-C258-1B4E33FC8705}"/>
              </a:ext>
            </a:extLst>
          </p:cNvPr>
          <p:cNvGrpSpPr/>
          <p:nvPr/>
        </p:nvGrpSpPr>
        <p:grpSpPr>
          <a:xfrm>
            <a:off x="703940" y="2173040"/>
            <a:ext cx="5826333" cy="2131924"/>
            <a:chOff x="703941" y="2173040"/>
            <a:chExt cx="5354307" cy="213192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AEC24772-20AF-D9A7-5F6D-BF21C9B11FE7}"/>
                </a:ext>
              </a:extLst>
            </p:cNvPr>
            <p:cNvSpPr/>
            <p:nvPr/>
          </p:nvSpPr>
          <p:spPr>
            <a:xfrm>
              <a:off x="703941" y="2173040"/>
              <a:ext cx="5354307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AS-IS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보행자의 접근을 감지하는 장치가 설치돼 있지 않다.</a:t>
              </a:r>
              <a:endParaRPr lang="ko-KR" altLang="en-US">
                <a:solidFill>
                  <a:srgbClr val="404040"/>
                </a:solidFill>
                <a:ea typeface="+mn-lt"/>
                <a:cs typeface="+mn-lt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Pain Point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존과 로케이션 사이 교차 구간에서 적재 파렛트가 시야를 가리고, 장비 소음에 경적이 묻혀 서로를 알아채는 것이 늦다.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접근을 알려주는 수단이 없으니, 위험했던 순간이 몇 번이었는지조차 기록되지 않는다.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76F0E32-5025-FE80-A485-5F6D0402D9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문제의 배경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6FE3D44-3247-78E5-240E-ADDDFB17D685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968FAE4-E83B-0591-CC57-BE4A62522078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91440" rIns="18288" bIns="73152" rtlCol="0" anchor="t" wrap="square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CC0B07E1-7C42-C9DD-DE2D-C5901C4162C4}"/>
                </a:ext>
              </a:extLst>
            </p:cNvPr>
            <p:cNvSpPr/>
            <p:nvPr/>
          </p:nvSpPr>
          <p:spPr>
            <a:xfrm>
              <a:off x="754739" y="2227294"/>
              <a:ext cx="1944917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문제를 해결해야 하는 이유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4E4F171-DA7D-D1B8-C6FB-7E861D49BABD}"/>
              </a:ext>
            </a:extLst>
          </p:cNvPr>
          <p:cNvGrpSpPr/>
          <p:nvPr/>
        </p:nvGrpSpPr>
        <p:grpSpPr>
          <a:xfrm>
            <a:off x="6665479" y="2173040"/>
            <a:ext cx="4831196" cy="1023314"/>
            <a:chOff x="703941" y="2173040"/>
            <a:chExt cx="4831196" cy="1023314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00C10E3-4CE1-CA17-2869-FE20EE725DEB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Target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서로 다가오는 것을 부딪히기 전에 감지해 사람에게 알린다.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Vision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현장에 있는 모든 사람과 장비가 서로의 접근을 알 수 있는 상태.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4A8389F-3629-3A8A-5AC1-C7C54CE1A4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표준</a:t>
              </a:r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목표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CE9F48C-3A0C-E93D-8AE7-2C176CC62C8B}"/>
              </a:ext>
            </a:extLst>
          </p:cNvPr>
          <p:cNvGrpSpPr/>
          <p:nvPr/>
        </p:nvGrpSpPr>
        <p:grpSpPr>
          <a:xfrm>
            <a:off x="6665479" y="3281650"/>
            <a:ext cx="4831196" cy="1023314"/>
            <a:chOff x="703941" y="2173040"/>
            <a:chExt cx="4831196" cy="10233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9B21D4E-1384-178D-D628-20B1E64BB53C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Data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현재 서로를 감지하는 장비는 </a:t>
              </a:r>
              <a:r>
                <a:rPr sz="1000" b="1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0대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. 지게차 4대와 상시 인원 3명 모두 감지 대상이 아니다.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Issue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감지 수단이 없으니 사고도 아차사고도 집계된 적이 없다.</a:t>
              </a: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2496939B-AC1A-45D7-6DF8-2B3370DDF16F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현재 상황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60120" y="4864608"/>
            <a:ext cx="1027785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1. 부딪히기 전에 알린다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2. 장비를 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3. 쓸데없이 울리지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4. 꺼져도 바로 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266944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1교대(9시간) 동안 15m 안까지 가까워지는 횟수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95회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,  그중 8m 안까지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27회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541264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밑줄은 추정치다 (산출 근거 12장). 감지 수단이 없어 실제로 세어 본 적이 없다.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833872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“지금 이 구간을 지키는 것은 설비가 아니라 </a:t>
            </a:r>
            <a:r>
              <a:rPr sz="1050" b="1" i="1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작업자의 주의력</a:t>
            </a: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하나뿐입니다. 그리고 주의력은 교대 끝으로 갈수록 떨어집니다.”</a:t>
            </a:r>
          </a:p>
        </p:txBody>
      </p:sp>
    </p:spTree>
    <p:extLst>
      <p:ext uri="{BB962C8B-B14F-4D97-AF65-F5344CB8AC3E}">
        <p14:creationId xmlns:p14="http://schemas.microsoft.com/office/powerpoint/2010/main" val="586640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E4A5-2CFE-88F8-53F3-8E720CB2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3FA8BE2A-EC18-346B-FC8C-3186C896FE8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B0ED0BFE-8ED5-7F7A-8C6E-74F707AA4818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1695180-C4D9-234C-6228-6C16EA7190F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83575AC3-2F4A-64D6-BD0C-55325D10C9B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FF475B4-0EC4-2624-D94F-2E51D56ECA1C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755C2CE8-43C6-FF11-2F49-633D5E40B3CF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24465DA8-A397-2A44-13A9-C01613025F4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5157984-86F7-3EE4-F7D7-E616DED45D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69D63-F9EC-52DE-958B-6900B3E7DEF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B6AC5A-9878-4113-AF66-EF0C6A9FF535}"/>
              </a:ext>
            </a:extLst>
          </p:cNvPr>
          <p:cNvSpPr txBox="1"/>
          <p:nvPr/>
        </p:nvSpPr>
        <p:spPr>
          <a:xfrm>
            <a:off x="703941" y="1553619"/>
            <a:ext cx="3852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_5Why?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B4DD43F-ACD6-1377-5FA4-A62EB0EF3A66}"/>
              </a:ext>
            </a:extLst>
          </p:cNvPr>
          <p:cNvGraphicFramePr>
            <a:graphicFrameLocks noGrp="1"/>
          </p:cNvGraphicFramePr>
          <p:nvPr/>
        </p:nvGraphicFramePr>
        <p:xfrm>
          <a:off x="1065212" y="2533173"/>
          <a:ext cx="10059987" cy="33741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59298">
                  <a:extLst>
                    <a:ext uri="{9D8B030D-6E8A-4147-A177-3AD203B41FA5}">
                      <a16:colId xmlns:a16="http://schemas.microsoft.com/office/drawing/2014/main" val="3358672757"/>
                    </a:ext>
                  </a:extLst>
                </a:gridCol>
                <a:gridCol w="8500689">
                  <a:extLst>
                    <a:ext uri="{9D8B030D-6E8A-4147-A177-3AD203B41FA5}">
                      <a16:colId xmlns:a16="http://schemas.microsoft.com/office/drawing/2014/main" val="1014460790"/>
                    </a:ext>
                  </a:extLst>
                </a:gridCol>
              </a:tblGrid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교차 구간에서 위험한가?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38779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서로를 보지 못한 채 가까워지기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4066655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보지 못하는가?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978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파렛트가 시야를 가리고, 장비 소음에 경적이 묻히기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580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눈과 경적에만 의존하는가?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629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접근을 대신 알려주는 장치가 설치돼 있지 않기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286702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설치되지 않았는가?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20413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시중 감지 장비는 차량과 사람 모두에게 태그를 달아야 하고, 대상이 늘 때마다 태그를 더 사야 한다.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4218879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그 방법뿐이라고 보았는가?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267167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감지를 ‘장비를 사는 일’ 로만 봤기 때문이다. 이미 나눠준 업무용 스마트폰이 같은 일을 할 수 있다는 것을 검토한 적이 없다.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678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1E01E2F-3723-77E6-1236-A363B569C9B7}"/>
              </a:ext>
            </a:extLst>
          </p:cNvPr>
          <p:cNvSpPr txBox="1"/>
          <p:nvPr/>
        </p:nvSpPr>
        <p:spPr>
          <a:xfrm>
            <a:off x="1065212" y="2173839"/>
            <a:ext cx="10058400" cy="276999"/>
          </a:xfrm>
          <a:prstGeom prst="rect">
            <a:avLst/>
          </a:prstGeom>
          <a:noFill/>
        </p:spPr>
        <p:txBody>
          <a:bodyPr wrap="square" lIns="0" tIns="91440" rIns="0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Most likely Causes :  </a:t>
            </a:r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지게차와 보행자가 서로 다가오는 것을 알려주는 장치가 설치돼 있지 않다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16C8B4-FEF2-1DFF-11BA-C418B4DB5E4E}"/>
              </a:ext>
            </a:extLst>
          </p:cNvPr>
          <p:cNvSpPr txBox="1"/>
          <p:nvPr/>
        </p:nvSpPr>
        <p:spPr>
          <a:xfrm>
            <a:off x="1064703" y="5989648"/>
            <a:ext cx="10058400" cy="276999"/>
          </a:xfrm>
          <a:prstGeom prst="rect">
            <a:avLst/>
          </a:prstGeom>
          <a:noFill/>
        </p:spPr>
        <p:txBody>
          <a:bodyPr wrap="square" rtlCol="0" lIns="0" rIns="0" tIns="91440" b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Root Causes :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접근 감지를 ‘장비를 사는 일’ 로만 봐 왔고, 예산이 서지 않으면 대책이 0 인 상태가 유지됐다</a:t>
            </a:r>
            <a:r>
              <a:rPr sz="9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(시중 제품이 모두 태그 방식이라 — 8장)</a:t>
            </a:r>
            <a:endParaRPr kumimoji="1"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782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667E6-F3CC-2803-DB9B-E52F2366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0C832AA-9512-68DC-86A4-CBAA9D7F2260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D2BC2940-FCAA-2321-2C9E-64AFF9A527D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00C5E0D-0BA6-412A-A273-F3B53DF6EE87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EB89DC3-F598-5905-2FFF-E8C47566493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3139894-1F6C-9D36-9F4A-EA05FED52DC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D940C8A6-6AD7-6287-5C7B-6B1EF287270D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4A325569-7902-5D7E-CCB3-1A9AF5F37891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379DCCB-7AF5-D302-6555-5F59D519D7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B5B2F8-B08D-068C-D53C-3CA674B2239C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03.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17A253-A887-5506-7F08-294C291BC448}"/>
              </a:ext>
            </a:extLst>
          </p:cNvPr>
          <p:cNvSpPr txBox="1"/>
          <p:nvPr/>
        </p:nvSpPr>
        <p:spPr>
          <a:xfrm>
            <a:off x="703941" y="1553619"/>
            <a:ext cx="1548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B3E2879-37D3-7307-0571-2759B8093414}"/>
              </a:ext>
            </a:extLst>
          </p:cNvPr>
          <p:cNvSpPr/>
          <p:nvPr/>
        </p:nvSpPr>
        <p:spPr>
          <a:xfrm>
            <a:off x="708249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민감도  vs.  경보 피로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넓게 울리면 작업자가 꺼버린다. 꺼 둔 단말은 보호가 0 이다.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57C11AF-5833-3F46-DECD-F58645335E34}"/>
              </a:ext>
            </a:extLst>
          </p:cNvPr>
          <p:cNvSpPr/>
          <p:nvPr/>
        </p:nvSpPr>
        <p:spPr>
          <a:xfrm>
            <a:off x="6418595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민감도를 택하고, 울릴 곳을 좁혔다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같은 기기 · 같은 등급 5초 이상이면 자동 음소거 (v1.1.61) · 휴게실 · 충전 구역 세이프존 (v1.1.62) · 이탈 후 재발령 억제 (v1.1.51)</a:t>
            </a: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C33E788B-22A1-627C-B08F-418A4ED61A4D}"/>
              </a:ext>
            </a:extLst>
          </p:cNvPr>
          <p:cNvSpPr/>
          <p:nvPr/>
        </p:nvSpPr>
        <p:spPr>
          <a:xfrm>
            <a:off x="5853849" y="2597543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2ED3035-46AC-0880-58A6-5ED2739E63A4}"/>
              </a:ext>
            </a:extLst>
          </p:cNvPr>
          <p:cNvSpPr/>
          <p:nvPr/>
        </p:nvSpPr>
        <p:spPr>
          <a:xfrm>
            <a:off x="708249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 경보  vs.  물리적 정지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경보는 사람이 반응해야 효과가 난다. 통제 위계상 하위다.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3FF29BE-0AB2-E8AF-27B1-E9939C2E415F}"/>
              </a:ext>
            </a:extLst>
          </p:cNvPr>
          <p:cNvSpPr/>
          <p:nvPr/>
        </p:nvSpPr>
        <p:spPr>
          <a:xfrm>
            <a:off x="6418595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물리적 정지는 포기했다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정지(공학적 제어)가 상위, 경보(관리적 제어)가 하위다. 상위를 대체하지 않는다 — I-PAS EOD 를 그대로 두고, 상위가 닿지 않는 조합에만 하위를 새로 넣는다.</a:t>
            </a: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8DA2C450-2703-2579-40E4-81B44B2CA702}"/>
              </a:ext>
            </a:extLst>
          </p:cNvPr>
          <p:cNvSpPr/>
          <p:nvPr/>
        </p:nvSpPr>
        <p:spPr>
          <a:xfrm>
            <a:off x="5853849" y="4055662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4A7B181-D638-442E-C6F6-458A315621AA}"/>
              </a:ext>
            </a:extLst>
          </p:cNvPr>
          <p:cNvSpPr/>
          <p:nvPr/>
        </p:nvSpPr>
        <p:spPr>
          <a:xfrm>
            <a:off x="708249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빨리 고치기  vs.  같은 결과 내기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3개월에 70번 고쳤지만, 고쳤던 문제가 다시 나타났다.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C603B41-FCC3-8BC3-C2C4-5E5B14F507A6}"/>
              </a:ext>
            </a:extLst>
          </p:cNvPr>
          <p:cNvSpPr/>
          <p:nvPr/>
        </p:nvSpPr>
        <p:spPr>
          <a:xfrm>
            <a:off x="6418595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속도를 늦추고, 같은 결과를 택했다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고친 문제마다 자동 검사를 붙여 둔다. 안전과 직결된 검사가 하나라도 실패하면 새 버전이 아예 나가지 않는다 (1단계 완료, 현재 동작 중).</a:t>
            </a:r>
          </a:p>
        </p:txBody>
      </p: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EA36ED3-4F40-500D-75F9-BA82765FB620}"/>
              </a:ext>
            </a:extLst>
          </p:cNvPr>
          <p:cNvSpPr/>
          <p:nvPr/>
        </p:nvSpPr>
        <p:spPr>
          <a:xfrm>
            <a:off x="5853849" y="5513781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09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D83A-AB98-025B-53C7-153DE9EDD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0661737-A9A5-FED8-953D-7718D71B83E4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6D1E24FC-F4B0-9C27-16D0-96DFAAD68B4D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F9E3693-A72B-9DCE-FC19-242CF6DE28CB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6D0B3EBB-0E0C-732D-6B1F-0FA9EEFB26BE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99A063FD-2A10-7263-F85E-10A397DFF2B9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168540D2-0B96-C100-0993-E0BBE4947EF6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B4BF8FD8-2A9B-3E11-C99C-CF6D67C891E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3C6E86-4685-F7A2-5D4F-CAB2DC7280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02638-409E-C099-C76F-E92915E75D1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04.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243CC-D366-2C5C-A3D7-9B7FA8F160C7}"/>
              </a:ext>
            </a:extLst>
          </p:cNvPr>
          <p:cNvSpPr txBox="1"/>
          <p:nvPr/>
        </p:nvSpPr>
        <p:spPr>
          <a:xfrm>
            <a:off x="703941" y="1553619"/>
            <a:ext cx="18197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6ED121-1084-3A94-07B5-9FC08C5AC782}"/>
              </a:ext>
            </a:extLst>
          </p:cNvPr>
          <p:cNvGrpSpPr/>
          <p:nvPr/>
        </p:nvGrpSpPr>
        <p:grpSpPr>
          <a:xfrm>
            <a:off x="703941" y="2173040"/>
            <a:ext cx="10792734" cy="853381"/>
            <a:chOff x="703942" y="2173040"/>
            <a:chExt cx="9918349" cy="8533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2DFBF3-364A-7C2E-46A5-3E20B2A9B2E0}"/>
                </a:ext>
              </a:extLst>
            </p:cNvPr>
            <p:cNvSpPr/>
            <p:nvPr/>
          </p:nvSpPr>
          <p:spPr>
            <a:xfrm>
              <a:off x="703942" y="2173040"/>
              <a:ext cx="9918349" cy="85338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01168" rIns="201168" tIns="365760" bIns="73152"/>
            <a:lstStyle/>
            <a:p>
              <a:pPr algn="l">
                <a:lnSpc>
                  <a:spcPct val="130000"/>
                </a:lnSpc>
              </a:pPr>
              <a:r>
                <a:rPr sz="110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지게차 ↔ 보행자 접근 경보 장비는 시중에 이미 여러 제품이 있고, 사내 다른 조직도 I-PAS 를 도입해 쓰고 있다. 우리 센터에는 없다.</a:t>
              </a:r>
            </a:p>
            <a:p>
              <a:pPr algn="l">
                <a:lnSpc>
                  <a:spcPct val="130000"/>
                </a:lnSpc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감지 거리 10~25m 는 이 앱의 경고 거리 15m 와 같은 범위 — 거리 설정이 업계 관행에서 벗어나 있지 않다.</a:t>
              </a:r>
            </a:p>
            <a:p>
              <a:pPr algn="l">
                <a:lnSpc>
                  <a:spcPct val="130000"/>
                </a:lnSpc>
              </a:pPr>
              <a:r>
                <a:rPr sz="8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제품 정보는 벤더 공개 자료 기준 (2026.09 조회). 벤더가 주장하는 효과 수치는 인용하지 않았다.</a:t>
              </a: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73F1073-6AE3-6DD6-3D69-046C2C8D9A8E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대상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B39597-205F-7378-4D26-5880CBB250AF}"/>
              </a:ext>
            </a:extLst>
          </p:cNvPr>
          <p:cNvGrpSpPr/>
          <p:nvPr/>
        </p:nvGrpSpPr>
        <p:grpSpPr>
          <a:xfrm>
            <a:off x="695325" y="3184177"/>
            <a:ext cx="10792734" cy="3161061"/>
            <a:chOff x="703942" y="2173040"/>
            <a:chExt cx="9918349" cy="316106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9A89B43-DA1A-80EC-116D-9D465B19E4A9}"/>
                </a:ext>
              </a:extLst>
            </p:cNvPr>
            <p:cNvSpPr/>
            <p:nvPr/>
          </p:nvSpPr>
          <p:spPr>
            <a:xfrm>
              <a:off x="703942" y="2173040"/>
              <a:ext cx="9918349" cy="316106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26FC43A-062E-B886-B32C-9BD93C2137C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내용</a:t>
              </a:r>
            </a:p>
          </p:txBody>
        </p:sp>
      </p:grp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3566160"/>
          <a:ext cx="10351008" cy="15133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31720"/>
                <a:gridCol w="777240"/>
                <a:gridCol w="3063240"/>
                <a:gridCol w="1417320"/>
                <a:gridCol w="1188720"/>
                <a:gridCol w="1572768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· 사례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몸에 다는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 1곳 도입 비용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RFID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/ 정지 구역 분리 · 가려져도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I-PAS  (사내 타 조직 도입)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331만원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SafeAlert  (이 제안)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15m / 위험 8m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지급된 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50976" y="5102352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331만원 산출  —  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차량 태그 52.5만 × 지게차 4대  +  자동정지장치 22만 × 4대  +  보행자 태그 11만 × 상시 3명. 단가는 2026.08 기준이며, 사람이 늘면 1인당 11만원이 더 붙는다.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시사점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650992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시중 제품은 예외 없이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‘차량에 수신기, 사람에 태그’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구조다. 사람이 늘면 태그를 더 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88736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우리 센터 규모(지게차 4대 · 상시 3명)로 장비를 갖추면 331만원이다. 이 앱은 폰이 이미 있으니 0원이다.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126479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대신 앱은 장비를 자동으로 세우지 못한다. 알리는 데까지가 한계다.</a:t>
            </a:r>
          </a:p>
        </p:txBody>
      </p:sp>
    </p:spTree>
    <p:extLst>
      <p:ext uri="{BB962C8B-B14F-4D97-AF65-F5344CB8AC3E}">
        <p14:creationId xmlns:p14="http://schemas.microsoft.com/office/powerpoint/2010/main" val="1551998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BDA-7787-48C8-FEC3-2D12812B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8507971-6917-0999-510D-F34FDF88396F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D9341D9-C08D-B33C-E068-FF4BBB4C637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2775B4B-394B-4FB9-34AB-9C7D2BF8DA29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34E33077-1385-D1DE-970E-3B040943E00C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63077203-23CB-1A66-B4AA-B6F546793E22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2F2CFBD5-9D58-21FB-C6A5-0676DDDF6CB7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91864A1-F78F-83F2-1C17-F39CC47484C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4A88601-164C-4896-D014-38B90C6459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81C49B-BA5F-0998-4D83-91D8317AB11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DC80F4-751E-621D-1998-B8BF9583D42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5138A0D9-ED0E-BD8C-E2E4-33F02627F0FA}"/>
              </a:ext>
            </a:extLst>
          </p:cNvPr>
          <p:cNvSpPr/>
          <p:nvPr/>
        </p:nvSpPr>
        <p:spPr>
          <a:xfrm>
            <a:off x="4853929" y="4694007"/>
            <a:ext cx="2484142" cy="689883"/>
          </a:xfrm>
          <a:prstGeom prst="downArrow">
            <a:avLst>
              <a:gd name="adj1" fmla="val 49408"/>
              <a:gd name="adj2" fmla="val 324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DFAAE3B-85E6-B061-A566-FE0E7C87BBBF}"/>
              </a:ext>
            </a:extLst>
          </p:cNvPr>
          <p:cNvGrpSpPr/>
          <p:nvPr/>
        </p:nvGrpSpPr>
        <p:grpSpPr>
          <a:xfrm>
            <a:off x="6160736" y="2164947"/>
            <a:ext cx="5341260" cy="2819747"/>
            <a:chOff x="6096000" y="2164947"/>
            <a:chExt cx="5341260" cy="2819747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1DE913D-C723-8F8C-9EEA-F15D5E9F5AE2}"/>
                </a:ext>
              </a:extLst>
            </p:cNvPr>
            <p:cNvSpPr/>
            <p:nvPr/>
          </p:nvSpPr>
          <p:spPr>
            <a:xfrm>
              <a:off x="609600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같은 상황에서 항상 같게 동작하도록 다듬고, 업무용 PDA 로 옮긴다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새 기능을 붙이는 작업이 아니다. 결과가 흔들리는 원인을 걷어내는 작업이다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1단계 완료 — 자동 검사 체계를 붙였다 (지금 동작 중)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2단계 — 안전과 직결된 동작을 자동 검사로 고정하고, 업무용 PDA 로 옮긴다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3~5단계 — 경보 계산 코드를 나누고, 오래 켜 둬도 느려지지 않게 만든다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PDA 로 옮기면 개인 폰에 임시로 깔아 둔 상태가 끝난다.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업무용 단말이라 배포와 회수 경로가 이미 있고, 개인 폰 배터리를 쓰는 문제도 없어진다.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E82E4629-0B97-C469-A3C3-21232992667F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Long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4F47DEA-4B3F-9633-7D79-02716FED97C8}"/>
              </a:ext>
            </a:extLst>
          </p:cNvPr>
          <p:cNvGrpSpPr/>
          <p:nvPr/>
        </p:nvGrpSpPr>
        <p:grpSpPr>
          <a:xfrm>
            <a:off x="703940" y="2164947"/>
            <a:ext cx="5341260" cy="2819747"/>
            <a:chOff x="703940" y="2164947"/>
            <a:chExt cx="5341260" cy="2819747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C77B205-12FC-CD71-16B5-3682553DFC9E}"/>
                </a:ext>
              </a:extLst>
            </p:cNvPr>
            <p:cNvSpPr/>
            <p:nvPr/>
          </p:nvSpPr>
          <p:spPr>
            <a:xfrm>
              <a:off x="70394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업무용 스마트폰에 앱을 깔아, 폰끼리 서로를 감지하게 한다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지게차가 끼면 경고 15m · 위험 8m,  사람끼리는 경고 5m · 위험 3m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소리 · 진동 · 화면으로 동시에 알린다 — 하나가 막혀도 나머지가 전달된다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상대가 지게차인지 사람인지, 서 있는지 움직이는지, 후진 중인지까지 함께 보낸다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안전 구역과 자동 소리 끄기로, 울릴 필요 없는 곳에서는 울리지 않는다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지금 v1.1.70 이 WF11 · WF21 · WF25 에서 돌고 있다.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아무 감지 수단도 없던 상태에서, 장비를 사지 않고 감지를 시작한 것이다. 사람이 늘어도 추가로 살 것이 없다.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0B344E-6CD4-7CD2-CBC2-84C5426572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Short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B342F3-2BA3-6BC3-DA79-E8A213F03CCD}"/>
              </a:ext>
            </a:extLst>
          </p:cNvPr>
          <p:cNvSpPr/>
          <p:nvPr/>
        </p:nvSpPr>
        <p:spPr>
          <a:xfrm>
            <a:off x="703940" y="5445940"/>
            <a:ext cx="10784120" cy="899298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73152"/>
          <a:lstStyle/>
          <a:p>
            <a:pPr algn="ctr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기대 효과  —  </a:t>
            </a: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수단이 0 이던 현장에, 장비 구매 없이 15m · 8m 경보가 생긴다. 사람이 늘어도 비용이 늘지 않는다.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30000"/>
              </a:lnSpc>
              <a:spcBef>
                <a:spcPts val="300"/>
              </a:spcBef>
            </a:pPr>
            <a:r>
              <a:rPr sz="100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“100% 정확한 감지가 목표가 아닙니다. 피할 시간을 만드는 것이 목표입니다.”</a:t>
            </a:r>
          </a:p>
        </p:txBody>
      </p:sp>
    </p:spTree>
    <p:extLst>
      <p:ext uri="{BB962C8B-B14F-4D97-AF65-F5344CB8AC3E}">
        <p14:creationId xmlns:p14="http://schemas.microsoft.com/office/powerpoint/2010/main" val="11912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5E66-1130-4D8B-B9CA-2F27EA9A4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59F1BBBC-0A71-745E-0F7B-77C256448BB2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81104A2C-1552-5A95-F41A-DD7F68958594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198D1858-7B36-13B2-E863-D3F9CFC635B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C3EEC83C-A789-8C93-A7E5-B1DBF0E57E8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3229EA36-8038-D1A7-E666-DD50875AE7F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B283D51C-7146-1B15-93BB-0337473407F2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531777DC-9662-22F4-FD23-441A9FA2BA6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E5C14F1-30D5-9EA7-EA77-A4289D264E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4B55BD-CA7D-6A0F-FA5B-9BDA09AC52FE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63024-A249-3BAB-6E47-B65B24B1A1A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0DC14B5-5244-26A8-471B-BAD8D7127B5C}"/>
              </a:ext>
            </a:extLst>
          </p:cNvPr>
          <p:cNvGraphicFramePr>
            <a:graphicFrameLocks noGrp="1"/>
          </p:cNvGraphicFramePr>
          <p:nvPr/>
        </p:nvGraphicFramePr>
        <p:xfrm>
          <a:off x="703942" y="2168525"/>
          <a:ext cx="10792734" cy="4176711"/>
        </p:xfrm>
        <a:graphic>
          <a:graphicData uri="http://schemas.openxmlformats.org/drawingml/2006/table">
            <a:tbl>
              <a:tblPr/>
              <a:tblGrid>
                <a:gridCol w="5938860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797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1단계  자동 검사 체계 구축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v1.0.1 ~ v1.1.70 현장 배포 · 3개 센터 실사용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경보 기록 4주 집계 — 추정치를 실제 숫자로 교체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서베이 회수 · 집계 (WF11 · WF21 · WF25)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 안전 동작 자동 검사 + 업무용 PDA 로 이전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IT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3~5단계  경보 계산 코드 정리 · 장시간 안정성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사용 승인 절차 정리 · 확대 승인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· 운영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검토 — 앱 보호 미적용 · 경보 기록 암호화 안 됨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과제 등록 · 유지보수 주체 지정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/ 기획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완료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97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A13E-4472-0DAA-3990-09AB2AA9A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65293AC-965B-E567-47C6-35E08BCC76A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208D20D0-8D90-532F-0361-FF40CF8E6C22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403529F8-75F4-CD4B-8303-CF9D15A33C2C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BC97A09-8B63-934B-1F76-4684EE497D7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D3363D4-3B26-E4DD-2879-50B63275BF46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46026E1-690F-1E91-636D-9DA630FD379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7FFA0C69-823B-8040-EF7E-73E5E8B7DCBE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69A5873-60C7-FC34-C7D0-BEA29A6D1F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11696-D0A7-AC76-FA66-AFF27078ACB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ADDA19-2D96-CD3E-D212-567E2D289CA3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000D86F-3343-3519-DC55-7EBC92C6671D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앞으로의 개선 계획  1 ~ 5단계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새 기능을 붙이는 게 아니라, 결과가 흔들리는 원인을 걷어내는 작업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2724912"/>
          <a:ext cx="103784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4023360"/>
                <a:gridCol w="4480560"/>
                <a:gridCol w="118872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무엇을 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출하 시 현장에서 확인할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고친 문제마다 자동 검사를 붙인다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설치와 경보가 이전과 똑같이 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동작을 자동 검사로 고정 + 업무용 PDA 로 이전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천천히 다가오는 지게차에 경고가 뜨는가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파일에 몰린 경보 계산 코드를 나눈다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나누기 전과 동작이 똑같은가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기기 상태 관리 방식을 하나로 통일한다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넘게 켜 둬도 느려지지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경보 계산을 화면과 분리해 따로 돌린다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폰 20대 이상에서 화면이 끊기지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0120" y="4754880"/>
            <a:ext cx="1033272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순서인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①  재는 방법을 먼저 만든다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검사가 하나도 없는 상태에서 안전 코드를 건드리면, 문제를 현장에서 발견하게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21808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②  단계마다 따로 배포한다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여러 변경을 한꺼번에 내보내면, 문제가 생겨도 어느 것 때문인지 알 수 없다.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14416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③  어느 단계에서 멈춰도 쓸 수 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개선이 중간에 멈춰도 지금 버전이 현장에서 그대로 돌아 경보가 끊기지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982267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DF93A-6940-C420-8F04-09C5E04B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19B5E65-535B-4BE8-B265-F7A2ED484B0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CBE16E6D-1B61-A34D-99F9-E24D1B24935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5D3D4D42-41D9-C74E-AB8D-75D1ADAE76E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51756E7-6209-AE7A-DFCC-499A91AB73A4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461F38B-7A18-D769-5A40-68609D29B59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F98826E6-208A-11A4-CE61-9864EA0D10C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6620885B-9B7B-8B38-A3E2-F86737F7867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2F3A6A-B53A-B9C8-72CA-7C7EF42F93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1B281D-0C9B-1359-E7D4-5E6E45ABF27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06.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B0736B-B649-D917-3D3E-2020C97C836E}"/>
              </a:ext>
            </a:extLst>
          </p:cNvPr>
          <p:cNvSpPr txBox="1"/>
          <p:nvPr/>
        </p:nvSpPr>
        <p:spPr>
          <a:xfrm>
            <a:off x="703941" y="1553619"/>
            <a:ext cx="12709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E57673A-F710-C6DC-E73C-12F62FD0C170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EA20687-C7E7-613F-A70E-CAEECD3A933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A28C5CD-725E-8E27-8592-03238D2C424B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DCE7117-4440-E729-9CD4-D8362B8638D3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E06F6B9-1C6C-987C-7E36-BA46EE1C3EEF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6FB2000-CEC5-1606-A1C3-5700910809C9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성공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네 가지 모두 숫자로 재기로 했다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2825496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78408" y="2926079"/>
            <a:ext cx="50292" cy="530352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24712" y="2889503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1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가까워진 횟수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081528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15m 안까지 접근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282696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1교대 95회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3611879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78408" y="3712463"/>
            <a:ext cx="50292" cy="5303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24712" y="3675887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2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위험하게 가까워진 횟수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867911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8m 안까지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069080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1교대 27회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" y="4398264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78408" y="4498848"/>
            <a:ext cx="50292" cy="530352"/>
          </a:xfrm>
          <a:prstGeom prst="rect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24712" y="4462272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3   </a:t>
            </a:r>
            <a:r>
              <a:rPr sz="10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쓸데없이 울린 횟수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65429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855464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1교대 3회 미만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" y="5184648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78408" y="5285232"/>
            <a:ext cx="50292" cy="530352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24712" y="524865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4  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작업자 만족도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440680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울리는 시점과 거리가 맞는가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10점 중 7.0점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" y="5952744"/>
            <a:ext cx="4901183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‘울렸어야 하는데 안 울린 횟수’ 는 지표에서 뺐다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아무 일도 일어나지 않은 것이라 셀 방법이 없다. 작업자 설문의 ‘경보가 늦었다’ 응답으로 대신 본다.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숫자는 이렇게 나왔다 — 가정한 값은 하나뿐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345936" y="2880360"/>
          <a:ext cx="4974336" cy="19751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07008"/>
                <a:gridCol w="1005840"/>
                <a:gridCol w="2761488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감지되는 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지게차 4 + 사람 3 = 7대의 짝 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짝당 시간당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보수적으로 잡은 값 — </a:t>
                      </a:r>
                      <a:r>
                        <a:rPr sz="850" b="1" i="0" u="none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유일한 가정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15m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 × 9시간 × 0.5 = 94.5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8m 까지 갈 비율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0.28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거리 비의 제곱 (8m ÷ 15m)²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8m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 × 0.28 = 26.6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쓸데없이 울린 횟수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3회 미만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소리 끄기 · 재발령 억제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작업자 만족도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10점 중 7.0점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4건 반영 · 3개 센터 사용 중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382512" y="4946904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9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앱이 경보를 울릴 때마다 시각 · 상대 · 거리 · 등급이 서버에 기록되고 있다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— 따로 만들 것이 없다.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5257800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같은 상대는 1분에 한 번만 기록되므로 1건 = 가까워진 1분이다. 사고 건수가 아니라 위험했던 순간의 대용 지표로 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568696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4주만 모으면 가정한 값이 실제 숫자로 바뀌고, 위 표의 나머지가 전부 따라 바뀐다.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5879592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사고 건수는 회사 데이터로 존재하지 않아 지표에 넣지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29795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3179-4997-7A14-8E32-7B026191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FB861D27-878D-BC62-9447-E6B6C5A1567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5AF7A6B-81B8-C666-68C8-5475387E218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BA1BA75-F17C-D403-3B41-FD6C3EF2778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230E83A9-8614-D409-2FE9-F6193F200FBD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73FBD945-0408-B5CB-9468-30BC8632B19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F77CF77-1300-0D90-8A77-6A2FB528B969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484BB01-57D4-F3AD-EF0B-A734E5CABDE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49F1FC-7F54-9732-8890-EC2CC4E908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86447-D02C-5C04-CD6F-D1C60502C2ED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07.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403D0-D49A-CFBA-7C24-510845F99109}"/>
              </a:ext>
            </a:extLst>
          </p:cNvPr>
          <p:cNvSpPr txBox="1"/>
          <p:nvPr/>
        </p:nvSpPr>
        <p:spPr>
          <a:xfrm>
            <a:off x="703941" y="1553619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2BAAD4-F4F6-12CE-7E95-DF7C1D981D03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F014A21-20F8-D823-836A-76B3B57BAE2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826C1C10-F67A-A9FE-AED3-166F61A94A4E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4EE4EFD-AC99-1B86-AC5B-88EC167701F4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EB07C6-B24D-0712-D330-5EA4615BDCF3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0CE46924-0EF2-FDDE-49AA-9149BDC873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중단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현장 운영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2825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경보가 안 울렸다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" y="2999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가까워졌는데 경보가 뜨지 않은 사례 1건이라도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209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쓸데없이 계속 울린다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383279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울림이 반복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" y="3593591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3767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알림 표시줄이 ‘이상’ 으로 바뀌거나 사라짐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977639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작업자가 꺼 둔다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4151376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소리를 끄거나 앱을 꺼 둔 폰이 늘어남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453127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업데이트 · 수정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4727448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옛 버전과 안 통한다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" y="4901184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옛 버전 폰이 새 버전 폰을 감지하지 못함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5111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고쳤던 문제가 재발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" y="5285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이전에 고친 증상이 다시 나타남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5495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중 무방비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" y="5669280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작업 시간 중 일괄 업데이트 금지 — 교대 전환 때만 배포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" y="5879592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후 안 켜진다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" y="6053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업데이트나 역할 변경 뒤 앱이 다시 켜지지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무엇으로 관측하는가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282549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경보 누락 · 오작동 — 작업자 신고와 서버에 남은 경보 기록을 대조한다.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312267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감지 멈춤 · 앱 안 켜짐 — 알림 표시줄이 스스로 ‘이상’ 을 띄운다 (v1.1.64).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341985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버전 섞임 — 배포 뒤 모든 폰의 버전을 확인한다. 신호 형식은 옛 버전과도 통하게 만들었다.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71703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재발 — 자동 검사가 잡는다. 검사가 실패하면 새 버전이 나가지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401421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꺼 두는 사람 — 작업자 설문과 소리 끔 설정 비율로 본다.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416552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문제가 생기면 이렇게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4709160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즉시 되돌리기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직전 버전으로 되돌린다 — 현장에서 다시 설치할 필요가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5038344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먼저 1대에서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모든 폰에 배포하기 전에 1대에서 먼저 확인한다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5367528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배포 차단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검사가 실패하면 새 버전이 아예 나가지 않는다 (동작 중)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5696712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원인 특정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단계를 하나씩 따로 배포하므로 어느 변경 탓인지 알 수 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6025896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재개 조건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실패한 상황을 자동 검사로 만들어 둔 뒤에만 다음 단계로</a:t>
            </a:r>
          </a:p>
        </p:txBody>
      </p:sp>
    </p:spTree>
    <p:extLst>
      <p:ext uri="{BB962C8B-B14F-4D97-AF65-F5344CB8AC3E}">
        <p14:creationId xmlns:p14="http://schemas.microsoft.com/office/powerpoint/2010/main" val="395908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F8FEA-475F-5C95-271A-2B2EDE76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7DF67BD0-3452-DEA9-F90F-0BB7CAA828DB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A41BF43-2E78-AC0C-BD86-0B021DCB70A1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C6830D65-AC58-E764-C405-BC5A44F49F2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70C28EEB-59AC-7C59-CA8B-5D43C41BDE3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57D547A0-457C-83CB-C3C8-A309D512850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5EF0C421-B110-989E-3C47-20305620D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1A09513F-6E51-AA62-5317-046801EB621B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2874243-A13E-9FC4-2173-15DD7392E5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40E45D-30B4-FDB7-24F5-84CEA42570B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08.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344B6F-4A82-4BD7-235D-213541531A47}"/>
              </a:ext>
            </a:extLst>
          </p:cNvPr>
          <p:cNvSpPr txBox="1"/>
          <p:nvPr/>
        </p:nvSpPr>
        <p:spPr>
          <a:xfrm>
            <a:off x="703941" y="1553619"/>
            <a:ext cx="239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F835D4D-F271-F36E-1A5C-9020E4B346E4}"/>
              </a:ext>
            </a:extLst>
          </p:cNvPr>
          <p:cNvGrpSpPr/>
          <p:nvPr/>
        </p:nvGrpSpPr>
        <p:grpSpPr>
          <a:xfrm>
            <a:off x="703940" y="2173040"/>
            <a:ext cx="10792735" cy="2131924"/>
            <a:chOff x="703941" y="2173040"/>
            <a:chExt cx="9918351" cy="2131924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3C676F-79ED-1837-A306-E08891475EDA}"/>
                </a:ext>
              </a:extLst>
            </p:cNvPr>
            <p:cNvSpPr/>
            <p:nvPr/>
          </p:nvSpPr>
          <p:spPr>
            <a:xfrm>
              <a:off x="703941" y="2173040"/>
              <a:ext cx="9918351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5E40E29-5EE3-DF5B-EABD-5B7026344C0B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모니터링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7E2A74F9-6070-6CC1-D35E-7F01FA3216BD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7304CA0-C295-6A09-BEE7-19D890C6E1CE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19456" rIns="219456" tIns="365760" bIns="73152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① 실제 숫자 확보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앱 경보 기록 4주 집계 · WF11 · WF21 · WF25 작업자 설문 회수 — 추정치를 실제 숫자로 바꾼다.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② 업무용 PDA 로 이전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2단계에서 개인 폰에 임시로 깔아 둔 상태를 끝낸다.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③ 확산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정식 과제로 등록한 뒤 17개 센터로 — 장비를 사지 않고 앱 배포만으로 늘린다. 확산 전에 보안 검토를 먼저 받는다.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8D96D0D-6F80-D6C2-CDA6-493A29452C83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확산 계획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60120" y="2560320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피드백은 이미 한 바퀴 돌았다 — 지적이 코드에 남아 있다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0120" y="2852928"/>
          <a:ext cx="507492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30352"/>
                <a:gridCol w="2624328"/>
                <a:gridCol w="19202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전환 버튼 · EPJ 역할 숨김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등급이 5초 넘으면 소리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가까워지면 즉시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휴게실 · 충전 구역을 안전 구역으로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안에서는 서로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373368" y="2852928"/>
          <a:ext cx="512064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011680"/>
                <a:gridCol w="21488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꺼져도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표시줄에 ‘이상’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멀어진 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거리에서는 다시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4059935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반영 이력은 커밋에 남아 있다  —  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리뷰 1·2·3차 v1.1.60 · v1.1.61 · v1.1.62,  앱 상태 표시 v1.1.64,  재발령 억제 v1.1.51,  알림 눌러 끄기 v1.1.68,  화면 가장자리 경보 v1.1.69 · v1.1.70</a:t>
            </a:r>
          </a:p>
        </p:txBody>
      </p:sp>
    </p:spTree>
    <p:extLst>
      <p:ext uri="{BB962C8B-B14F-4D97-AF65-F5344CB8AC3E}">
        <p14:creationId xmlns:p14="http://schemas.microsoft.com/office/powerpoint/2010/main" val="2910445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D43A2DCBE527428190BB8324CA881A" ma:contentTypeVersion="11" ma:contentTypeDescription="Create a new document." ma:contentTypeScope="" ma:versionID="11ffdfd663cf357fcd2a817bd37773db">
  <xsd:schema xmlns:xsd="http://www.w3.org/2001/XMLSchema" xmlns:xs="http://www.w3.org/2001/XMLSchema" xmlns:p="http://schemas.microsoft.com/office/2006/metadata/properties" xmlns:ns2="9b9c23ca-c45f-4301-bc5a-b8996b68e0ec" xmlns:ns3="4303c087-a5f2-4c17-9b2a-179d9efe9d07" targetNamespace="http://schemas.microsoft.com/office/2006/metadata/properties" ma:root="true" ma:fieldsID="d3ce36e5869a1d3a5e07ee9eb5d1d59d" ns2:_="" ns3:_="">
    <xsd:import namespace="9b9c23ca-c45f-4301-bc5a-b8996b68e0ec"/>
    <xsd:import namespace="4303c087-a5f2-4c17-9b2a-179d9efe9d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9c23ca-c45f-4301-bc5a-b8996b68e0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03c087-a5f2-4c17-9b2a-179d9efe9d0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7eb5711-304d-43e4-811c-13aad2b1fd70}" ma:internalName="TaxCatchAll" ma:showField="CatchAllData" ma:web="4303c087-a5f2-4c17-9b2a-179d9efe9d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itus xmlns="http://schemas.titus.com/TitusProperties/">
  <TitusGUID xmlns="">c7565001-ada1-4ecd-85a7-b63a0ddcaa1b</TitusGUID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b9c23ca-c45f-4301-bc5a-b8996b68e0ec">
      <Terms xmlns="http://schemas.microsoft.com/office/infopath/2007/PartnerControls"/>
    </lcf76f155ced4ddcb4097134ff3c332f>
    <TaxCatchAll xmlns="4303c087-a5f2-4c17-9b2a-179d9efe9d07" xsi:nil="true"/>
  </documentManagement>
</p:properties>
</file>

<file path=customXml/itemProps1.xml><?xml version="1.0" encoding="utf-8"?>
<ds:datastoreItem xmlns:ds="http://schemas.openxmlformats.org/officeDocument/2006/customXml" ds:itemID="{45B17B35-448E-4613-8EA9-E883F45783C6}">
  <ds:schemaRefs>
    <ds:schemaRef ds:uri="4303c087-a5f2-4c17-9b2a-179d9efe9d07"/>
    <ds:schemaRef ds:uri="9b9c23ca-c45f-4301-bc5a-b8996b68e0e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89B358F-822C-464C-9B9E-1D9162223D06}">
  <ds:schemaRefs>
    <ds:schemaRef ds:uri=""/>
    <ds:schemaRef ds:uri="http://schemas.titus.com/TitusProperties/"/>
  </ds:schemaRefs>
</ds:datastoreItem>
</file>

<file path=customXml/itemProps3.xml><?xml version="1.0" encoding="utf-8"?>
<ds:datastoreItem xmlns:ds="http://schemas.openxmlformats.org/officeDocument/2006/customXml" ds:itemID="{1100C37A-0830-478A-A7F6-50395C2200B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144CC79-0753-449D-A633-FD3A9F770477}">
  <ds:schemaRefs>
    <ds:schemaRef ds:uri="16a3ab6b-1edf-4599-82cd-4840175f3d36"/>
    <ds:schemaRef ds:uri="4303c087-a5f2-4c17-9b2a-179d9efe9d07"/>
    <ds:schemaRef ds:uri="4c3b9d58-ac82-42da-8bfc-31de2fa78469"/>
    <ds:schemaRef ds:uri="9b9c23ca-c45f-4301-bc5a-b8996b68e0e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Gee [Operations Learning Munjeong Cousolve Learning]</dc:creator>
  <cp:revision>1</cp:revision>
  <dcterms:created xsi:type="dcterms:W3CDTF">2025-03-19T01:57:49Z</dcterms:created>
  <dcterms:modified xsi:type="dcterms:W3CDTF">2026-09-01T06:01:58Z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0x010100C1D43A2DCBE527428190BB8324CA881A</vt:lpwstr>
  </property>
  <property fmtid="{D5CDD505-2E9C-101B-9397-08002B2CF9AE}" pid="3" name="MediaServiceImageTags">
    <vt:lpwstr/>
  </property>
  <property fmtid="{D5CDD505-2E9C-101B-9397-08002B2CF9AE}" pid="4" name="TitusGUID">
    <vt:lpwstr>c7565001-ada1-4ecd-85a7-b63a0ddcaa1b</vt:lpwstr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xd_Signature">
    <vt:bool>false</vt:bool>
  </property>
  <property fmtid="{D5CDD505-2E9C-101B-9397-08002B2CF9AE}" pid="13" name="Order">
    <vt:r8>14904600</vt:r8>
  </property>
</Properties>
</file>